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notesSlides/notesSlide1.xml" ContentType="application/vnd.openxmlformats-officedocument.presentationml.notesSlide+xml"/>
  <Override PartName="/ppt/comments/comment3.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4.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5.xml" ContentType="application/vnd.openxmlformats-officedocument.presentationml.comments+xml"/>
  <Override PartName="/ppt/notesSlides/notesSlide6.xml" ContentType="application/vnd.openxmlformats-officedocument.presentationml.notesSlide+xml"/>
  <Override PartName="/ppt/comments/comment6.xml" ContentType="application/vnd.openxmlformats-officedocument.presentationml.comments+xml"/>
  <Override PartName="/ppt/notesSlides/notesSlide7.xml" ContentType="application/vnd.openxmlformats-officedocument.presentationml.notesSlide+xml"/>
  <Override PartName="/ppt/comments/comment7.xml" ContentType="application/vnd.openxmlformats-officedocument.presentationml.comments+xml"/>
  <Override PartName="/ppt/notesSlides/notesSlide8.xml" ContentType="application/vnd.openxmlformats-officedocument.presentationml.notesSlide+xml"/>
  <Override PartName="/ppt/comments/comment8.xml" ContentType="application/vnd.openxmlformats-officedocument.presentationml.comments+xml"/>
  <Override PartName="/ppt/comments/comment9.xml" ContentType="application/vnd.openxmlformats-officedocument.presentationml.comments+xml"/>
  <Override PartName="/ppt/comments/comment10.xml" ContentType="application/vnd.openxmlformats-officedocument.presentationml.comments+xml"/>
  <Override PartName="/ppt/comments/comment11.xml" ContentType="application/vnd.openxmlformats-officedocument.presentationml.comments+xml"/>
  <Override PartName="/ppt/notesSlides/notesSlide9.xml" ContentType="application/vnd.openxmlformats-officedocument.presentationml.notesSlide+xml"/>
  <Override PartName="/ppt/comments/comment12.xml" ContentType="application/vnd.openxmlformats-officedocument.presentationml.comments+xml"/>
  <Override PartName="/ppt/comments/comment13.xml" ContentType="application/vnd.openxmlformats-officedocument.presentationml.comments+xml"/>
  <Override PartName="/ppt/comments/comment14.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73"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Lst>
  <p:sldSz cx="12192000" cy="6858000"/>
  <p:notesSz cx="6858000" cy="12192000"/>
  <p:defaultText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drille Duchemin (unibas.ch)" initials="WD(" lastIdx="17" clrIdx="0"/>
  <p:cmAuthor id="2" name="Sébastien Boyer (unibas.ch)" initials="SB(" lastIdx="13" clrIdx="1"/>
  <p:cmAuthor id="3" name="Rubén Martín" initials="RM" lastIdx="3" clrIdx="2">
    <p:extLst>
      <p:ext uri="{19B8F6BF-5375-455C-9EA6-DF929625EA0E}">
        <p15:presenceInfo xmlns:p15="http://schemas.microsoft.com/office/powerpoint/2012/main" userId="7cfa1867aa0efb1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2" d="100"/>
          <a:sy n="102" d="100"/>
        </p:scale>
        <p:origin x="138" y="504"/>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0-06-11T14:07:53" idx="1">
    <p:pos x="0" y="0"/>
    <p:text>Overall very nice. Good to directly focus on performance : gets people motivated on the end-goal.
Is target audience expected to already know (at least passingly) about cache/memory management in (C)PU?
-&gt; If not, we should have something explaining that : if people have a better mental model of how computations work in a computer, they can understand/memorize better how and when a parralelization paradigm works.
To add : GPU programmation technologies (cuda,roc,openMP,openACC,...)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2:07:53Z;4;38;{8CB34A1C-E573-55CE-F19C-0D71B56E988A};" providerId="AD"/>
      </p:ext>
    </p:extLst>
  </p:cm>
  <p:cm authorId="2" dt="2020-06-12T11:56:18" idx="1">
    <p:pos x="0" y="3081"/>
    <p:text>Si on veut parler de gestion de memoire, je crains ne pas voir le niveau meme pour un slide d'intro. Donc si tu veux le rajouter ca m'aiderais si tu pouvais t'en occuper</p:text>
    <p:extLst>
      <p:ext uri="{C676402C-5697-4E1C-873F-D02D1690AC5C}">
        <p15:threadingInfo xmlns:p15="http://schemas.microsoft.com/office/powerpoint/2012/main" timeZoneBias="-120">
          <p15:parentCm authorId="1" idx="1"/>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9:56:18Z;4;38;{A52811F1-705A-04EC-B01A-75CBF9465847};" providerId="AD"/>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0-06-11T14:07:53" idx="1">
    <p:pos x="0" y="0"/>
    <p:text>Overall very nice. Good to directly focus on performance : gets people motivated on the end-goal.
Is target audience expected to already know (at least passingly) about cache/memory management in (C)PU?
-&gt; If not, we should have something explaining that : if people have a better mental model of how computations work in a computer, they can understand/memorize better how and when a parralelization paradigm works.
To add : GPU programmation technologies (cuda,roc,openMP,openACC,...)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2:07:53Z;4;38;{8CB34A1C-E573-55CE-F19C-0D71B56E988A};" providerId="AD"/>
      </p:ext>
    </p:extLst>
  </p:cm>
  <p:cm authorId="2" dt="2020-06-12T11:56:18" idx="1">
    <p:pos x="0" y="3081"/>
    <p:text>Si on veut parler de gestion de memoire, je crains ne pas voir le niveau meme pour un slide d'intro. Donc si tu veux le rajouter ca m'aiderais si tu pouvais t'en occuper</p:text>
    <p:extLst>
      <p:ext uri="{C676402C-5697-4E1C-873F-D02D1690AC5C}">
        <p15:threadingInfo xmlns:p15="http://schemas.microsoft.com/office/powerpoint/2012/main" timeZoneBias="-120">
          <p15:parentCm authorId="1" idx="1"/>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9:56:18Z;4;38;{A52811F1-705A-04EC-B01A-75CBF9465847};" providerId="AD"/>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3" dt="2020-09-24T13:39:38.075" idx="1">
    <p:pos x="3674" y="913"/>
    <p:text>[Do they know what’s a GFLOP?]</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3" dt="2020-09-24T13:40:06.071" idx="2">
    <p:pos x="3698" y="230"/>
    <p:text>[This comparisons can be a bit misleading: How many cores where used in the CPU version. Cores are different in CPU and GPUs. Direct comparison is nice but people need to understand the limits]</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0-06-11T13:35:05" idx="2">
    <p:pos x="351" y="2669"/>
    <p:text>define ALU (Arithmetic logic unit) as the brick component of Processing Units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1;3;20;2020-06-11T11:35:05Z;4;38;{6878EFA0-72CD-1751-459C-D34F19FFB038};" providerId="AD"/>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1" dt="2020-06-11T13:59:49" idx="3">
    <p:pos x="103" y="54"/>
    <p:text>Peut etre ajouter une deuxieme slide pour montrer les operations / modeles ou le GPU est plus lent.</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1;3;20;2020-06-11T11:59:49Z;4;38;{185805AF-3DFA-C4D1-78FA-4B49B599F2DB};" providerId="AD"/>
      </p:ext>
    </p:extLst>
  </p:cm>
  <p:cm authorId="2" dt="2020-06-12T10:38:30" idx="2">
    <p:pos x="103" y="3135"/>
    <p:text>Je pense que ces operations la sont pas adapte mais je suis pas 100 %</p:text>
    <p:extLst>
      <p:ext uri="{C676402C-5697-4E1C-873F-D02D1690AC5C}">
        <p15:threadingInfo xmlns:p15="http://schemas.microsoft.com/office/powerpoint/2012/main" timeZoneBias="-120">
          <p15:parentCm authorId="1" idx="3"/>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38:30Z;4;38;{051AAA9C-4746-59B8-E9CA-B5CA3B046299};" providerId="AD"/>
      </p:ext>
    </p:extLst>
  </p:cm>
  <p:cm authorId="1" dt="2020-06-12T13:40:28" idx="4">
    <p:pos x="103" y="6217"/>
    <p:text>A partir du moment ou c'est different ca passe.</p:text>
    <p:extLst>
      <p:ext uri="{C676402C-5697-4E1C-873F-D02D1690AC5C}">
        <p15:threadingInfo xmlns:p15="http://schemas.microsoft.com/office/powerpoint/2012/main" timeZoneBias="-120">
          <p15:parentCm authorId="1" idx="3"/>
        </p15:threadingInfo>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1:40:28Z;4;38;{2BD08324-63B8-EFFD-9C76-ECF5512DA4DA};" providerId="AD"/>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1" dt="2020-06-11T13:52:55" idx="5">
    <p:pos x="18" y="53"/>
    <p:text>Sauf si je comprend mal la figure de gauche, les 2 images representent l'architecture du programme. 
Ca serait interessant de mettre en regard une image de l'architecture hardware, non?</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1:52:55Z;4;38;{4800787B-D208-3BAE-09C3-FAE5464928C7};" providerId="AD"/>
      </p:ext>
    </p:extLst>
  </p:cm>
  <p:cm authorId="2" dt="2020-06-12T10:49:04" idx="3">
    <p:pos x="18" y="3134"/>
    <p:text>Exactement c'est ce que j'ai essaye de faire maladroitement avec la slide d'avant. Si tu as une idee de comment faire ca proprement je suis tout ouie</p:text>
    <p:extLst>
      <p:ext uri="{C676402C-5697-4E1C-873F-D02D1690AC5C}">
        <p15:threadingInfo xmlns:p15="http://schemas.microsoft.com/office/powerpoint/2012/main" timeZoneBias="-120">
          <p15:parentCm authorId="1" idx="5"/>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49:04Z;4;38;{F6B5DB3F-437B-0681-3D97-B6749AA50F14};" providerId="AD"/>
      </p:ext>
    </p:extLst>
  </p:cm>
  <p:cm authorId="1" dt="2020-06-11T13:55:29" idx="6">
    <p:pos x="112" y="98"/>
    <p:text>j'ai essaye de reorganiser la slide... peut etre avec une image montrant de bas en haut : thread&gt;block&gt;grid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1;3;20;2020-06-11T11:55:29Z;4;38;{5232ED33-D178-11E0-DB17-D14D0F7209A4};" providerId="AD"/>
      </p:ext>
    </p:extLst>
  </p:cm>
  <p:cm authorId="2" dt="2020-06-12T10:48:15" idx="4">
    <p:pos x="112" y="3179"/>
    <p:text>J'approuve very much</p:text>
    <p:extLst>
      <p:ext uri="{C676402C-5697-4E1C-873F-D02D1690AC5C}">
        <p15:threadingInfo xmlns:p15="http://schemas.microsoft.com/office/powerpoint/2012/main" timeZoneBias="-120">
          <p15:parentCm authorId="1" idx="6"/>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48:15Z;4;38;{363CB8D0-D1EA-7569-D12C-DF6EBFC72F26};" providerId="AD"/>
      </p:ext>
    </p:extLst>
  </p:cm>
  <p:cm authorId="1" dt="2020-06-12T17:39:08" idx="7">
    <p:pos x="112" y="6261"/>
    <p:text>refait l'image en top-down.</p:text>
    <p:extLst>
      <p:ext uri="{C676402C-5697-4E1C-873F-D02D1690AC5C}">
        <p15:threadingInfo xmlns:p15="http://schemas.microsoft.com/office/powerpoint/2012/main" timeZoneBias="-120">
          <p15:parentCm authorId="1" idx="6"/>
        </p15:threadingInfo>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5:39:08Z;4;38;{99155341-CF40-145D-E983-F3F6F42BD310};" providerId="AD"/>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1" dt="2020-06-11T13:40:05" idx="8">
    <p:pos x="0" y="-5"/>
    <p:text>Qu'est ce que tu veux faire passer avec cette slide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1:40:05Z;4;38;{AD2E0978-E9D7-37F2-B02B-16F35DA86451};" providerId="AD"/>
      </p:ext>
    </p:extLst>
  </p:cm>
  <p:cm authorId="2" dt="2020-06-12T10:47:48" idx="5">
    <p:pos x="0" y="3076"/>
    <p:text>Je voulais presenter un truc plus reel moins schematique qui pourrais rendre plus interpretable le mapping que je presente ensuite. Ce que je propose c'est d'enlever le CPU. OU carrement la slide, comme tu le sens</p:text>
    <p:extLst>
      <p:ext uri="{C676402C-5697-4E1C-873F-D02D1690AC5C}">
        <p15:threadingInfo xmlns:p15="http://schemas.microsoft.com/office/powerpoint/2012/main" timeZoneBias="-120">
          <p15:parentCm authorId="1" idx="8"/>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47:48Z;4;38;{A76596C7-0B8F-C0BE-DAC3-74CB836524E6};" providerId="AD"/>
      </p:ext>
    </p:extLst>
  </p:cm>
  <p:cm authorId="2" dt="2020-06-12T11:33:52" idx="6">
    <p:pos x="0" y="6158"/>
    <p:text>Voila ce que je propose en remplacement</p:text>
    <p:extLst>
      <p:ext uri="{C676402C-5697-4E1C-873F-D02D1690AC5C}">
        <p15:threadingInfo xmlns:p15="http://schemas.microsoft.com/office/powerpoint/2012/main" timeZoneBias="-120">
          <p15:parentCm authorId="1" idx="8"/>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9:33:52Z;4;38;{6D5585FE-B44E-83E0-9708-3C9505F938C4};" providerId="AD"/>
      </p:ext>
    </p:extLst>
  </p:cm>
  <p:cm authorId="1" dt="2020-06-12T17:40:36" idx="9">
    <p:pos x="0" y="9240"/>
    <p:text>c'est  cool cette suite de clides</p:text>
    <p:extLst>
      <p:ext uri="{C676402C-5697-4E1C-873F-D02D1690AC5C}">
        <p15:threadingInfo xmlns:p15="http://schemas.microsoft.com/office/powerpoint/2012/main" timeZoneBias="-120">
          <p15:parentCm authorId="1" idx="8"/>
        </p15:threadingInfo>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5:40:36Z;4;38;{AF4A5464-7ED6-CAD1-4DA1-C044C2E7AD7C};" providerId="AD"/>
      </p:ext>
    </p:extLst>
  </p:cm>
</p:cmLst>
</file>

<file path=ppt/comments/comment9.xml><?xml version="1.0" encoding="utf-8"?>
<p:cmLst xmlns:a="http://schemas.openxmlformats.org/drawingml/2006/main" xmlns:r="http://schemas.openxmlformats.org/officeDocument/2006/relationships" xmlns:p="http://schemas.openxmlformats.org/presentationml/2006/main">
  <p:cm authorId="1" dt="2020-06-11T13:40:05" idx="10">
    <p:pos x="0" y="-5"/>
    <p:text>Qu'est ce que tu veux faire passer avec cette slide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1:40:05Z;4;38;{AD2E0978-E9D7-37F2-B02B-16F35DA86451};" providerId="AD"/>
      </p:ext>
    </p:extLst>
  </p:cm>
  <p:cm authorId="2" dt="2020-06-12T10:47:48" idx="7">
    <p:pos x="0" y="3076"/>
    <p:text>Je voulais presenter un truc plus reel moins schematique qui pourrais rendre plus interpretable le mapping que je presente ensuite. Ce que je propose c'est d'enlever le CPU. OU carrement la slide, comme tu le sens</p:text>
    <p:extLst>
      <p:ext uri="{C676402C-5697-4E1C-873F-D02D1690AC5C}">
        <p15:threadingInfo xmlns:p15="http://schemas.microsoft.com/office/powerpoint/2012/main" timeZoneBias="-120">
          <p15:parentCm authorId="1" idx="10"/>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47:48Z;4;38;{DB39CDBD-901A-3F57-871D-6F804781A3EA};" providerId="AD"/>
      </p:ext>
    </p:extLst>
  </p:cm>
  <p:cm authorId="2" dt="2020-06-12T11:33:52" idx="8">
    <p:pos x="0" y="6158"/>
    <p:text>Voila ce que je propose en remplacement</p:text>
    <p:extLst>
      <p:ext uri="{C676402C-5697-4E1C-873F-D02D1690AC5C}">
        <p15:threadingInfo xmlns:p15="http://schemas.microsoft.com/office/powerpoint/2012/main" timeZoneBias="-120">
          <p15:parentCm authorId="1" idx="10"/>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9:33:52Z;4;38;{472C0ECC-539F-CC27-0F4D-B5D49D8F335A};" providerId="AD"/>
      </p:ext>
    </p:extLst>
  </p:cm>
</p:cmLst>
</file>

<file path=ppt/comments/comment10.xml><?xml version="1.0" encoding="utf-8"?>
<p:cmLst xmlns:a="http://schemas.openxmlformats.org/drawingml/2006/main" xmlns:r="http://schemas.openxmlformats.org/officeDocument/2006/relationships" xmlns:p="http://schemas.openxmlformats.org/presentationml/2006/main">
  <p:cm authorId="1" dt="2020-06-11T13:40:05" idx="11">
    <p:pos x="0" y="-5"/>
    <p:text>Qu'est ce que tu veux faire passer avec cette slide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1:40:05Z;4;38;{AD2E0978-E9D7-37F2-B02B-16F35DA86451};" providerId="AD"/>
      </p:ext>
    </p:extLst>
  </p:cm>
  <p:cm authorId="2" dt="2020-06-12T10:47:48" idx="9">
    <p:pos x="0" y="3076"/>
    <p:text>Je voulais presenter un truc plus reel moins schematique qui pourrais rendre plus interpretable le mapping que je presente ensuite. Ce que je propose c'est d'enlever le CPU. OU carrement la slide, comme tu le sens</p:text>
    <p:extLst>
      <p:ext uri="{C676402C-5697-4E1C-873F-D02D1690AC5C}">
        <p15:threadingInfo xmlns:p15="http://schemas.microsoft.com/office/powerpoint/2012/main" timeZoneBias="-120">
          <p15:parentCm authorId="1" idx="11"/>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47:48Z;4;38;{DB39CDBD-901A-3F57-871D-6F804781A3EA};" providerId="AD"/>
      </p:ext>
    </p:extLst>
  </p:cm>
  <p:cm authorId="2" dt="2020-06-12T11:33:52" idx="10">
    <p:pos x="0" y="6158"/>
    <p:text>Voila ce que je propose en remplacement</p:text>
    <p:extLst>
      <p:ext uri="{C676402C-5697-4E1C-873F-D02D1690AC5C}">
        <p15:threadingInfo xmlns:p15="http://schemas.microsoft.com/office/powerpoint/2012/main" timeZoneBias="-120">
          <p15:parentCm authorId="1" idx="11"/>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9:33:52Z;4;38;{472C0ECC-539F-CC27-0F4D-B5D49D8F335A};" providerId="AD"/>
      </p:ext>
    </p:extLst>
  </p:cm>
</p:cmLst>
</file>

<file path=ppt/comments/comment11.xml><?xml version="1.0" encoding="utf-8"?>
<p:cmLst xmlns:a="http://schemas.openxmlformats.org/drawingml/2006/main" xmlns:r="http://schemas.openxmlformats.org/officeDocument/2006/relationships" xmlns:p="http://schemas.openxmlformats.org/presentationml/2006/main">
  <p:cm authorId="1" dt="2020-06-11T13:40:05" idx="12">
    <p:pos x="0" y="-5"/>
    <p:text>Qu'est ce que tu veux faire passer avec cette slide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1:40:05Z;4;38;{AD2E0978-E9D7-37F2-B02B-16F35DA86451};" providerId="AD"/>
      </p:ext>
    </p:extLst>
  </p:cm>
  <p:cm authorId="2" dt="2020-06-12T10:47:48" idx="11">
    <p:pos x="0" y="3076"/>
    <p:text>Je voulais presenter un truc plus reel moins schematique qui pourrais rendre plus interpretable le mapping que je presente ensuite. Ce que je propose c'est d'enlever le CPU. OU carrement la slide, comme tu le sens</p:text>
    <p:extLst>
      <p:ext uri="{C676402C-5697-4E1C-873F-D02D1690AC5C}">
        <p15:threadingInfo xmlns:p15="http://schemas.microsoft.com/office/powerpoint/2012/main" timeZoneBias="-120">
          <p15:parentCm authorId="1" idx="12"/>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47:48Z;4;38;{DB39CDBD-901A-3F57-871D-6F804781A3EA};" providerId="AD"/>
      </p:ext>
    </p:extLst>
  </p:cm>
  <p:cm authorId="2" dt="2020-06-12T11:33:52" idx="12">
    <p:pos x="0" y="6158"/>
    <p:text>Voila ce que je propose en remplacement</p:text>
    <p:extLst>
      <p:ext uri="{C676402C-5697-4E1C-873F-D02D1690AC5C}">
        <p15:threadingInfo xmlns:p15="http://schemas.microsoft.com/office/powerpoint/2012/main" timeZoneBias="-120">
          <p15:parentCm authorId="1" idx="12"/>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9:33:52Z;4;38;{472C0ECC-539F-CC27-0F4D-B5D49D8F335A};" providerId="AD"/>
      </p:ext>
    </p:extLst>
  </p:cm>
</p:cmLst>
</file>

<file path=ppt/comments/comment12.xml><?xml version="1.0" encoding="utf-8"?>
<p:cmLst xmlns:a="http://schemas.openxmlformats.org/drawingml/2006/main" xmlns:r="http://schemas.openxmlformats.org/officeDocument/2006/relationships" xmlns:p="http://schemas.openxmlformats.org/presentationml/2006/main">
  <p:cm authorId="1" dt="2020-06-11T13:56:46" idx="13">
    <p:pos x="0" y="0"/>
    <p:text>partie 2 de la slide precedente ?</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1T11:56:46Z;4;38;{A4C8EC89-1585-E2EB-2B1C-F8350C5E512A};" providerId="AD"/>
      </p:ext>
    </p:extLst>
  </p:cm>
  <p:cm authorId="2" dt="2020-06-12T10:51:42" idx="13">
    <p:pos x="0" y="3081"/>
    <p:text>Oui et aussi d'introduire la slide que tu m'as demande de rajouter sur les differentes API. Le but etait de poser le voicabulaire et de voire que ce qu 'on allait faire (i.e le mapping hardware software) etait un etape au milieu du code. Encore une fois peut etre trouver un meilleur titre pour que la transisiton soit obvious?Je propose ce nouveau titre</p:text>
    <p:extLst>
      <p:ext uri="{C676402C-5697-4E1C-873F-D02D1690AC5C}">
        <p15:threadingInfo xmlns:p15="http://schemas.microsoft.com/office/powerpoint/2012/main" timeZoneBias="-120">
          <p15:parentCm authorId="1" idx="13"/>
        </p15:threadingInfo>
      </p:ext>
      <p:ext uri="{19B8F6BF-5375-455C-9EA6-DF929625EA0E}">
        <p15:presenceInfo xmlns:p15="http://schemas.microsoft.com/office/powerpoint/2012/main" xmlns:w="http://schemas.openxmlformats.org/wordprocessingml/2006/main" xmlns:m="http://schemas.openxmlformats.org/officeDocument/2006/math" xmlns="" userId="teamlab_data:0;38;oc641cdd42e0_sebastien.boyer@unibas.ch;1;27;Sébastien Boyer (unibas.ch);2;1;0;3;20;2020-06-12T08:51:42Z;4;38;{D7B46082-635B-8F73-D6F0-35B9AC69C453};" providerId="AD"/>
      </p:ext>
    </p:extLst>
  </p:cm>
</p:cmLst>
</file>

<file path=ppt/comments/comment13.xml><?xml version="1.0" encoding="utf-8"?>
<p:cmLst xmlns:a="http://schemas.openxmlformats.org/drawingml/2006/main" xmlns:r="http://schemas.openxmlformats.org/officeDocument/2006/relationships" xmlns:p="http://schemas.openxmlformats.org/presentationml/2006/main">
  <p:cm authorId="1" dt="2020-06-12T17:47:52" idx="14">
    <p:pos x="2217" y="3504"/>
    <p:text>My idea was only really to show names and logos, just to get the student acquainted with the names of existing technologies</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5:47:52Z;4;38;{570DEB97-F3E1-E9A2-B755-D894C4F4CC80};" providerId="AD"/>
      </p:ext>
    </p:extLst>
  </p:cm>
  <p:cm authorId="1" dt="2020-06-12T18:19:26" idx="15">
    <p:pos x="2390" y="3663"/>
    <p:text>C'est un peu ce que j'avais en tete...
Par contre les connecteurs/lignes/fleches me gonflent.</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6:19:26Z;4;38;{E98C875E-3737-B468-7DEB-9A69C5A8CCA2};" providerId="AD"/>
      </p:ext>
    </p:extLst>
  </p:cm>
</p:cmLst>
</file>

<file path=ppt/comments/comment14.xml><?xml version="1.0" encoding="utf-8"?>
<p:cmLst xmlns:a="http://schemas.openxmlformats.org/drawingml/2006/main" xmlns:r="http://schemas.openxmlformats.org/officeDocument/2006/relationships" xmlns:p="http://schemas.openxmlformats.org/presentationml/2006/main">
  <p:cm authorId="1" dt="2020-06-12T17:47:52" idx="16">
    <p:pos x="2217" y="3504"/>
    <p:text>My idea was only really to show names and logos, just to get the student acquainted with the names of existing technologies</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5:47:52Z;4;38;{570DEB97-F3E1-E9A2-B755-D894C4F4CC80};" providerId="AD"/>
      </p:ext>
    </p:extLst>
  </p:cm>
  <p:cm authorId="1" dt="2020-06-12T18:19:26" idx="17">
    <p:pos x="2390" y="3663"/>
    <p:text>C'est un peu ce que j'avais en tete...
Par contre les connecteurs/lignes/fleches me gonflent.</p:text>
    <p:extLst>
      <p:ext uri="{C676402C-5697-4E1C-873F-D02D1690AC5C}">
        <p15:threadingInfo xmlns:p15="http://schemas.microsoft.com/office/powerpoint/2012/main" timeZoneBias="-120"/>
      </p:ext>
      <p:ext uri="{19B8F6BF-5375-455C-9EA6-DF929625EA0E}">
        <p15:presenceInfo xmlns:p15="http://schemas.microsoft.com/office/powerpoint/2012/main" xmlns:w="http://schemas.openxmlformats.org/wordprocessingml/2006/main" xmlns:m="http://schemas.openxmlformats.org/officeDocument/2006/math" xmlns="" userId="teamlab_data:0;41;oc641cdd42e0_wandrille.duchemin@unibas.ch;1;30;Wandrille Duchemin (unibas.ch);2;1;0;3;20;2020-06-12T16:19:26Z;4;38;{E98C875E-3737-B468-7DEB-9A69C5A8CCA2};" providerId="AD"/>
      </p:ext>
    </p:extLst>
  </p:cm>
  <p:cm authorId="3" dt="2020-09-24T13:42:29.116" idx="3">
    <p:pos x="3591" y="3157"/>
    <p:text>Is not pycuda used in the python examples?</p:text>
    <p:extLst>
      <p:ext uri="{C676402C-5697-4E1C-873F-D02D1690AC5C}">
        <p15:threadingInfo xmlns:p15="http://schemas.microsoft.com/office/powerpoint/2012/main" timeZoneBias="-1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4"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nchor="ctr"/>
          <a:lstStyle>
            <a:lvl1pPr algn="l">
              <a:defRPr sz="1200"/>
            </a:lvl1pPr>
          </a:lstStyle>
          <a:p>
            <a:pPr>
              <a:defRPr/>
            </a:pPr>
            <a:endParaRPr/>
          </a:p>
        </p:txBody>
      </p:sp>
      <p:sp>
        <p:nvSpPr>
          <p:cNvPr id="5" name="Date Placeholder 2"/>
          <p:cNvSpPr>
            <a:spLocks noGrp="1"/>
          </p:cNvSpPr>
          <p:nvPr>
            <p:ph type="dt" idx="2"/>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6" name="Date Placeholder 2"/>
          <p:cNvSpPr>
            <a:spLocks noGrp="1"/>
          </p:cNvSpPr>
          <p:nvPr>
            <p:ph type="dt" idx="3"/>
          </p:nvPr>
        </p:nvSpPr>
        <p:spPr bwMode="auto">
          <a:xfrm>
            <a:off x="3884613" y="0"/>
            <a:ext cx="2971800" cy="458788"/>
          </a:xfrm>
          <a:prstGeom prst="rect">
            <a:avLst/>
          </a:prstGeom>
        </p:spPr>
        <p:txBody>
          <a:bodyPr vert="horz" lIns="91440" tIns="45720" rIns="91440" bIns="45720" rtlCol="0" anchor="ctr"/>
          <a:lstStyle>
            <a:lvl1pPr algn="r">
              <a:defRPr sz="1200"/>
            </a:lvl1pPr>
          </a:lstStyle>
          <a:p>
            <a:pPr>
              <a:defRPr/>
            </a:pPr>
            <a:endParaRPr/>
          </a:p>
        </p:txBody>
      </p:sp>
      <p:sp>
        <p:nvSpPr>
          <p:cNvPr id="7" name="Notes Placeholder 4"/>
          <p:cNvSpPr>
            <a:spLocks noGrp="1"/>
          </p:cNvSpPr>
          <p:nvPr>
            <p:ph type="body" sz="quarter" idx="1"/>
          </p:nvPr>
        </p:nvSpPr>
        <p:spPr bwMode="auto">
          <a:xfrm>
            <a:off x="685800" y="4400550"/>
            <a:ext cx="5486400" cy="3600450"/>
          </a:xfrm>
          <a:prstGeom prst="rect">
            <a:avLst/>
          </a:prstGeom>
        </p:spPr>
        <p:txBody>
          <a:bodyPr vert="horz" lIns="91440" tIns="45720" rIns="91440" bIns="45720" rtlCol="0" anchor="ctr"/>
          <a:lstStyle/>
          <a:p>
            <a:pPr>
              <a:defRPr/>
            </a:pPr>
            <a:endParaRPr/>
          </a:p>
        </p:txBody>
      </p:sp>
      <p:sp>
        <p:nvSpPr>
          <p:cNvPr id="8"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a:p>
        </p:txBody>
      </p:sp>
      <p:sp>
        <p:nvSpPr>
          <p:cNvPr id="9" name="Slide Number Placeholder 6"/>
          <p:cNvSpPr>
            <a:spLocks noGrp="1"/>
          </p:cNvSpPr>
          <p:nvPr>
            <p:ph type="sldNum" sz="quarter" idx="10"/>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endParaRPr/>
          </a:p>
        </p:txBody>
      </p:sp>
    </p:spTree>
  </p:cSld>
  <p:clrMap bg1="lt1" tx1="dk1" bg2="lt2" tx2="dk2" accent1="accent1" accent2="accent2" accent3="accent3" accent4="accent4" accent5="accent5" accent6="accent6" hlink="hlink" folHlink="folHlink"/>
  <p:notesStyle>
    <a:lvl1pPr marL="0" algn="l" defTabSz="914400">
      <a:defRPr sz="1200">
        <a:solidFill>
          <a:schemeClr val="tx1"/>
        </a:solidFill>
        <a:latin typeface="+mn-lt"/>
        <a:ea typeface="+mn-ea"/>
        <a:cs typeface="+mn-cs"/>
      </a:defRPr>
    </a:lvl1pPr>
    <a:lvl2pPr marL="457200" algn="l" defTabSz="914400">
      <a:defRPr sz="1200">
        <a:solidFill>
          <a:schemeClr val="tx1"/>
        </a:solidFill>
        <a:latin typeface="+mn-lt"/>
        <a:ea typeface="+mn-ea"/>
        <a:cs typeface="+mn-cs"/>
      </a:defRPr>
    </a:lvl2pPr>
    <a:lvl3pPr marL="914400" algn="l" defTabSz="914400">
      <a:defRPr sz="1200">
        <a:solidFill>
          <a:schemeClr val="tx1"/>
        </a:solidFill>
        <a:latin typeface="+mn-lt"/>
        <a:ea typeface="+mn-ea"/>
        <a:cs typeface="+mn-cs"/>
      </a:defRPr>
    </a:lvl3pPr>
    <a:lvl4pPr marL="1371600" algn="l" defTabSz="914400">
      <a:defRPr sz="1200">
        <a:solidFill>
          <a:schemeClr val="tx1"/>
        </a:solidFill>
        <a:latin typeface="+mn-lt"/>
        <a:ea typeface="+mn-ea"/>
        <a:cs typeface="+mn-cs"/>
      </a:defRPr>
    </a:lvl4pPr>
    <a:lvl5pPr marL="1828800" algn="l" defTabSz="914400">
      <a:defRPr sz="1200">
        <a:solidFill>
          <a:schemeClr val="tx1"/>
        </a:solidFill>
        <a:latin typeface="+mn-lt"/>
        <a:ea typeface="+mn-ea"/>
        <a:cs typeface="+mn-cs"/>
      </a:defRPr>
    </a:lvl5pPr>
    <a:lvl6pPr marL="2286000" algn="l" defTabSz="914400">
      <a:defRPr sz="1200">
        <a:solidFill>
          <a:schemeClr val="tx1"/>
        </a:solidFill>
        <a:latin typeface="+mn-lt"/>
        <a:ea typeface="+mn-ea"/>
        <a:cs typeface="+mn-cs"/>
      </a:defRPr>
    </a:lvl6pPr>
    <a:lvl7pPr marL="2743200" algn="l" defTabSz="914400">
      <a:defRPr sz="1200">
        <a:solidFill>
          <a:schemeClr val="tx1"/>
        </a:solidFill>
        <a:latin typeface="+mn-lt"/>
        <a:ea typeface="+mn-ea"/>
        <a:cs typeface="+mn-cs"/>
      </a:defRPr>
    </a:lvl7pPr>
    <a:lvl8pPr marL="3200400" algn="l" defTabSz="914400">
      <a:defRPr sz="1200">
        <a:solidFill>
          <a:schemeClr val="tx1"/>
        </a:solidFill>
        <a:latin typeface="+mn-lt"/>
        <a:ea typeface="+mn-ea"/>
        <a:cs typeface="+mn-cs"/>
      </a:defRPr>
    </a:lvl8pPr>
    <a:lvl9pPr marL="3657600" algn="l" defTabSz="91440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endParaRPr dirty="0"/>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Data transfer rate is also significantly higher</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dirty="0"/>
              <a:t>Nicely GPU optimized libraries already exist and can already outperform state of the art CPU optimized libraries on many basic/ day to day operations.</a:t>
            </a:r>
            <a:br>
              <a:rPr lang="es-ES" dirty="0"/>
            </a:br>
            <a:endParaRPr dirty="0"/>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Architecture is obviously different</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And that difference can be summarized by focus on raw computing power rather memory capacity and flow control  for GPU. This will have incidence on the type of operations and overall parallelization type that  really suit GPU rather than CPU.</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Could you guys help making the link with what I said before? Why this architecture with smaller memory and flow control is particularly adapted to SIMD. I have the intuition that if the same instruction is parralelly executed and different instructions are then run sequentially you would have less to do concerning the flow of memory and calcul within one shared memory. But Why the smaller memory?</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Understanding that the structure of the hardware is going to be directly translated into the way we are going to code</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Just gonna insist on the affirmation said before about how threads, block and grid can be distributed, but this time on a "real" architecture  rather than on a scheme. Could be remove since it is a bit redundant.</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4" name="Slide Image Placeholder 1"/>
          <p:cNvSpPr>
            <a:spLocks noGrp="1" noRot="1" noChangeAspect="1"/>
          </p:cNvSpPr>
          <p:nvPr>
            <p:ph type="sldImg"/>
          </p:nvPr>
        </p:nvSpPr>
        <p:spPr bwMode="auto"/>
      </p:sp>
      <p:sp>
        <p:nvSpPr>
          <p:cNvPr id="5" name="Notes Placeholder 2"/>
          <p:cNvSpPr>
            <a:spLocks noGrp="1"/>
          </p:cNvSpPr>
          <p:nvPr>
            <p:ph type="body" idx="1"/>
          </p:nvPr>
        </p:nvSpPr>
        <p:spPr bwMode="auto"/>
        <p:txBody>
          <a:bodyPr/>
          <a:lstStyle/>
          <a:p>
            <a:pPr>
              <a:defRPr/>
            </a:pPr>
            <a:r>
              <a:t>Realize that you still need to make the interface between the CPU and the GPU, understand  where what you are going to learn in this course sit in the writing of your program, introduce some vocabulary and open to next slides where technology allowing to write kernel are going to be presented.</a:t>
            </a:r>
          </a:p>
        </p:txBody>
      </p:sp>
      <p:sp>
        <p:nvSpPr>
          <p:cNvPr id="6" name="Slide Number Placeholder 3"/>
          <p:cNvSpPr>
            <a:spLocks noGrp="1"/>
          </p:cNvSpPr>
          <p:nvPr>
            <p:ph type="sldNum" sz="quarter" idx="10"/>
          </p:nvPr>
        </p:nvSpPr>
        <p:spPr bwMode="auto"/>
        <p:txBody>
          <a:bodyPr/>
          <a:lstStyle/>
          <a:p>
            <a:pPr>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type="title" preserve="1" userDrawn="1">
  <p:cSld name="Diapositive de titre">
    <p:spTree>
      <p:nvGrpSpPr>
        <p:cNvPr id="1" name=""/>
        <p:cNvGrpSpPr/>
        <p:nvPr/>
      </p:nvGrpSpPr>
      <p:grpSpPr bwMode="auto">
        <a:xfrm>
          <a:off x="0" y="0"/>
          <a:ext cx="0" cy="0"/>
          <a:chOff x="0" y="0"/>
          <a:chExt cx="0" cy="0"/>
        </a:xfrm>
      </p:grpSpPr>
      <p:sp>
        <p:nvSpPr>
          <p:cNvPr id="4" name="Titre 1"/>
          <p:cNvSpPr>
            <a:spLocks noGrp="1"/>
          </p:cNvSpPr>
          <p:nvPr>
            <p:ph type="ctrTitle"/>
          </p:nvPr>
        </p:nvSpPr>
        <p:spPr bwMode="auto">
          <a:xfrm>
            <a:off x="1524000" y="1122363"/>
            <a:ext cx="9144000" cy="2387600"/>
          </a:xfrm>
        </p:spPr>
        <p:txBody>
          <a:bodyPr anchor="b"/>
          <a:lstStyle>
            <a:lvl1pPr algn="ctr">
              <a:defRPr sz="6000"/>
            </a:lvl1pPr>
          </a:lstStyle>
          <a:p>
            <a:pPr>
              <a:defRPr/>
            </a:pPr>
            <a:r>
              <a:rPr lang="fr-FR"/>
              <a:t>Modifiez le style du titre</a:t>
            </a:r>
            <a:endParaRPr lang="en-US"/>
          </a:p>
        </p:txBody>
      </p:sp>
      <p:sp>
        <p:nvSpPr>
          <p:cNvPr id="5" name="Sous-titre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en-US"/>
          </a:p>
        </p:txBody>
      </p:sp>
      <p:sp>
        <p:nvSpPr>
          <p:cNvPr id="6" name="Espace réservé de la date 3"/>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7" name="Espace réservé du pied de page 4"/>
          <p:cNvSpPr>
            <a:spLocks noGrp="1"/>
          </p:cNvSpPr>
          <p:nvPr>
            <p:ph type="ftr" sz="quarter" idx="11"/>
          </p:nvPr>
        </p:nvSpPr>
        <p:spPr bwMode="auto"/>
        <p:txBody>
          <a:bodyPr/>
          <a:lstStyle/>
          <a:p>
            <a:pPr>
              <a:defRPr/>
            </a:pPr>
            <a:endParaRPr lang="en-US"/>
          </a:p>
        </p:txBody>
      </p:sp>
      <p:sp>
        <p:nvSpPr>
          <p:cNvPr id="8" name="Espace réservé du numéro de diapositive 5"/>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obj" preserve="1" userDrawn="1">
  <p:cSld name="Titre et contenu">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fr-FR"/>
              <a:t>Modifiez le style du titre</a:t>
            </a:r>
            <a:endParaRPr lang="en-US"/>
          </a:p>
        </p:txBody>
      </p:sp>
      <p:sp>
        <p:nvSpPr>
          <p:cNvPr id="5" name="Espace réservé du contenu 2"/>
          <p:cNvSpPr>
            <a:spLocks noGrp="1"/>
          </p:cNvSpPr>
          <p:nvPr>
            <p:ph idx="1"/>
          </p:nvPr>
        </p:nvSpPr>
        <p:spPr bwMode="auto"/>
        <p:txBody>
          <a:body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6" name="Espace réservé de la date 3"/>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7" name="Espace réservé du pied de page 4"/>
          <p:cNvSpPr>
            <a:spLocks noGrp="1"/>
          </p:cNvSpPr>
          <p:nvPr>
            <p:ph type="ftr" sz="quarter" idx="11"/>
          </p:nvPr>
        </p:nvSpPr>
        <p:spPr bwMode="auto"/>
        <p:txBody>
          <a:bodyPr/>
          <a:lstStyle/>
          <a:p>
            <a:pPr>
              <a:defRPr/>
            </a:pPr>
            <a:endParaRPr lang="en-US"/>
          </a:p>
        </p:txBody>
      </p:sp>
      <p:sp>
        <p:nvSpPr>
          <p:cNvPr id="8" name="Espace réservé du numéro de diapositive 5"/>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secHead" preserve="1" userDrawn="1">
  <p:cSld name="Titre de section">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1850" y="1709738"/>
            <a:ext cx="10515600" cy="2852737"/>
          </a:xfrm>
        </p:spPr>
        <p:txBody>
          <a:bodyPr anchor="b"/>
          <a:lstStyle>
            <a:lvl1pPr>
              <a:defRPr sz="6000"/>
            </a:lvl1pPr>
          </a:lstStyle>
          <a:p>
            <a:pPr>
              <a:defRPr/>
            </a:pPr>
            <a:r>
              <a:rPr lang="fr-FR"/>
              <a:t>Modifiez le style du titre</a:t>
            </a:r>
            <a:endParaRPr lang="en-US"/>
          </a:p>
        </p:txBody>
      </p:sp>
      <p:sp>
        <p:nvSpPr>
          <p:cNvPr id="5" name="Espace réservé du texte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Cliquez pour modifier les styles du texte du masque</a:t>
            </a:r>
            <a:endParaRPr/>
          </a:p>
        </p:txBody>
      </p:sp>
      <p:sp>
        <p:nvSpPr>
          <p:cNvPr id="6" name="Espace réservé de la date 3"/>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7" name="Espace réservé du pied de page 4"/>
          <p:cNvSpPr>
            <a:spLocks noGrp="1"/>
          </p:cNvSpPr>
          <p:nvPr>
            <p:ph type="ftr" sz="quarter" idx="11"/>
          </p:nvPr>
        </p:nvSpPr>
        <p:spPr bwMode="auto"/>
        <p:txBody>
          <a:bodyPr/>
          <a:lstStyle/>
          <a:p>
            <a:pPr>
              <a:defRPr/>
            </a:pPr>
            <a:endParaRPr lang="en-US"/>
          </a:p>
        </p:txBody>
      </p:sp>
      <p:sp>
        <p:nvSpPr>
          <p:cNvPr id="8" name="Espace réservé du numéro de diapositive 5"/>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twoObj" preserve="1" userDrawn="1">
  <p:cSld name="Deux contenus">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fr-FR"/>
              <a:t>Modifiez le style du titre</a:t>
            </a:r>
            <a:endParaRPr lang="en-US"/>
          </a:p>
        </p:txBody>
      </p:sp>
      <p:sp>
        <p:nvSpPr>
          <p:cNvPr id="5" name="Espace réservé du contenu 2"/>
          <p:cNvSpPr>
            <a:spLocks noGrp="1"/>
          </p:cNvSpPr>
          <p:nvPr>
            <p:ph sz="half" idx="1"/>
          </p:nvPr>
        </p:nvSpPr>
        <p:spPr bwMode="auto">
          <a:xfrm>
            <a:off x="838200" y="1825625"/>
            <a:ext cx="5181600" cy="4351338"/>
          </a:xfrm>
        </p:spPr>
        <p:txBody>
          <a:body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6" name="Espace réservé du contenu 3"/>
          <p:cNvSpPr>
            <a:spLocks noGrp="1"/>
          </p:cNvSpPr>
          <p:nvPr>
            <p:ph sz="half" idx="2"/>
          </p:nvPr>
        </p:nvSpPr>
        <p:spPr bwMode="auto">
          <a:xfrm>
            <a:off x="6172200" y="1825625"/>
            <a:ext cx="5181600" cy="4351338"/>
          </a:xfrm>
        </p:spPr>
        <p:txBody>
          <a:body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7" name="Espace réservé de la date 4"/>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8" name="Espace réservé du pied de page 5"/>
          <p:cNvSpPr>
            <a:spLocks noGrp="1"/>
          </p:cNvSpPr>
          <p:nvPr>
            <p:ph type="ftr" sz="quarter" idx="11"/>
          </p:nvPr>
        </p:nvSpPr>
        <p:spPr bwMode="auto"/>
        <p:txBody>
          <a:bodyPr/>
          <a:lstStyle/>
          <a:p>
            <a:pPr>
              <a:defRPr/>
            </a:pPr>
            <a:endParaRPr lang="en-US"/>
          </a:p>
        </p:txBody>
      </p:sp>
      <p:sp>
        <p:nvSpPr>
          <p:cNvPr id="9" name="Espace réservé du numéro de diapositive 6"/>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twoTxTwoObj" preserve="1" userDrawn="1">
  <p:cSld name="Comparaison">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9788" y="365125"/>
            <a:ext cx="10515600" cy="1325563"/>
          </a:xfrm>
        </p:spPr>
        <p:txBody>
          <a:bodyPr/>
          <a:lstStyle/>
          <a:p>
            <a:pPr>
              <a:defRPr/>
            </a:pPr>
            <a:r>
              <a:rPr lang="fr-FR"/>
              <a:t>Modifiez le style du titre</a:t>
            </a:r>
            <a:endParaRPr lang="en-US"/>
          </a:p>
        </p:txBody>
      </p:sp>
      <p:sp>
        <p:nvSpPr>
          <p:cNvPr id="5" name="Espace réservé du texte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6" name="Espace réservé du contenu 3"/>
          <p:cNvSpPr>
            <a:spLocks noGrp="1"/>
          </p:cNvSpPr>
          <p:nvPr>
            <p:ph sz="half" idx="2"/>
          </p:nvPr>
        </p:nvSpPr>
        <p:spPr bwMode="auto">
          <a:xfrm>
            <a:off x="839788" y="2505074"/>
            <a:ext cx="5157787" cy="3684588"/>
          </a:xfrm>
        </p:spPr>
        <p:txBody>
          <a:body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7" name="Espace réservé du texte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8" name="Espace réservé du contenu 5"/>
          <p:cNvSpPr>
            <a:spLocks noGrp="1"/>
          </p:cNvSpPr>
          <p:nvPr>
            <p:ph sz="quarter" idx="4"/>
          </p:nvPr>
        </p:nvSpPr>
        <p:spPr bwMode="auto">
          <a:xfrm>
            <a:off x="6172200" y="2505074"/>
            <a:ext cx="5183188" cy="3684588"/>
          </a:xfrm>
        </p:spPr>
        <p:txBody>
          <a:body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9" name="Espace réservé de la date 6"/>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10" name="Espace réservé du pied de page 7"/>
          <p:cNvSpPr>
            <a:spLocks noGrp="1"/>
          </p:cNvSpPr>
          <p:nvPr>
            <p:ph type="ftr" sz="quarter" idx="11"/>
          </p:nvPr>
        </p:nvSpPr>
        <p:spPr bwMode="auto"/>
        <p:txBody>
          <a:bodyPr/>
          <a:lstStyle/>
          <a:p>
            <a:pPr>
              <a:defRPr/>
            </a:pPr>
            <a:endParaRPr lang="en-US"/>
          </a:p>
        </p:txBody>
      </p:sp>
      <p:sp>
        <p:nvSpPr>
          <p:cNvPr id="11" name="Espace réservé du numéro de diapositive 8"/>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re seul">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fr-FR"/>
              <a:t>Modifiez le style du titre</a:t>
            </a:r>
            <a:endParaRPr lang="en-US"/>
          </a:p>
        </p:txBody>
      </p:sp>
      <p:sp>
        <p:nvSpPr>
          <p:cNvPr id="5" name="Espace réservé de la date 2"/>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6" name="Espace réservé du pied de page 3"/>
          <p:cNvSpPr>
            <a:spLocks noGrp="1"/>
          </p:cNvSpPr>
          <p:nvPr>
            <p:ph type="ftr" sz="quarter" idx="11"/>
          </p:nvPr>
        </p:nvSpPr>
        <p:spPr bwMode="auto"/>
        <p:txBody>
          <a:bodyPr/>
          <a:lstStyle/>
          <a:p>
            <a:pPr>
              <a:defRPr/>
            </a:pPr>
            <a:endParaRPr lang="en-US"/>
          </a:p>
        </p:txBody>
      </p:sp>
      <p:sp>
        <p:nvSpPr>
          <p:cNvPr id="7" name="Espace réservé du numéro de diapositive 4"/>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blank" preserve="1" userDrawn="1">
  <p:cSld name="Vide">
    <p:spTree>
      <p:nvGrpSpPr>
        <p:cNvPr id="1" name=""/>
        <p:cNvGrpSpPr/>
        <p:nvPr/>
      </p:nvGrpSpPr>
      <p:grpSpPr bwMode="auto">
        <a:xfrm>
          <a:off x="0" y="0"/>
          <a:ext cx="0" cy="0"/>
          <a:chOff x="0" y="0"/>
          <a:chExt cx="0" cy="0"/>
        </a:xfrm>
      </p:grpSpPr>
      <p:sp>
        <p:nvSpPr>
          <p:cNvPr id="4" name="Espace réservé de la date 1"/>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5" name="Espace réservé du pied de page 2"/>
          <p:cNvSpPr>
            <a:spLocks noGrp="1"/>
          </p:cNvSpPr>
          <p:nvPr>
            <p:ph type="ftr" sz="quarter" idx="11"/>
          </p:nvPr>
        </p:nvSpPr>
        <p:spPr bwMode="auto"/>
        <p:txBody>
          <a:bodyPr/>
          <a:lstStyle/>
          <a:p>
            <a:pPr>
              <a:defRPr/>
            </a:pPr>
            <a:endParaRPr lang="en-US"/>
          </a:p>
        </p:txBody>
      </p:sp>
      <p:sp>
        <p:nvSpPr>
          <p:cNvPr id="6" name="Espace réservé du numéro de diapositive 3"/>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objTx" preserve="1" userDrawn="1">
  <p:cSld name="Contenu avec légende">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9788" y="457200"/>
            <a:ext cx="3932237" cy="1600200"/>
          </a:xfrm>
        </p:spPr>
        <p:txBody>
          <a:bodyPr anchor="b"/>
          <a:lstStyle>
            <a:lvl1pPr>
              <a:defRPr sz="3200"/>
            </a:lvl1pPr>
          </a:lstStyle>
          <a:p>
            <a:pPr>
              <a:defRPr/>
            </a:pPr>
            <a:r>
              <a:rPr lang="fr-FR"/>
              <a:t>Modifiez le style du titre</a:t>
            </a:r>
            <a:endParaRPr lang="en-US"/>
          </a:p>
        </p:txBody>
      </p:sp>
      <p:sp>
        <p:nvSpPr>
          <p:cNvPr id="5" name="Espace réservé du contenu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6" name="Espace réservé du texte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Cliquez pour modifier les styles du texte du masque</a:t>
            </a:r>
            <a:endParaRPr/>
          </a:p>
        </p:txBody>
      </p:sp>
      <p:sp>
        <p:nvSpPr>
          <p:cNvPr id="7" name="Espace réservé de la date 4"/>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8" name="Espace réservé du pied de page 5"/>
          <p:cNvSpPr>
            <a:spLocks noGrp="1"/>
          </p:cNvSpPr>
          <p:nvPr>
            <p:ph type="ftr" sz="quarter" idx="11"/>
          </p:nvPr>
        </p:nvSpPr>
        <p:spPr bwMode="auto"/>
        <p:txBody>
          <a:bodyPr/>
          <a:lstStyle/>
          <a:p>
            <a:pPr>
              <a:defRPr/>
            </a:pPr>
            <a:endParaRPr lang="en-US"/>
          </a:p>
        </p:txBody>
      </p:sp>
      <p:sp>
        <p:nvSpPr>
          <p:cNvPr id="9" name="Espace réservé du numéro de diapositive 6"/>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picTx" preserve="1" userDrawn="1">
  <p:cSld name="Image avec légende">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9788" y="457200"/>
            <a:ext cx="3932237" cy="1600200"/>
          </a:xfrm>
        </p:spPr>
        <p:txBody>
          <a:bodyPr anchor="b"/>
          <a:lstStyle>
            <a:lvl1pPr>
              <a:defRPr sz="3200"/>
            </a:lvl1pPr>
          </a:lstStyle>
          <a:p>
            <a:pPr>
              <a:defRPr/>
            </a:pPr>
            <a:r>
              <a:rPr lang="fr-FR"/>
              <a:t>Modifiez le style du titre</a:t>
            </a:r>
            <a:endParaRPr lang="en-US"/>
          </a:p>
        </p:txBody>
      </p:sp>
      <p:sp>
        <p:nvSpPr>
          <p:cNvPr id="5" name="Espace réservé pour une image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6" name="Espace réservé du texte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Cliquez pour modifier les styles du texte du masque</a:t>
            </a:r>
            <a:endParaRPr/>
          </a:p>
        </p:txBody>
      </p:sp>
      <p:sp>
        <p:nvSpPr>
          <p:cNvPr id="7" name="Espace réservé de la date 4"/>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8" name="Espace réservé du pied de page 5"/>
          <p:cNvSpPr>
            <a:spLocks noGrp="1"/>
          </p:cNvSpPr>
          <p:nvPr>
            <p:ph type="ftr" sz="quarter" idx="11"/>
          </p:nvPr>
        </p:nvSpPr>
        <p:spPr bwMode="auto"/>
        <p:txBody>
          <a:bodyPr/>
          <a:lstStyle/>
          <a:p>
            <a:pPr>
              <a:defRPr/>
            </a:pPr>
            <a:endParaRPr lang="en-US"/>
          </a:p>
        </p:txBody>
      </p:sp>
      <p:sp>
        <p:nvSpPr>
          <p:cNvPr id="9" name="Espace réservé du numéro de diapositive 6"/>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vertTx" preserve="1" userDrawn="1">
  <p:cSld name="Titre et texte vertical">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fr-FR"/>
              <a:t>Modifiez le style du titre</a:t>
            </a:r>
            <a:endParaRPr lang="en-US"/>
          </a:p>
        </p:txBody>
      </p:sp>
      <p:sp>
        <p:nvSpPr>
          <p:cNvPr id="5" name="Espace réservé du texte vertical 2"/>
          <p:cNvSpPr>
            <a:spLocks noGrp="1"/>
          </p:cNvSpPr>
          <p:nvPr>
            <p:ph type="body" orient="vert" idx="1"/>
          </p:nvPr>
        </p:nvSpPr>
        <p:spPr bwMode="auto"/>
        <p:txBody>
          <a:bodyPr vert="eaVert"/>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6" name="Espace réservé de la date 3"/>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7" name="Espace réservé du pied de page 4"/>
          <p:cNvSpPr>
            <a:spLocks noGrp="1"/>
          </p:cNvSpPr>
          <p:nvPr>
            <p:ph type="ftr" sz="quarter" idx="11"/>
          </p:nvPr>
        </p:nvSpPr>
        <p:spPr bwMode="auto"/>
        <p:txBody>
          <a:bodyPr/>
          <a:lstStyle/>
          <a:p>
            <a:pPr>
              <a:defRPr/>
            </a:pPr>
            <a:endParaRPr lang="en-US"/>
          </a:p>
        </p:txBody>
      </p:sp>
      <p:sp>
        <p:nvSpPr>
          <p:cNvPr id="8" name="Espace réservé du numéro de diapositive 5"/>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Titre vertical et texte">
    <p:spTree>
      <p:nvGrpSpPr>
        <p:cNvPr id="1" name=""/>
        <p:cNvGrpSpPr/>
        <p:nvPr/>
      </p:nvGrpSpPr>
      <p:grpSpPr bwMode="auto">
        <a:xfrm>
          <a:off x="0" y="0"/>
          <a:ext cx="0" cy="0"/>
          <a:chOff x="0" y="0"/>
          <a:chExt cx="0" cy="0"/>
        </a:xfrm>
      </p:grpSpPr>
      <p:sp>
        <p:nvSpPr>
          <p:cNvPr id="4" name="Titre vertical 1"/>
          <p:cNvSpPr>
            <a:spLocks noGrp="1"/>
          </p:cNvSpPr>
          <p:nvPr>
            <p:ph type="title" orient="vert"/>
          </p:nvPr>
        </p:nvSpPr>
        <p:spPr bwMode="auto">
          <a:xfrm>
            <a:off x="8724900" y="365125"/>
            <a:ext cx="2628900" cy="5811838"/>
          </a:xfrm>
        </p:spPr>
        <p:txBody>
          <a:bodyPr vert="eaVert"/>
          <a:lstStyle/>
          <a:p>
            <a:pPr>
              <a:defRPr/>
            </a:pPr>
            <a:r>
              <a:rPr lang="fr-FR"/>
              <a:t>Modifiez le style du titre</a:t>
            </a:r>
            <a:endParaRPr lang="en-US"/>
          </a:p>
        </p:txBody>
      </p:sp>
      <p:sp>
        <p:nvSpPr>
          <p:cNvPr id="5" name="Espace réservé du texte vertical 2"/>
          <p:cNvSpPr>
            <a:spLocks noGrp="1"/>
          </p:cNvSpPr>
          <p:nvPr>
            <p:ph type="body" orient="vert" idx="1"/>
          </p:nvPr>
        </p:nvSpPr>
        <p:spPr bwMode="auto">
          <a:xfrm>
            <a:off x="838200" y="365125"/>
            <a:ext cx="7734300" cy="5811838"/>
          </a:xfrm>
        </p:spPr>
        <p:txBody>
          <a:bodyPr vert="eaVert"/>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6" name="Espace réservé de la date 3"/>
          <p:cNvSpPr>
            <a:spLocks noGrp="1"/>
          </p:cNvSpPr>
          <p:nvPr>
            <p:ph type="dt" sz="half" idx="10"/>
          </p:nvPr>
        </p:nvSpPr>
        <p:spPr bwMode="auto"/>
        <p:txBody>
          <a:bodyPr/>
          <a:lstStyle/>
          <a:p>
            <a:pPr>
              <a:defRPr/>
            </a:pPr>
            <a:fld id="{C8124DC0-0521-4211-BEB8-05A6DAB65D73}" type="datetimeFigureOut">
              <a:rPr lang="en-US"/>
              <a:t>9/24/2020</a:t>
            </a:fld>
            <a:endParaRPr lang="en-US"/>
          </a:p>
        </p:txBody>
      </p:sp>
      <p:sp>
        <p:nvSpPr>
          <p:cNvPr id="7" name="Espace réservé du pied de page 4"/>
          <p:cNvSpPr>
            <a:spLocks noGrp="1"/>
          </p:cNvSpPr>
          <p:nvPr>
            <p:ph type="ftr" sz="quarter" idx="11"/>
          </p:nvPr>
        </p:nvSpPr>
        <p:spPr bwMode="auto"/>
        <p:txBody>
          <a:bodyPr/>
          <a:lstStyle/>
          <a:p>
            <a:pPr>
              <a:defRPr/>
            </a:pPr>
            <a:endParaRPr lang="en-US"/>
          </a:p>
        </p:txBody>
      </p:sp>
      <p:sp>
        <p:nvSpPr>
          <p:cNvPr id="8" name="Espace réservé du numéro de diapositive 5"/>
          <p:cNvSpPr>
            <a:spLocks noGrp="1"/>
          </p:cNvSpPr>
          <p:nvPr>
            <p:ph type="sldNum" sz="quarter" idx="12"/>
          </p:nvPr>
        </p:nvSpPr>
        <p:spPr bwMode="auto"/>
        <p:txBody>
          <a:bodyPr/>
          <a:lstStyle/>
          <a:p>
            <a:pPr>
              <a:defRPr/>
            </a:pPr>
            <a:fld id="{DA189323-8714-416F-BA52-6FB4715ED065}" type="slidenum">
              <a:rPr lang="en-US"/>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4" name="Espace réservé du titre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lang="en-US"/>
          </a:p>
        </p:txBody>
      </p:sp>
      <p:sp>
        <p:nvSpPr>
          <p:cNvPr id="5" name="Espace réservé du texte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en-US"/>
          </a:p>
        </p:txBody>
      </p:sp>
      <p:sp>
        <p:nvSpPr>
          <p:cNvPr id="6" name="Espace réservé de la date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C8124DC0-0521-4211-BEB8-05A6DAB65D73}" type="datetimeFigureOut">
              <a:rPr lang="en-US"/>
              <a:t>9/24/2020</a:t>
            </a:fld>
            <a:endParaRPr lang="en-US"/>
          </a:p>
        </p:txBody>
      </p:sp>
      <p:sp>
        <p:nvSpPr>
          <p:cNvPr id="7" name="Espace réservé du pied de page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8" name="Espace réservé du numéro de diapositive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DA189323-8714-416F-BA52-6FB4715ED065}" type="slidenum">
              <a:rPr lang="en-US"/>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ts val="0"/>
        </a:spcBef>
        <a:buNone/>
        <a:defRPr sz="4400">
          <a:solidFill>
            <a:schemeClr val="tx1"/>
          </a:solidFill>
          <a:latin typeface="+mj-lt"/>
          <a:ea typeface="+mj-ea"/>
          <a:cs typeface="+mj-cs"/>
        </a:defRPr>
      </a:lvl1pPr>
    </p:titleStyle>
    <p:bodyStyle>
      <a:lvl1pPr marL="228600" indent="-228600" algn="l" defTabSz="91440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a:defRPr sz="1800">
          <a:solidFill>
            <a:schemeClr val="tx1"/>
          </a:solidFill>
          <a:latin typeface="+mn-lt"/>
          <a:ea typeface="+mn-ea"/>
          <a:cs typeface="+mn-cs"/>
        </a:defRPr>
      </a:lvl1pPr>
      <a:lvl2pPr marL="457200" algn="l" defTabSz="914400">
        <a:defRPr sz="1800">
          <a:solidFill>
            <a:schemeClr val="tx1"/>
          </a:solidFill>
          <a:latin typeface="+mn-lt"/>
          <a:ea typeface="+mn-ea"/>
          <a:cs typeface="+mn-cs"/>
        </a:defRPr>
      </a:lvl2pPr>
      <a:lvl3pPr marL="914400" algn="l" defTabSz="914400">
        <a:defRPr sz="1800">
          <a:solidFill>
            <a:schemeClr val="tx1"/>
          </a:solidFill>
          <a:latin typeface="+mn-lt"/>
          <a:ea typeface="+mn-ea"/>
          <a:cs typeface="+mn-cs"/>
        </a:defRPr>
      </a:lvl3pPr>
      <a:lvl4pPr marL="1371600" algn="l" defTabSz="914400">
        <a:defRPr sz="1800">
          <a:solidFill>
            <a:schemeClr val="tx1"/>
          </a:solidFill>
          <a:latin typeface="+mn-lt"/>
          <a:ea typeface="+mn-ea"/>
          <a:cs typeface="+mn-cs"/>
        </a:defRPr>
      </a:lvl4pPr>
      <a:lvl5pPr marL="1828800" algn="l" defTabSz="914400">
        <a:defRPr sz="1800">
          <a:solidFill>
            <a:schemeClr val="tx1"/>
          </a:solidFill>
          <a:latin typeface="+mn-lt"/>
          <a:ea typeface="+mn-ea"/>
          <a:cs typeface="+mn-cs"/>
        </a:defRPr>
      </a:lvl5pPr>
      <a:lvl6pPr marL="2286000" algn="l" defTabSz="914400">
        <a:defRPr sz="1800">
          <a:solidFill>
            <a:schemeClr val="tx1"/>
          </a:solidFill>
          <a:latin typeface="+mn-lt"/>
          <a:ea typeface="+mn-ea"/>
          <a:cs typeface="+mn-cs"/>
        </a:defRPr>
      </a:lvl6pPr>
      <a:lvl7pPr marL="2743200" algn="l" defTabSz="914400">
        <a:defRPr sz="1800">
          <a:solidFill>
            <a:schemeClr val="tx1"/>
          </a:solidFill>
          <a:latin typeface="+mn-lt"/>
          <a:ea typeface="+mn-ea"/>
          <a:cs typeface="+mn-cs"/>
        </a:defRPr>
      </a:lvl7pPr>
      <a:lvl8pPr marL="3200400" algn="l" defTabSz="914400">
        <a:defRPr sz="1800">
          <a:solidFill>
            <a:schemeClr val="tx1"/>
          </a:solidFill>
          <a:latin typeface="+mn-lt"/>
          <a:ea typeface="+mn-ea"/>
          <a:cs typeface="+mn-cs"/>
        </a:defRPr>
      </a:lvl8pPr>
      <a:lvl9pPr marL="3657600" algn="l" defTabSz="91440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comments" Target="../comments/comment3.xml"/><Relationship Id="rId4" Type="http://schemas.openxmlformats.org/officeDocument/2006/relationships/hyperlink" Target="https://docs.nvidia.com/cuda/cuda-c-programming-guid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hyperlink" Target="https://docs.nvidia.com/cuda/cuda-c-programming-guide/"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comments" Target="../comments/comment4.xml"/><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hyperlink" Target="http://www.eurorisksystems.com/documents/speed_up_of_numeric_calculations_using_GPU.pdf" TargetMode="External"/><Relationship Id="rId5" Type="http://schemas.openxmlformats.org/officeDocument/2006/relationships/hyperlink" Target="https://blog.dask.org/2019/06/27/single-gpu-cupy-benchmarks" TargetMode="Externa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comments" Target="../comments/comment5.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hyperlink" Target="https://www.cvg.ethz.ch/teaching/2011spring/gpgpu/Lec1-intro.pdf"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cvg.ethz.ch/teaching/2011spring/gpgpu/Lec1-intro.pdf" TargetMode="External"/><Relationship Id="rId1" Type="http://schemas.openxmlformats.org/officeDocument/2006/relationships/slideLayout" Target="../slideLayouts/slideLayout6.xml"/><Relationship Id="rId5" Type="http://schemas.openxmlformats.org/officeDocument/2006/relationships/comments" Target="../comments/comment6.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comments" Target="../comments/comment7.xml"/><Relationship Id="rId5" Type="http://schemas.openxmlformats.org/officeDocument/2006/relationships/image" Target="../media/image10.png"/><Relationship Id="rId4" Type="http://schemas.openxmlformats.org/officeDocument/2006/relationships/hyperlink" Target="http://developer.download.nvidia.com/compute/cuda/3_1/toolkit/docs/NVIDIA_CUDA_C_ProgrammingGuide_3.1.pdf"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comments" Target="../comments/comment8.xml"/></Relationships>
</file>

<file path=ppt/slides/_rels/slide12.xml.rels><?xml version="1.0" encoding="UTF-8" standalone="yes"?>
<Relationships xmlns="http://schemas.openxmlformats.org/package/2006/relationships"><Relationship Id="rId3" Type="http://schemas.openxmlformats.org/officeDocument/2006/relationships/comments" Target="../comments/comment9.xml"/><Relationship Id="rId2" Type="http://schemas.openxmlformats.org/officeDocument/2006/relationships/image" Target="../media/image11.jp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comments" Target="../comments/comment10.xml"/><Relationship Id="rId2" Type="http://schemas.openxmlformats.org/officeDocument/2006/relationships/image" Target="../media/image11.jp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11.xml"/><Relationship Id="rId2" Type="http://schemas.openxmlformats.org/officeDocument/2006/relationships/image" Target="../media/image11.jp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comments" Target="../comments/comment12.xml"/><Relationship Id="rId4" Type="http://schemas.openxmlformats.org/officeDocument/2006/relationships/hyperlink" Target="https://cvw.cac.cornell.edu/GPU/structure"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g"/><Relationship Id="rId1" Type="http://schemas.openxmlformats.org/officeDocument/2006/relationships/slideLayout" Target="../slideLayouts/slideLayout6.xml"/><Relationship Id="rId6" Type="http://schemas.openxmlformats.org/officeDocument/2006/relationships/comments" Target="../comments/comment13.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4.png"/><Relationship Id="rId1" Type="http://schemas.openxmlformats.org/officeDocument/2006/relationships/slideLayout" Target="../slideLayouts/slideLayout6.xml"/><Relationship Id="rId6" Type="http://schemas.openxmlformats.org/officeDocument/2006/relationships/comments" Target="../comments/comment14.xml"/><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ctrTitle"/>
          </p:nvPr>
        </p:nvSpPr>
        <p:spPr bwMode="auto"/>
        <p:txBody>
          <a:bodyPr/>
          <a:lstStyle/>
          <a:p>
            <a:pPr>
              <a:defRPr/>
            </a:pPr>
            <a:r>
              <a:rPr lang="en-US"/>
              <a:t>Intro</a:t>
            </a:r>
            <a:endParaRPr/>
          </a:p>
        </p:txBody>
      </p:sp>
      <p:sp>
        <p:nvSpPr>
          <p:cNvPr id="5" name="Sous-titre 2"/>
          <p:cNvSpPr>
            <a:spLocks noGrp="1"/>
          </p:cNvSpPr>
          <p:nvPr>
            <p:ph type="subTitle" idx="1"/>
          </p:nvPr>
        </p:nvSpPr>
        <p:spPr bwMode="auto"/>
        <p:txBody>
          <a:bodyPr/>
          <a:lstStyle/>
          <a:p>
            <a:pPr>
              <a:defRPr/>
            </a:pP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 name="Sous-titre 2"/>
          <p:cNvSpPr>
            <a:spLocks noGrp="1"/>
          </p:cNvSpPr>
          <p:nvPr>
            <p:ph type="subTitle" idx="1"/>
          </p:nvPr>
        </p:nvSpPr>
        <p:spPr bwMode="auto">
          <a:xfrm>
            <a:off x="1415480" y="1412776"/>
            <a:ext cx="9144000" cy="1655762"/>
          </a:xfrm>
        </p:spPr>
        <p:txBody>
          <a:bodyPr>
            <a:normAutofit fontScale="92500" lnSpcReduction="20000"/>
          </a:bodyPr>
          <a:lstStyle/>
          <a:p>
            <a:pPr>
              <a:defRPr/>
            </a:pPr>
            <a:r>
              <a:rPr lang="en-US" dirty="0"/>
              <a:t>Maybe add some photos of a GPU vs a CPU to ease the entry to the slides, so that the first slide is not a graph directly.</a:t>
            </a:r>
          </a:p>
          <a:p>
            <a:pPr>
              <a:defRPr/>
            </a:pPr>
            <a:r>
              <a:rPr lang="en-US" dirty="0"/>
              <a:t>I bet that some people haven’t ever seen a GPU!</a:t>
            </a:r>
          </a:p>
          <a:p>
            <a:pPr>
              <a:defRPr/>
            </a:pPr>
            <a:r>
              <a:rPr lang="en-US" dirty="0"/>
              <a:t>Maybe also mention that they have been (and still are) being used for gaming, but since early 2000s they are getting more common in research.</a:t>
            </a:r>
          </a:p>
        </p:txBody>
      </p:sp>
    </p:spTree>
    <p:extLst>
      <p:ext uri="{BB962C8B-B14F-4D97-AF65-F5344CB8AC3E}">
        <p14:creationId xmlns:p14="http://schemas.microsoft.com/office/powerpoint/2010/main" val="837272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en-US"/>
              <a:t>GPU programming enables state of the art performance </a:t>
            </a:r>
            <a:endParaRPr/>
          </a:p>
        </p:txBody>
      </p:sp>
      <p:pic>
        <p:nvPicPr>
          <p:cNvPr id="5" name="Image 3" descr="Une image contenant carte, texte&#10;&#10;Description générée automatiquement"/>
          <p:cNvPicPr>
            <a:picLocks noChangeAspect="1"/>
          </p:cNvPicPr>
          <p:nvPr/>
        </p:nvPicPr>
        <p:blipFill>
          <a:blip r:embed="rId3"/>
          <a:stretch/>
        </p:blipFill>
        <p:spPr bwMode="auto">
          <a:xfrm>
            <a:off x="1047750" y="1623610"/>
            <a:ext cx="9696450" cy="4869265"/>
          </a:xfrm>
          <a:prstGeom prst="rect">
            <a:avLst/>
          </a:prstGeom>
        </p:spPr>
      </p:pic>
      <p:sp>
        <p:nvSpPr>
          <p:cNvPr id="6" name="Rectangle 4"/>
          <p:cNvSpPr/>
          <p:nvPr/>
        </p:nvSpPr>
        <p:spPr bwMode="auto">
          <a:xfrm>
            <a:off x="3256248" y="6492875"/>
            <a:ext cx="5679504" cy="369332"/>
          </a:xfrm>
          <a:prstGeom prst="rect">
            <a:avLst/>
          </a:prstGeom>
        </p:spPr>
        <p:txBody>
          <a:bodyPr wrap="none">
            <a:spAutoFit/>
          </a:bodyPr>
          <a:lstStyle/>
          <a:p>
            <a:pPr>
              <a:defRPr/>
            </a:pPr>
            <a:r>
              <a:rPr lang="en-US" u="sng">
                <a:hlinkClick r:id="rId4"/>
              </a:rPr>
              <a:t>https://docs.nvidia.com/cuda/cuda-c-programming-guide/</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4" name="Image 4" descr="Une image contenant texte, carte&#10;&#10;Description générée automatiquement"/>
          <p:cNvPicPr>
            <a:picLocks noChangeAspect="1"/>
          </p:cNvPicPr>
          <p:nvPr/>
        </p:nvPicPr>
        <p:blipFill>
          <a:blip r:embed="rId3"/>
          <a:stretch/>
        </p:blipFill>
        <p:spPr bwMode="auto">
          <a:xfrm>
            <a:off x="1058333" y="669010"/>
            <a:ext cx="9620250" cy="5182408"/>
          </a:xfrm>
          <a:prstGeom prst="rect">
            <a:avLst/>
          </a:prstGeom>
        </p:spPr>
      </p:pic>
      <p:sp>
        <p:nvSpPr>
          <p:cNvPr id="5" name="Rectangle 7"/>
          <p:cNvSpPr/>
          <p:nvPr/>
        </p:nvSpPr>
        <p:spPr bwMode="auto">
          <a:xfrm>
            <a:off x="3256248" y="6492875"/>
            <a:ext cx="5679504" cy="369332"/>
          </a:xfrm>
          <a:prstGeom prst="rect">
            <a:avLst/>
          </a:prstGeom>
        </p:spPr>
        <p:txBody>
          <a:bodyPr wrap="none">
            <a:spAutoFit/>
          </a:bodyPr>
          <a:lstStyle/>
          <a:p>
            <a:pPr>
              <a:defRPr/>
            </a:pPr>
            <a:r>
              <a:rPr lang="en-US" u="sng">
                <a:hlinkClick r:id="rId4"/>
              </a:rPr>
              <a:t>https://docs.nvidia.com/cuda/cuda-c-programming-guide/</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4" name="Image 3"/>
          <p:cNvPicPr>
            <a:picLocks noChangeAspect="1"/>
          </p:cNvPicPr>
          <p:nvPr/>
        </p:nvPicPr>
        <p:blipFill>
          <a:blip r:embed="rId3"/>
          <a:stretch/>
        </p:blipFill>
        <p:spPr bwMode="auto">
          <a:xfrm>
            <a:off x="93133" y="-51424"/>
            <a:ext cx="6129337" cy="3590286"/>
          </a:xfrm>
          <a:prstGeom prst="rect">
            <a:avLst/>
          </a:prstGeom>
        </p:spPr>
      </p:pic>
      <p:pic>
        <p:nvPicPr>
          <p:cNvPr id="5" name="Image 6" descr="Une image contenant capture d’écran&#10;&#10;Description générée automatiquement"/>
          <p:cNvPicPr>
            <a:picLocks noChangeAspect="1"/>
          </p:cNvPicPr>
          <p:nvPr/>
        </p:nvPicPr>
        <p:blipFill>
          <a:blip r:embed="rId4"/>
          <a:stretch/>
        </p:blipFill>
        <p:spPr bwMode="auto">
          <a:xfrm>
            <a:off x="6460067" y="407834"/>
            <a:ext cx="5638800" cy="3249562"/>
          </a:xfrm>
          <a:prstGeom prst="rect">
            <a:avLst/>
          </a:prstGeom>
        </p:spPr>
      </p:pic>
      <p:sp>
        <p:nvSpPr>
          <p:cNvPr id="6" name="ZoneTexte 9"/>
          <p:cNvSpPr>
            <a:spLocks/>
          </p:cNvSpPr>
          <p:nvPr/>
        </p:nvSpPr>
        <p:spPr bwMode="auto">
          <a:xfrm>
            <a:off x="838199" y="3869061"/>
            <a:ext cx="3040396" cy="914435"/>
          </a:xfrm>
          <a:prstGeom prst="rect">
            <a:avLst/>
          </a:prstGeom>
          <a:noFill/>
        </p:spPr>
        <p:txBody>
          <a:bodyPr wrap="square" rtlCol="0">
            <a:spAutoFit/>
          </a:bodyPr>
          <a:lstStyle/>
          <a:p>
            <a:pPr>
              <a:defRPr/>
            </a:pPr>
            <a:r>
              <a:rPr lang="en-US"/>
              <a:t>Single GPU using CuPy library (GPU optimized library) compared to numpy</a:t>
            </a:r>
          </a:p>
        </p:txBody>
      </p:sp>
      <p:sp>
        <p:nvSpPr>
          <p:cNvPr id="7" name="ZoneTexte 10"/>
          <p:cNvSpPr>
            <a:spLocks/>
          </p:cNvSpPr>
          <p:nvPr/>
        </p:nvSpPr>
        <p:spPr bwMode="auto">
          <a:xfrm>
            <a:off x="152400" y="4707092"/>
            <a:ext cx="4158831" cy="276999"/>
          </a:xfrm>
          <a:prstGeom prst="rect">
            <a:avLst/>
          </a:prstGeom>
          <a:noFill/>
        </p:spPr>
        <p:txBody>
          <a:bodyPr wrap="none" rtlCol="0">
            <a:spAutoFit/>
          </a:bodyPr>
          <a:lstStyle/>
          <a:p>
            <a:pPr>
              <a:defRPr/>
            </a:pPr>
            <a:r>
              <a:rPr lang="en-US" sz="1200" u="sng">
                <a:hlinkClick r:id="rId5"/>
              </a:rPr>
              <a:t>https://blog.dask.org/2019/06/27/single-gpu-cupy-benchmarks</a:t>
            </a:r>
            <a:endParaRPr lang="en-US" sz="1200"/>
          </a:p>
        </p:txBody>
      </p:sp>
      <p:sp>
        <p:nvSpPr>
          <p:cNvPr id="8" name="ZoneTexte 11"/>
          <p:cNvSpPr>
            <a:spLocks/>
          </p:cNvSpPr>
          <p:nvPr/>
        </p:nvSpPr>
        <p:spPr bwMode="auto">
          <a:xfrm>
            <a:off x="7996767" y="3730562"/>
            <a:ext cx="3039533" cy="923330"/>
          </a:xfrm>
          <a:prstGeom prst="rect">
            <a:avLst/>
          </a:prstGeom>
          <a:noFill/>
        </p:spPr>
        <p:txBody>
          <a:bodyPr wrap="square" rtlCol="0">
            <a:spAutoFit/>
          </a:bodyPr>
          <a:lstStyle/>
          <a:p>
            <a:pPr>
              <a:defRPr/>
            </a:pPr>
            <a:r>
              <a:rPr lang="en-US"/>
              <a:t>Comparison between cuRAND library (GPU optimize) and MKL library (CPU optimize)</a:t>
            </a:r>
            <a:endParaRPr/>
          </a:p>
        </p:txBody>
      </p:sp>
      <p:sp>
        <p:nvSpPr>
          <p:cNvPr id="9" name="ZoneTexte 12"/>
          <p:cNvSpPr>
            <a:spLocks/>
          </p:cNvSpPr>
          <p:nvPr/>
        </p:nvSpPr>
        <p:spPr bwMode="auto">
          <a:xfrm>
            <a:off x="7083504" y="3049396"/>
            <a:ext cx="1826526" cy="276999"/>
          </a:xfrm>
          <a:prstGeom prst="rect">
            <a:avLst/>
          </a:prstGeom>
          <a:noFill/>
        </p:spPr>
        <p:txBody>
          <a:bodyPr wrap="none" rtlCol="0">
            <a:spAutoFit/>
          </a:bodyPr>
          <a:lstStyle/>
          <a:p>
            <a:pPr>
              <a:defRPr/>
            </a:pPr>
            <a:r>
              <a:rPr lang="en-US" sz="1200"/>
              <a:t>Different protocol for RNG</a:t>
            </a:r>
            <a:endParaRPr/>
          </a:p>
        </p:txBody>
      </p:sp>
      <p:sp>
        <p:nvSpPr>
          <p:cNvPr id="10" name="Rectangle 13"/>
          <p:cNvSpPr/>
          <p:nvPr/>
        </p:nvSpPr>
        <p:spPr bwMode="auto">
          <a:xfrm>
            <a:off x="6002867" y="4753259"/>
            <a:ext cx="6096000" cy="461665"/>
          </a:xfrm>
          <a:prstGeom prst="rect">
            <a:avLst/>
          </a:prstGeom>
        </p:spPr>
        <p:txBody>
          <a:bodyPr>
            <a:spAutoFit/>
          </a:bodyPr>
          <a:lstStyle/>
          <a:p>
            <a:pPr>
              <a:defRPr/>
            </a:pPr>
            <a:r>
              <a:rPr lang="en-US" sz="1200" u="sng">
                <a:hlinkClick r:id="rId6"/>
              </a:rPr>
              <a:t>http://www.eurorisksystems.com/documents/speed_up_of_numeric_calculations_using_GPU.pdf</a:t>
            </a:r>
            <a:endParaRPr lang="en-US" sz="12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8200" y="-295278"/>
            <a:ext cx="10515600" cy="1325563"/>
          </a:xfrm>
        </p:spPr>
        <p:txBody>
          <a:bodyPr/>
          <a:lstStyle/>
          <a:p>
            <a:pPr>
              <a:defRPr/>
            </a:pPr>
            <a:r>
              <a:rPr lang="en-US"/>
              <a:t>Why is it more powerful for some operations</a:t>
            </a:r>
            <a:endParaRPr/>
          </a:p>
        </p:txBody>
      </p:sp>
      <p:pic>
        <p:nvPicPr>
          <p:cNvPr id="5" name="Image 5" descr="Une image contenant en bois&#10;&#10;Description générée automatiquement"/>
          <p:cNvPicPr>
            <a:picLocks noChangeAspect="1"/>
          </p:cNvPicPr>
          <p:nvPr/>
        </p:nvPicPr>
        <p:blipFill>
          <a:blip r:embed="rId3"/>
          <a:stretch/>
        </p:blipFill>
        <p:spPr bwMode="auto">
          <a:xfrm>
            <a:off x="2517382" y="1519238"/>
            <a:ext cx="9570235" cy="4267199"/>
          </a:xfrm>
          <a:prstGeom prst="rect">
            <a:avLst/>
          </a:prstGeom>
        </p:spPr>
      </p:pic>
      <p:sp>
        <p:nvSpPr>
          <p:cNvPr id="6" name="Rectangle 6"/>
          <p:cNvSpPr/>
          <p:nvPr/>
        </p:nvSpPr>
        <p:spPr bwMode="auto">
          <a:xfrm>
            <a:off x="2743200" y="5353050"/>
            <a:ext cx="6238875" cy="433387"/>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ZoneTexte 7"/>
          <p:cNvSpPr>
            <a:spLocks/>
          </p:cNvSpPr>
          <p:nvPr/>
        </p:nvSpPr>
        <p:spPr bwMode="auto">
          <a:xfrm>
            <a:off x="8693150" y="872907"/>
            <a:ext cx="3190875" cy="646331"/>
          </a:xfrm>
          <a:prstGeom prst="rect">
            <a:avLst/>
          </a:prstGeom>
          <a:noFill/>
        </p:spPr>
        <p:txBody>
          <a:bodyPr wrap="square" rtlCol="0">
            <a:spAutoFit/>
          </a:bodyPr>
          <a:lstStyle/>
          <a:p>
            <a:pPr>
              <a:defRPr/>
            </a:pPr>
            <a:r>
              <a:rPr lang="en-US"/>
              <a:t>Streaming Multiprocessor : GPU equivalent of a CPU core </a:t>
            </a:r>
            <a:endParaRPr/>
          </a:p>
        </p:txBody>
      </p:sp>
      <p:cxnSp>
        <p:nvCxnSpPr>
          <p:cNvPr id="8" name="Connecteur droit avec flèche 9"/>
          <p:cNvCxnSpPr>
            <a:cxnSpLocks/>
          </p:cNvCxnSpPr>
          <p:nvPr/>
        </p:nvCxnSpPr>
        <p:spPr bwMode="auto">
          <a:xfrm flipH="1">
            <a:off x="7999609" y="1124636"/>
            <a:ext cx="693541" cy="394602"/>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cteur droit avec flèche 11"/>
          <p:cNvCxnSpPr>
            <a:cxnSpLocks/>
          </p:cNvCxnSpPr>
          <p:nvPr/>
        </p:nvCxnSpPr>
        <p:spPr bwMode="auto">
          <a:xfrm flipV="1">
            <a:off x="8029968" y="4305301"/>
            <a:ext cx="495301" cy="135662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ZoneTexte 13"/>
          <p:cNvSpPr>
            <a:spLocks/>
          </p:cNvSpPr>
          <p:nvPr/>
        </p:nvSpPr>
        <p:spPr bwMode="auto">
          <a:xfrm>
            <a:off x="7721600" y="5661927"/>
            <a:ext cx="4591835" cy="646331"/>
          </a:xfrm>
          <a:prstGeom prst="rect">
            <a:avLst/>
          </a:prstGeom>
          <a:noFill/>
        </p:spPr>
        <p:txBody>
          <a:bodyPr wrap="square" rtlCol="0">
            <a:spAutoFit/>
          </a:bodyPr>
          <a:lstStyle/>
          <a:p>
            <a:pPr>
              <a:defRPr/>
            </a:pPr>
            <a:r>
              <a:rPr lang="en-US"/>
              <a:t>Shared memory is L1 cache memory, each SM contains many of ALU</a:t>
            </a:r>
            <a:endParaRPr/>
          </a:p>
        </p:txBody>
      </p:sp>
      <p:sp>
        <p:nvSpPr>
          <p:cNvPr id="11" name="Rectangle 16"/>
          <p:cNvSpPr/>
          <p:nvPr/>
        </p:nvSpPr>
        <p:spPr bwMode="auto">
          <a:xfrm>
            <a:off x="2409431" y="5710078"/>
            <a:ext cx="5204218" cy="830997"/>
          </a:xfrm>
          <a:prstGeom prst="rect">
            <a:avLst/>
          </a:prstGeom>
        </p:spPr>
        <p:txBody>
          <a:bodyPr wrap="square">
            <a:spAutoFit/>
          </a:bodyPr>
          <a:lstStyle/>
          <a:p>
            <a:pPr>
              <a:defRPr/>
            </a:pPr>
            <a:r>
              <a:rPr lang="en-US" sz="1200" b="0" i="0">
                <a:solidFill>
                  <a:srgbClr val="000000"/>
                </a:solidFill>
                <a:latin typeface="ff1"/>
              </a:rPr>
              <a:t>Development of a convex polyhedral discrete element simulation framework for</a:t>
            </a:r>
            <a:endParaRPr/>
          </a:p>
          <a:p>
            <a:pPr>
              <a:defRPr/>
            </a:pPr>
            <a:r>
              <a:rPr lang="en-US" sz="1200" b="0" i="0">
                <a:solidFill>
                  <a:srgbClr val="000000"/>
                </a:solidFill>
                <a:latin typeface="ff1"/>
              </a:rPr>
              <a:t>NVIDIA Kepler based GPUs.</a:t>
            </a:r>
            <a:endParaRPr/>
          </a:p>
          <a:p>
            <a:pPr>
              <a:defRPr/>
            </a:pPr>
            <a:r>
              <a:rPr lang="pt-BR" sz="1200" b="0" i="0">
                <a:solidFill>
                  <a:srgbClr val="000000"/>
                </a:solidFill>
                <a:latin typeface="ff1"/>
              </a:rPr>
              <a:t>DOI: 10.1016/j.cam.2013.12.032.</a:t>
            </a:r>
            <a:endParaRPr/>
          </a:p>
          <a:p>
            <a:pPr>
              <a:defRPr/>
            </a:pPr>
            <a:endParaRPr lang="en-US" sz="1200" b="0" i="0">
              <a:solidFill>
                <a:srgbClr val="000000"/>
              </a:solidFill>
              <a:latin typeface="ff1"/>
            </a:endParaRPr>
          </a:p>
        </p:txBody>
      </p:sp>
      <p:cxnSp>
        <p:nvCxnSpPr>
          <p:cNvPr id="12" name="Connecteur droit avec flèche 9"/>
          <p:cNvCxnSpPr>
            <a:cxnSpLocks/>
          </p:cNvCxnSpPr>
          <p:nvPr/>
        </p:nvCxnSpPr>
        <p:spPr bwMode="auto">
          <a:xfrm flipH="1">
            <a:off x="7999608" y="1124635"/>
            <a:ext cx="693540" cy="39460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12"/>
          <p:cNvCxnSpPr>
            <a:cxnSpLocks/>
          </p:cNvCxnSpPr>
          <p:nvPr/>
        </p:nvCxnSpPr>
        <p:spPr bwMode="auto">
          <a:xfrm>
            <a:off x="2029615" y="1440961"/>
            <a:ext cx="610576" cy="512884"/>
          </a:xfrm>
          <a:prstGeom prst="line">
            <a:avLst/>
          </a:prstGeom>
          <a:ln w="57150" cap="flat" cmpd="sng" algn="ctr">
            <a:solidFill>
              <a:schemeClr val="tx1"/>
            </a:solidFill>
            <a:prstDash val="solid"/>
            <a:miter/>
            <a:tailEnd type="triangle" len="med"/>
          </a:ln>
        </p:spPr>
        <p:style>
          <a:lnRef idx="1">
            <a:schemeClr val="accent1">
              <a:shade val="50000"/>
            </a:schemeClr>
          </a:lnRef>
          <a:fillRef idx="0">
            <a:schemeClr val="accent1"/>
          </a:fillRef>
          <a:effectRef idx="0">
            <a:schemeClr val="accent1"/>
          </a:effectRef>
          <a:fontRef idx="minor">
            <a:schemeClr val="tx1"/>
          </a:fontRef>
        </p:style>
      </p:cxnSp>
      <p:sp>
        <p:nvSpPr>
          <p:cNvPr id="14" name="Rectángulo 13"/>
          <p:cNvSpPr/>
          <p:nvPr/>
        </p:nvSpPr>
        <p:spPr bwMode="auto">
          <a:xfrm>
            <a:off x="429903" y="760205"/>
            <a:ext cx="3199422" cy="561730"/>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t>Arithmetic  Logic Unit :  brick component of processing unit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8198" y="-295277"/>
            <a:ext cx="10515600" cy="1325562"/>
          </a:xfrm>
        </p:spPr>
        <p:txBody>
          <a:bodyPr/>
          <a:lstStyle/>
          <a:p>
            <a:pPr>
              <a:defRPr/>
            </a:pPr>
            <a:r>
              <a:rPr lang="en-US"/>
              <a:t>Why is it more powerful for some operations</a:t>
            </a:r>
            <a:endParaRPr/>
          </a:p>
        </p:txBody>
      </p:sp>
      <p:pic>
        <p:nvPicPr>
          <p:cNvPr id="5" name="Image 5" descr="Une image contenant en bois&#10;&#10;Description générée automatiquement"/>
          <p:cNvPicPr>
            <a:picLocks noChangeAspect="1"/>
          </p:cNvPicPr>
          <p:nvPr/>
        </p:nvPicPr>
        <p:blipFill>
          <a:blip r:embed="rId3"/>
          <a:stretch/>
        </p:blipFill>
        <p:spPr bwMode="auto">
          <a:xfrm>
            <a:off x="2517381" y="1519236"/>
            <a:ext cx="9570234" cy="4267198"/>
          </a:xfrm>
          <a:prstGeom prst="rect">
            <a:avLst/>
          </a:prstGeom>
        </p:spPr>
      </p:pic>
      <p:sp>
        <p:nvSpPr>
          <p:cNvPr id="6" name="Rectangle 6"/>
          <p:cNvSpPr/>
          <p:nvPr/>
        </p:nvSpPr>
        <p:spPr bwMode="auto">
          <a:xfrm>
            <a:off x="2743200" y="5353049"/>
            <a:ext cx="6238874" cy="4333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US"/>
          </a:p>
        </p:txBody>
      </p:sp>
      <p:sp>
        <p:nvSpPr>
          <p:cNvPr id="7" name="ZoneTexte 7"/>
          <p:cNvSpPr>
            <a:spLocks/>
          </p:cNvSpPr>
          <p:nvPr/>
        </p:nvSpPr>
        <p:spPr bwMode="auto">
          <a:xfrm>
            <a:off x="8693150" y="872906"/>
            <a:ext cx="3190874" cy="646330"/>
          </a:xfrm>
          <a:prstGeom prst="rect">
            <a:avLst/>
          </a:prstGeom>
          <a:noFill/>
        </p:spPr>
        <p:txBody>
          <a:bodyPr wrap="square" rtlCol="0">
            <a:spAutoFit/>
          </a:bodyPr>
          <a:lstStyle/>
          <a:p>
            <a:pPr>
              <a:defRPr/>
            </a:pPr>
            <a:r>
              <a:rPr lang="en-US"/>
              <a:t>Streaming Multiprocessor : GPU equivalent of a CPU core </a:t>
            </a:r>
            <a:endParaRPr/>
          </a:p>
        </p:txBody>
      </p:sp>
      <p:cxnSp>
        <p:nvCxnSpPr>
          <p:cNvPr id="8" name="Connecteur droit avec flèche 9"/>
          <p:cNvCxnSpPr>
            <a:cxnSpLocks/>
          </p:cNvCxnSpPr>
          <p:nvPr/>
        </p:nvCxnSpPr>
        <p:spPr bwMode="auto">
          <a:xfrm flipH="1">
            <a:off x="7999608" y="1124635"/>
            <a:ext cx="693540" cy="39460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cteur droit avec flèche 11"/>
          <p:cNvCxnSpPr>
            <a:cxnSpLocks/>
          </p:cNvCxnSpPr>
          <p:nvPr/>
        </p:nvCxnSpPr>
        <p:spPr bwMode="auto">
          <a:xfrm flipV="1">
            <a:off x="8029968" y="4305300"/>
            <a:ext cx="495300" cy="1356625"/>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ZoneTexte 13"/>
          <p:cNvSpPr>
            <a:spLocks/>
          </p:cNvSpPr>
          <p:nvPr/>
        </p:nvSpPr>
        <p:spPr bwMode="auto">
          <a:xfrm>
            <a:off x="7721600" y="5661926"/>
            <a:ext cx="4591834" cy="646330"/>
          </a:xfrm>
          <a:prstGeom prst="rect">
            <a:avLst/>
          </a:prstGeom>
          <a:noFill/>
        </p:spPr>
        <p:txBody>
          <a:bodyPr wrap="square" rtlCol="0">
            <a:spAutoFit/>
          </a:bodyPr>
          <a:lstStyle/>
          <a:p>
            <a:pPr>
              <a:defRPr/>
            </a:pPr>
            <a:r>
              <a:rPr lang="en-US"/>
              <a:t>Shared memory is L1 cache memory, each SM contains many of ALU</a:t>
            </a:r>
            <a:endParaRPr/>
          </a:p>
        </p:txBody>
      </p:sp>
      <p:sp>
        <p:nvSpPr>
          <p:cNvPr id="11" name="ZoneTexte 14"/>
          <p:cNvSpPr>
            <a:spLocks/>
          </p:cNvSpPr>
          <p:nvPr/>
        </p:nvSpPr>
        <p:spPr bwMode="auto">
          <a:xfrm>
            <a:off x="104382" y="1951670"/>
            <a:ext cx="2197099" cy="1754325"/>
          </a:xfrm>
          <a:prstGeom prst="rect">
            <a:avLst/>
          </a:prstGeom>
          <a:noFill/>
        </p:spPr>
        <p:txBody>
          <a:bodyPr wrap="square" rtlCol="0">
            <a:spAutoFit/>
          </a:bodyPr>
          <a:lstStyle/>
          <a:p>
            <a:pPr>
              <a:defRPr/>
            </a:pPr>
            <a:r>
              <a:rPr lang="en-US"/>
              <a:t>At hierarchy equivalent (Core), CPU has more transistors allocated to memory and flow control</a:t>
            </a:r>
            <a:endParaRPr/>
          </a:p>
        </p:txBody>
      </p:sp>
      <p:sp>
        <p:nvSpPr>
          <p:cNvPr id="12" name="ZoneTexte 15"/>
          <p:cNvSpPr>
            <a:spLocks/>
          </p:cNvSpPr>
          <p:nvPr/>
        </p:nvSpPr>
        <p:spPr bwMode="auto">
          <a:xfrm>
            <a:off x="104382" y="4305300"/>
            <a:ext cx="2197099" cy="2308322"/>
          </a:xfrm>
          <a:prstGeom prst="rect">
            <a:avLst/>
          </a:prstGeom>
          <a:noFill/>
        </p:spPr>
        <p:txBody>
          <a:bodyPr wrap="square" rtlCol="0">
            <a:spAutoFit/>
          </a:bodyPr>
          <a:lstStyle/>
          <a:p>
            <a:pPr>
              <a:defRPr/>
            </a:pPr>
            <a:r>
              <a:rPr lang="en-US"/>
              <a:t>GPU focus on more ALUs and so has a raw compute power which is higher than CPU. But to do so it has traded off  memory capacity and flow control.</a:t>
            </a:r>
            <a:endParaRPr/>
          </a:p>
        </p:txBody>
      </p:sp>
      <p:sp>
        <p:nvSpPr>
          <p:cNvPr id="13" name="Rectangle 16"/>
          <p:cNvSpPr/>
          <p:nvPr/>
        </p:nvSpPr>
        <p:spPr bwMode="auto">
          <a:xfrm>
            <a:off x="2409431" y="5710077"/>
            <a:ext cx="5204217" cy="830997"/>
          </a:xfrm>
          <a:prstGeom prst="rect">
            <a:avLst/>
          </a:prstGeom>
        </p:spPr>
        <p:txBody>
          <a:bodyPr wrap="square">
            <a:spAutoFit/>
          </a:bodyPr>
          <a:lstStyle/>
          <a:p>
            <a:pPr>
              <a:defRPr/>
            </a:pPr>
            <a:r>
              <a:rPr lang="en-US" sz="1200" b="0" i="0">
                <a:solidFill>
                  <a:srgbClr val="000000"/>
                </a:solidFill>
                <a:latin typeface="ff1"/>
              </a:rPr>
              <a:t>Development of a convex polyhedral discrete element simulation framework for</a:t>
            </a:r>
            <a:endParaRPr/>
          </a:p>
          <a:p>
            <a:pPr>
              <a:defRPr/>
            </a:pPr>
            <a:r>
              <a:rPr lang="en-US" sz="1200" b="0" i="0">
                <a:solidFill>
                  <a:srgbClr val="000000"/>
                </a:solidFill>
                <a:latin typeface="ff1"/>
              </a:rPr>
              <a:t>NVIDIA Kepler based GPUs.</a:t>
            </a:r>
            <a:endParaRPr/>
          </a:p>
          <a:p>
            <a:pPr>
              <a:defRPr/>
            </a:pPr>
            <a:r>
              <a:rPr lang="pt-BR" sz="1200" b="0" i="0">
                <a:solidFill>
                  <a:srgbClr val="000000"/>
                </a:solidFill>
                <a:latin typeface="ff1"/>
              </a:rPr>
              <a:t>DOI: 10.1016/j.cam.2013.12.032.</a:t>
            </a:r>
            <a:endParaRPr/>
          </a:p>
          <a:p>
            <a:pPr>
              <a:defRPr/>
            </a:pPr>
            <a:endParaRPr lang="en-US" sz="1200" b="0" i="0">
              <a:solidFill>
                <a:srgbClr val="000000"/>
              </a:solidFill>
              <a:latin typeface="ff1"/>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396318" y="77159"/>
            <a:ext cx="10515600" cy="1325562"/>
          </a:xfrm>
        </p:spPr>
        <p:txBody>
          <a:bodyPr/>
          <a:lstStyle/>
          <a:p>
            <a:pPr>
              <a:defRPr/>
            </a:pPr>
            <a:r>
              <a:rPr lang="en-US"/>
              <a:t>GPU : A </a:t>
            </a:r>
            <a:r>
              <a:rPr lang="en-US" sz="4400" b="0" i="0" u="none" strike="noStrike" cap="none" spc="0">
                <a:solidFill>
                  <a:schemeClr val="tx1"/>
                </a:solidFill>
                <a:latin typeface="+mj-lt"/>
                <a:ea typeface="+mj-ea"/>
                <a:cs typeface="+mj-cs"/>
              </a:rPr>
              <a:t>SIMD</a:t>
            </a:r>
            <a:r>
              <a:rPr lang="en-US"/>
              <a:t> oriented </a:t>
            </a:r>
            <a:r>
              <a:rPr lang="en-US" sz="4400" b="0" i="0" u="none" strike="noStrike" cap="none" spc="0">
                <a:solidFill>
                  <a:schemeClr val="tx1"/>
                </a:solidFill>
                <a:latin typeface="+mj-lt"/>
                <a:ea typeface="+mj-ea"/>
                <a:cs typeface="+mj-cs"/>
              </a:rPr>
              <a:t>architecture</a:t>
            </a:r>
            <a:endParaRPr/>
          </a:p>
        </p:txBody>
      </p:sp>
      <p:pic>
        <p:nvPicPr>
          <p:cNvPr id="5" name="Image 3"/>
          <p:cNvPicPr>
            <a:picLocks noChangeAspect="1"/>
          </p:cNvPicPr>
          <p:nvPr/>
        </p:nvPicPr>
        <p:blipFill>
          <a:blip r:embed="rId3"/>
          <a:stretch/>
        </p:blipFill>
        <p:spPr bwMode="auto">
          <a:xfrm>
            <a:off x="2571569" y="2749094"/>
            <a:ext cx="7048862" cy="4165814"/>
          </a:xfrm>
          <a:prstGeom prst="rect">
            <a:avLst/>
          </a:prstGeom>
        </p:spPr>
      </p:pic>
      <p:sp>
        <p:nvSpPr>
          <p:cNvPr id="6" name="ZoneTexte 4"/>
          <p:cNvSpPr>
            <a:spLocks/>
          </p:cNvSpPr>
          <p:nvPr/>
        </p:nvSpPr>
        <p:spPr bwMode="auto">
          <a:xfrm>
            <a:off x="2249690" y="1806804"/>
            <a:ext cx="8376108" cy="653055"/>
          </a:xfrm>
          <a:prstGeom prst="rect">
            <a:avLst/>
          </a:prstGeom>
          <a:noFill/>
        </p:spPr>
        <p:txBody>
          <a:bodyPr wrap="square" rtlCol="0">
            <a:noAutofit/>
          </a:bodyPr>
          <a:lstStyle/>
          <a:p>
            <a:pPr>
              <a:defRPr/>
            </a:pPr>
            <a:r>
              <a:rPr lang="en-US" sz="3600" b="1"/>
              <a:t>SIMD</a:t>
            </a:r>
            <a:r>
              <a:rPr lang="en-US" sz="3600"/>
              <a:t> : </a:t>
            </a:r>
            <a:r>
              <a:rPr lang="en-US" sz="3600" b="1"/>
              <a:t>S</a:t>
            </a:r>
            <a:r>
              <a:rPr lang="en-US" sz="3600"/>
              <a:t>ingle </a:t>
            </a:r>
            <a:r>
              <a:rPr lang="en-US" sz="3600" b="1"/>
              <a:t>I</a:t>
            </a:r>
            <a:r>
              <a:rPr lang="en-US" sz="3600"/>
              <a:t>nstruction </a:t>
            </a:r>
            <a:r>
              <a:rPr lang="en-US" sz="3600" b="1"/>
              <a:t>M</a:t>
            </a:r>
            <a:r>
              <a:rPr lang="en-US" sz="3600"/>
              <a:t>ultiple </a:t>
            </a:r>
            <a:r>
              <a:rPr lang="en-US" sz="3600" b="1"/>
              <a:t>D</a:t>
            </a:r>
            <a:r>
              <a:rPr lang="en-US" sz="3600"/>
              <a:t>ata </a:t>
            </a:r>
            <a:endParaRPr sz="3600"/>
          </a:p>
        </p:txBody>
      </p:sp>
      <p:sp>
        <p:nvSpPr>
          <p:cNvPr id="7" name="ZoneTexte 5"/>
          <p:cNvSpPr>
            <a:spLocks/>
          </p:cNvSpPr>
          <p:nvPr/>
        </p:nvSpPr>
        <p:spPr bwMode="auto">
          <a:xfrm>
            <a:off x="290274" y="1402722"/>
            <a:ext cx="9126088" cy="369332"/>
          </a:xfrm>
          <a:prstGeom prst="rect">
            <a:avLst/>
          </a:prstGeom>
          <a:noFill/>
        </p:spPr>
        <p:txBody>
          <a:bodyPr wrap="none" rtlCol="0">
            <a:spAutoFit/>
          </a:bodyPr>
          <a:lstStyle/>
          <a:p>
            <a:pPr>
              <a:defRPr/>
            </a:pPr>
            <a:r>
              <a:rPr lang="en-US"/>
              <a:t>Those architecture differences make the GPU highly optimized for a certain kind of problem:</a:t>
            </a:r>
            <a:endParaRPr/>
          </a:p>
        </p:txBody>
      </p:sp>
      <p:sp>
        <p:nvSpPr>
          <p:cNvPr id="8" name="Rectangle 6"/>
          <p:cNvSpPr/>
          <p:nvPr/>
        </p:nvSpPr>
        <p:spPr bwMode="auto">
          <a:xfrm>
            <a:off x="2692400" y="3568700"/>
            <a:ext cx="2019300" cy="609600"/>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9" name="Rectangle 7"/>
          <p:cNvSpPr/>
          <p:nvPr/>
        </p:nvSpPr>
        <p:spPr bwMode="auto">
          <a:xfrm>
            <a:off x="4883331" y="3568700"/>
            <a:ext cx="2019300" cy="609600"/>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0" name="Rectangle 8"/>
          <p:cNvSpPr/>
          <p:nvPr/>
        </p:nvSpPr>
        <p:spPr bwMode="auto">
          <a:xfrm>
            <a:off x="7072391" y="3568700"/>
            <a:ext cx="2019300" cy="609600"/>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1" name="ZoneTexte 9"/>
          <p:cNvSpPr>
            <a:spLocks/>
          </p:cNvSpPr>
          <p:nvPr/>
        </p:nvSpPr>
        <p:spPr bwMode="auto">
          <a:xfrm>
            <a:off x="452706" y="3553440"/>
            <a:ext cx="2071932" cy="640115"/>
          </a:xfrm>
          <a:prstGeom prst="rect">
            <a:avLst/>
          </a:prstGeom>
          <a:noFill/>
        </p:spPr>
        <p:txBody>
          <a:bodyPr wrap="square" rtlCol="0">
            <a:noAutofit/>
          </a:bodyPr>
          <a:lstStyle/>
          <a:p>
            <a:pPr>
              <a:defRPr/>
            </a:pPr>
            <a:r>
              <a:rPr lang="en-US" b="1">
                <a:solidFill>
                  <a:srgbClr val="FF0000"/>
                </a:solidFill>
              </a:rPr>
              <a:t>One instruction at time t  (here load)</a:t>
            </a:r>
            <a:endParaRPr/>
          </a:p>
        </p:txBody>
      </p:sp>
      <p:sp>
        <p:nvSpPr>
          <p:cNvPr id="12" name="ZoneTexte 10"/>
          <p:cNvSpPr>
            <a:spLocks/>
          </p:cNvSpPr>
          <p:nvPr/>
        </p:nvSpPr>
        <p:spPr bwMode="auto">
          <a:xfrm>
            <a:off x="3067050" y="2383656"/>
            <a:ext cx="1270000" cy="646331"/>
          </a:xfrm>
          <a:prstGeom prst="rect">
            <a:avLst/>
          </a:prstGeom>
          <a:noFill/>
        </p:spPr>
        <p:txBody>
          <a:bodyPr wrap="square" rtlCol="0">
            <a:spAutoFit/>
          </a:bodyPr>
          <a:lstStyle/>
          <a:p>
            <a:pPr>
              <a:defRPr/>
            </a:pPr>
            <a:r>
              <a:rPr lang="en-US">
                <a:solidFill>
                  <a:srgbClr val="6600CC"/>
                </a:solidFill>
              </a:rPr>
              <a:t>Element 1 of Array X</a:t>
            </a:r>
            <a:endParaRPr/>
          </a:p>
        </p:txBody>
      </p:sp>
      <p:sp>
        <p:nvSpPr>
          <p:cNvPr id="13" name="ZoneTexte 11"/>
          <p:cNvSpPr>
            <a:spLocks/>
          </p:cNvSpPr>
          <p:nvPr/>
        </p:nvSpPr>
        <p:spPr bwMode="auto">
          <a:xfrm>
            <a:off x="5257980" y="2383656"/>
            <a:ext cx="1270000" cy="646331"/>
          </a:xfrm>
          <a:prstGeom prst="rect">
            <a:avLst/>
          </a:prstGeom>
          <a:noFill/>
        </p:spPr>
        <p:txBody>
          <a:bodyPr wrap="square" rtlCol="0">
            <a:spAutoFit/>
          </a:bodyPr>
          <a:lstStyle/>
          <a:p>
            <a:pPr>
              <a:defRPr/>
            </a:pPr>
            <a:r>
              <a:rPr lang="en-US">
                <a:solidFill>
                  <a:srgbClr val="00CC99"/>
                </a:solidFill>
              </a:rPr>
              <a:t>Element 2 of Array X</a:t>
            </a:r>
            <a:endParaRPr/>
          </a:p>
        </p:txBody>
      </p:sp>
      <p:sp>
        <p:nvSpPr>
          <p:cNvPr id="14" name="ZoneTexte 12"/>
          <p:cNvSpPr>
            <a:spLocks/>
          </p:cNvSpPr>
          <p:nvPr/>
        </p:nvSpPr>
        <p:spPr bwMode="auto">
          <a:xfrm>
            <a:off x="7439205" y="2425928"/>
            <a:ext cx="1270000" cy="646331"/>
          </a:xfrm>
          <a:prstGeom prst="rect">
            <a:avLst/>
          </a:prstGeom>
          <a:noFill/>
        </p:spPr>
        <p:txBody>
          <a:bodyPr wrap="square" rtlCol="0">
            <a:spAutoFit/>
          </a:bodyPr>
          <a:lstStyle/>
          <a:p>
            <a:pPr>
              <a:defRPr/>
            </a:pPr>
            <a:r>
              <a:rPr lang="en-US">
                <a:solidFill>
                  <a:srgbClr val="FF7C80"/>
                </a:solidFill>
              </a:rPr>
              <a:t>Element n of Array X</a:t>
            </a:r>
            <a:endParaRPr/>
          </a:p>
        </p:txBody>
      </p:sp>
      <p:sp>
        <p:nvSpPr>
          <p:cNvPr id="15" name="ZoneTexte 13"/>
          <p:cNvSpPr>
            <a:spLocks/>
          </p:cNvSpPr>
          <p:nvPr/>
        </p:nvSpPr>
        <p:spPr bwMode="auto">
          <a:xfrm rot="5400000">
            <a:off x="7585196" y="4495879"/>
            <a:ext cx="4409990" cy="369332"/>
          </a:xfrm>
          <a:prstGeom prst="rect">
            <a:avLst/>
          </a:prstGeom>
          <a:noFill/>
        </p:spPr>
        <p:txBody>
          <a:bodyPr wrap="none" rtlCol="0">
            <a:spAutoFit/>
          </a:bodyPr>
          <a:lstStyle/>
          <a:p>
            <a:pPr>
              <a:defRPr/>
            </a:pPr>
            <a:r>
              <a:rPr lang="en-US"/>
              <a:t>Different instructions sequentially happening</a:t>
            </a:r>
            <a:endParaRPr/>
          </a:p>
        </p:txBody>
      </p:sp>
      <p:sp>
        <p:nvSpPr>
          <p:cNvPr id="16" name="ZoneTexte 14"/>
          <p:cNvSpPr>
            <a:spLocks/>
          </p:cNvSpPr>
          <p:nvPr/>
        </p:nvSpPr>
        <p:spPr bwMode="auto">
          <a:xfrm>
            <a:off x="2944191" y="6483217"/>
            <a:ext cx="5897577"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pPr>
              <a:defRPr/>
            </a:pPr>
            <a:r>
              <a:rPr lang="en-US"/>
              <a:t>Same instruction happening in parallel for different elements</a:t>
            </a:r>
            <a:endParaRPr/>
          </a:p>
        </p:txBody>
      </p:sp>
      <p:sp>
        <p:nvSpPr>
          <p:cNvPr id="17" name="Rectangle 1"/>
          <p:cNvSpPr>
            <a:spLocks noChangeArrowheads="1"/>
          </p:cNvSpPr>
          <p:nvPr/>
        </p:nvSpPr>
        <p:spPr bwMode="auto">
          <a:xfrm>
            <a:off x="0" y="6160051"/>
            <a:ext cx="2240994" cy="646331"/>
          </a:xfrm>
          <a:prstGeom prst="rect">
            <a:avLst/>
          </a:prstGeom>
          <a:solidFill>
            <a:srgbClr val="FFFFFF"/>
          </a:solidFill>
          <a:ln>
            <a:noFill/>
          </a:ln>
        </p:spPr>
        <p:txBody>
          <a:bodyPr vert="horz" wrap="square" lIns="91440" tIns="45720" rIns="91440" bIns="45720" numCol="1" anchor="ctr" anchorCtr="0" compatLnSpc="1">
            <a:prstTxWarp prst="textNoShape">
              <a:avLst/>
            </a:prstTxWarp>
            <a:spAutoFit/>
          </a:bodyPr>
          <a:lstStyle/>
          <a:p>
            <a:pPr marL="0" marR="0" lvl="0" indent="0" algn="l" defTabSz="914400">
              <a:lnSpc>
                <a:spcPct val="100000"/>
              </a:lnSpc>
              <a:spcBef>
                <a:spcPts val="0"/>
              </a:spcBef>
              <a:spcAft>
                <a:spcPts val="0"/>
              </a:spcAft>
              <a:buClrTx/>
              <a:buSzTx/>
              <a:buFontTx/>
              <a:buNone/>
              <a:defRPr/>
            </a:pPr>
            <a:r>
              <a:rPr lang="en-US" sz="1200" b="0" i="0" u="sng" strike="noStrike" cap="none">
                <a:ln>
                  <a:noFill/>
                </a:ln>
                <a:solidFill>
                  <a:srgbClr val="1155CC"/>
                </a:solidFill>
                <a:latin typeface="Arial"/>
                <a:cs typeface="Arial"/>
                <a:hlinkClick r:id="rId4"/>
              </a:rPr>
              <a:t>https://www.cvg.ethz.ch/teaching/2011spring/gpgpu/Lec1-intro.pdf</a:t>
            </a:r>
            <a:r>
              <a:rPr lang="en-US" sz="1200" b="0" i="0" u="none" strike="noStrike" cap="none">
                <a:ln>
                  <a:noFill/>
                </a:ln>
                <a:solidFill>
                  <a:schemeClr val="tx1"/>
                </a:solidFill>
              </a:rPr>
              <a:t> </a:t>
            </a:r>
            <a:endParaRPr lang="en-US" sz="1200" b="0" i="0" u="none" strike="noStrike" cap="none">
              <a:ln>
                <a:noFill/>
              </a:ln>
              <a:solidFill>
                <a:schemeClr val="tx1"/>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396317" y="77158"/>
            <a:ext cx="10515600" cy="1325561"/>
          </a:xfrm>
        </p:spPr>
        <p:txBody>
          <a:bodyPr/>
          <a:lstStyle/>
          <a:p>
            <a:pPr>
              <a:defRPr/>
            </a:pPr>
            <a:r>
              <a:rPr lang="en-US"/>
              <a:t>GPU : Not MISD or MIMD oriented </a:t>
            </a:r>
            <a:r>
              <a:rPr lang="en-US" sz="4400" b="0" i="0" u="none" strike="noStrike" cap="none" spc="0">
                <a:solidFill>
                  <a:schemeClr val="tx1"/>
                </a:solidFill>
                <a:latin typeface="+mj-lt"/>
                <a:ea typeface="+mj-ea"/>
                <a:cs typeface="+mj-cs"/>
              </a:rPr>
              <a:t>architecture</a:t>
            </a:r>
            <a:endParaRPr/>
          </a:p>
        </p:txBody>
      </p:sp>
      <p:sp>
        <p:nvSpPr>
          <p:cNvPr id="5" name="Rectangle 1"/>
          <p:cNvSpPr>
            <a:spLocks noChangeArrowheads="1"/>
          </p:cNvSpPr>
          <p:nvPr/>
        </p:nvSpPr>
        <p:spPr bwMode="auto">
          <a:xfrm>
            <a:off x="0" y="6160050"/>
            <a:ext cx="2240993" cy="646330"/>
          </a:xfrm>
          <a:prstGeom prst="rect">
            <a:avLst/>
          </a:prstGeom>
          <a:solidFill>
            <a:srgbClr val="FFFFFF"/>
          </a:solidFill>
          <a:ln>
            <a:noFill/>
          </a:ln>
        </p:spPr>
        <p:txBody>
          <a:bodyPr vert="horz" wrap="square" lIns="91440" tIns="45720" rIns="91440" bIns="45720" numCol="1" anchor="ctr" anchorCtr="0" compatLnSpc="1">
            <a:prstTxWarp prst="textNoShape">
              <a:avLst/>
            </a:prstTxWarp>
            <a:spAutoFit/>
          </a:bodyPr>
          <a:lstStyle/>
          <a:p>
            <a:pPr marL="0" marR="0" lvl="0" indent="0" algn="l" defTabSz="914400">
              <a:lnSpc>
                <a:spcPct val="100000"/>
              </a:lnSpc>
              <a:spcBef>
                <a:spcPts val="0"/>
              </a:spcBef>
              <a:spcAft>
                <a:spcPts val="0"/>
              </a:spcAft>
              <a:buClrTx/>
              <a:buSzTx/>
              <a:buFontTx/>
              <a:buNone/>
              <a:defRPr/>
            </a:pPr>
            <a:r>
              <a:rPr lang="en-US" sz="1200" b="0" i="0" u="sng" strike="noStrike" cap="none">
                <a:ln>
                  <a:noFill/>
                </a:ln>
                <a:solidFill>
                  <a:srgbClr val="1155CC"/>
                </a:solidFill>
                <a:latin typeface="Arial"/>
                <a:cs typeface="Arial"/>
                <a:hlinkClick r:id="rId2"/>
              </a:rPr>
              <a:t>https://www.cvg.ethz.ch/teaching/2011spring/gpgpu/Lec1-intro.pdf</a:t>
            </a:r>
            <a:r>
              <a:rPr lang="en-US" sz="1200" b="0" i="0" u="none" strike="noStrike" cap="none">
                <a:ln>
                  <a:noFill/>
                </a:ln>
                <a:solidFill>
                  <a:schemeClr val="tx1"/>
                </a:solidFill>
              </a:rPr>
              <a:t> </a:t>
            </a:r>
            <a:endParaRPr lang="en-US" sz="1200" b="0" i="0" u="none" strike="noStrike" cap="none">
              <a:ln>
                <a:noFill/>
              </a:ln>
              <a:solidFill>
                <a:schemeClr val="tx1"/>
              </a:solidFill>
              <a:latin typeface="Arial"/>
            </a:endParaRPr>
          </a:p>
        </p:txBody>
      </p:sp>
      <p:pic>
        <p:nvPicPr>
          <p:cNvPr id="6" name="Imagen 5"/>
          <p:cNvPicPr>
            <a:picLocks noChangeAspect="1"/>
          </p:cNvPicPr>
          <p:nvPr/>
        </p:nvPicPr>
        <p:blipFill>
          <a:blip r:embed="rId3"/>
          <a:stretch/>
        </p:blipFill>
        <p:spPr bwMode="auto">
          <a:xfrm>
            <a:off x="537307" y="2613269"/>
            <a:ext cx="5403467" cy="3101730"/>
          </a:xfrm>
          <a:prstGeom prst="rect">
            <a:avLst/>
          </a:prstGeom>
        </p:spPr>
      </p:pic>
      <p:pic>
        <p:nvPicPr>
          <p:cNvPr id="7" name="Imagen 6"/>
          <p:cNvPicPr>
            <a:picLocks noChangeAspect="1"/>
          </p:cNvPicPr>
          <p:nvPr/>
        </p:nvPicPr>
        <p:blipFill>
          <a:blip r:embed="rId4"/>
          <a:stretch/>
        </p:blipFill>
        <p:spPr bwMode="auto">
          <a:xfrm>
            <a:off x="6185005" y="2787320"/>
            <a:ext cx="5277884" cy="3427904"/>
          </a:xfrm>
          <a:prstGeom prst="rect">
            <a:avLst/>
          </a:prstGeom>
        </p:spPr>
      </p:pic>
      <p:cxnSp>
        <p:nvCxnSpPr>
          <p:cNvPr id="8" name="Conector recto 7"/>
          <p:cNvCxnSpPr>
            <a:cxnSpLocks/>
          </p:cNvCxnSpPr>
          <p:nvPr/>
        </p:nvCxnSpPr>
        <p:spPr bwMode="auto">
          <a:xfrm rot="10799989" flipV="1">
            <a:off x="11711899" y="3039207"/>
            <a:ext cx="0" cy="2724638"/>
          </a:xfrm>
          <a:prstGeom prst="line">
            <a:avLst/>
          </a:prstGeom>
          <a:ln w="57150" cap="flat" cmpd="sng" algn="ctr">
            <a:solidFill>
              <a:schemeClr val="tx1"/>
            </a:solidFill>
            <a:prstDash val="solid"/>
            <a:miter/>
            <a:tailEnd type="arrow" len="med"/>
          </a:ln>
        </p:spPr>
        <p:style>
          <a:lnRef idx="1">
            <a:schemeClr val="accent1">
              <a:shade val="50000"/>
            </a:schemeClr>
          </a:lnRef>
          <a:fillRef idx="0">
            <a:schemeClr val="accent1"/>
          </a:fillRef>
          <a:effectRef idx="0">
            <a:schemeClr val="accent1"/>
          </a:effectRef>
          <a:fontRef idx="minor">
            <a:schemeClr val="tx1"/>
          </a:fontRef>
        </p:style>
      </p:cxnSp>
      <p:sp>
        <p:nvSpPr>
          <p:cNvPr id="9" name="ZoneTexte 4"/>
          <p:cNvSpPr>
            <a:spLocks/>
          </p:cNvSpPr>
          <p:nvPr/>
        </p:nvSpPr>
        <p:spPr bwMode="auto">
          <a:xfrm>
            <a:off x="720923" y="1635842"/>
            <a:ext cx="4933194" cy="977426"/>
          </a:xfrm>
          <a:prstGeom prst="rect">
            <a:avLst/>
          </a:prstGeom>
          <a:noFill/>
        </p:spPr>
        <p:txBody>
          <a:bodyPr wrap="square" rtlCol="0">
            <a:noAutofit/>
          </a:bodyPr>
          <a:lstStyle/>
          <a:p>
            <a:pPr>
              <a:defRPr/>
            </a:pPr>
            <a:r>
              <a:rPr lang="en-US" sz="3600" b="1"/>
              <a:t>MISD</a:t>
            </a:r>
            <a:r>
              <a:rPr lang="en-US" sz="3600"/>
              <a:t> : </a:t>
            </a:r>
            <a:r>
              <a:rPr lang="en-US" sz="3600" b="1"/>
              <a:t>M</a:t>
            </a:r>
            <a:r>
              <a:rPr lang="en-US" sz="3600"/>
              <a:t>ultiple </a:t>
            </a:r>
            <a:r>
              <a:rPr lang="en-US" sz="3600" b="1"/>
              <a:t>I</a:t>
            </a:r>
            <a:r>
              <a:rPr lang="en-US" sz="3600"/>
              <a:t>nstructions </a:t>
            </a:r>
            <a:r>
              <a:rPr lang="en-US" sz="3600" b="1"/>
              <a:t>S</a:t>
            </a:r>
            <a:r>
              <a:rPr lang="en-US" sz="3600"/>
              <a:t>ingle </a:t>
            </a:r>
            <a:r>
              <a:rPr lang="en-US" sz="3600" b="1"/>
              <a:t>D</a:t>
            </a:r>
            <a:r>
              <a:rPr lang="en-US" sz="3600"/>
              <a:t>ata </a:t>
            </a:r>
            <a:endParaRPr sz="3600"/>
          </a:p>
        </p:txBody>
      </p:sp>
      <p:sp>
        <p:nvSpPr>
          <p:cNvPr id="10" name="Rectangle 6"/>
          <p:cNvSpPr/>
          <p:nvPr/>
        </p:nvSpPr>
        <p:spPr bwMode="auto">
          <a:xfrm>
            <a:off x="2493653" y="3858846"/>
            <a:ext cx="1485353" cy="441569"/>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1" name="Rectangle 6"/>
          <p:cNvSpPr/>
          <p:nvPr/>
        </p:nvSpPr>
        <p:spPr bwMode="auto">
          <a:xfrm>
            <a:off x="4447499" y="3858845"/>
            <a:ext cx="1485352" cy="441568"/>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2" name="Rectangle 6"/>
          <p:cNvSpPr/>
          <p:nvPr/>
        </p:nvSpPr>
        <p:spPr bwMode="auto">
          <a:xfrm>
            <a:off x="661921" y="3858845"/>
            <a:ext cx="1485352" cy="441568"/>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3" name="ZoneTexte 4"/>
          <p:cNvSpPr>
            <a:spLocks/>
          </p:cNvSpPr>
          <p:nvPr/>
        </p:nvSpPr>
        <p:spPr bwMode="auto">
          <a:xfrm>
            <a:off x="6185005" y="1684688"/>
            <a:ext cx="5582730" cy="977425"/>
          </a:xfrm>
          <a:prstGeom prst="rect">
            <a:avLst/>
          </a:prstGeom>
          <a:noFill/>
        </p:spPr>
        <p:txBody>
          <a:bodyPr wrap="square" rtlCol="0">
            <a:noAutofit/>
          </a:bodyPr>
          <a:lstStyle/>
          <a:p>
            <a:pPr>
              <a:defRPr/>
            </a:pPr>
            <a:r>
              <a:rPr lang="en-US" sz="3600" b="1"/>
              <a:t>MISD</a:t>
            </a:r>
            <a:r>
              <a:rPr lang="en-US" sz="3600"/>
              <a:t> : </a:t>
            </a:r>
            <a:r>
              <a:rPr lang="en-US" sz="3600" b="1"/>
              <a:t>M</a:t>
            </a:r>
            <a:r>
              <a:rPr lang="en-US" sz="3600"/>
              <a:t>ultiple </a:t>
            </a:r>
            <a:r>
              <a:rPr lang="en-US" sz="3600" b="1"/>
              <a:t>I</a:t>
            </a:r>
            <a:r>
              <a:rPr lang="en-US" sz="3600"/>
              <a:t>nstructions </a:t>
            </a:r>
            <a:r>
              <a:rPr lang="en-US" sz="3600" b="1"/>
              <a:t>M</a:t>
            </a:r>
            <a:r>
              <a:rPr lang="en-US" sz="3600"/>
              <a:t>ultiple </a:t>
            </a:r>
            <a:r>
              <a:rPr lang="en-US" sz="3600" b="1"/>
              <a:t>D</a:t>
            </a:r>
            <a:r>
              <a:rPr lang="en-US" sz="3600"/>
              <a:t>ata </a:t>
            </a:r>
            <a:endParaRPr sz="3600"/>
          </a:p>
        </p:txBody>
      </p:sp>
      <p:sp>
        <p:nvSpPr>
          <p:cNvPr id="14" name="Rectangle 6"/>
          <p:cNvSpPr/>
          <p:nvPr/>
        </p:nvSpPr>
        <p:spPr bwMode="auto">
          <a:xfrm>
            <a:off x="6401345" y="2955192"/>
            <a:ext cx="1392116" cy="2833076"/>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5" name="Rectangle 6"/>
          <p:cNvSpPr/>
          <p:nvPr/>
        </p:nvSpPr>
        <p:spPr bwMode="auto">
          <a:xfrm>
            <a:off x="8110960" y="2955191"/>
            <a:ext cx="1392115" cy="2833075"/>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6" name="Rectangle 6"/>
          <p:cNvSpPr/>
          <p:nvPr/>
        </p:nvSpPr>
        <p:spPr bwMode="auto">
          <a:xfrm>
            <a:off x="9942690" y="2955191"/>
            <a:ext cx="1392115" cy="2833075"/>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211665" y="156156"/>
            <a:ext cx="10515600" cy="1325562"/>
          </a:xfrm>
        </p:spPr>
        <p:txBody>
          <a:bodyPr/>
          <a:lstStyle/>
          <a:p>
            <a:pPr>
              <a:defRPr/>
            </a:pPr>
            <a:r>
              <a:rPr lang="en-US"/>
              <a:t>Mapping the hardware architecture to the programming architecture</a:t>
            </a:r>
            <a:endParaRPr/>
          </a:p>
        </p:txBody>
      </p:sp>
      <p:pic>
        <p:nvPicPr>
          <p:cNvPr id="5" name="Image 4" descr="Une image contenant capture d’écran&#10;&#10;Description générée automatiquement"/>
          <p:cNvPicPr>
            <a:picLocks noChangeAspect="1"/>
          </p:cNvPicPr>
          <p:nvPr/>
        </p:nvPicPr>
        <p:blipFill>
          <a:blip r:embed="rId3"/>
          <a:stretch/>
        </p:blipFill>
        <p:spPr bwMode="auto">
          <a:xfrm>
            <a:off x="1866772" y="3641775"/>
            <a:ext cx="4070534" cy="3173315"/>
          </a:xfrm>
          <a:prstGeom prst="rect">
            <a:avLst/>
          </a:prstGeom>
        </p:spPr>
      </p:pic>
      <p:sp>
        <p:nvSpPr>
          <p:cNvPr id="6" name="ZoneTexte 7"/>
          <p:cNvSpPr>
            <a:spLocks/>
          </p:cNvSpPr>
          <p:nvPr/>
        </p:nvSpPr>
        <p:spPr bwMode="auto">
          <a:xfrm>
            <a:off x="338949" y="1407566"/>
            <a:ext cx="11729432" cy="2255555"/>
          </a:xfrm>
          <a:prstGeom prst="rect">
            <a:avLst/>
          </a:prstGeom>
          <a:noFill/>
        </p:spPr>
        <p:txBody>
          <a:bodyPr wrap="square" rtlCol="0">
            <a:spAutoFit/>
          </a:bodyPr>
          <a:lstStyle/>
          <a:p>
            <a:pPr>
              <a:defRPr/>
            </a:pPr>
            <a:r>
              <a:rPr lang="en-US"/>
              <a:t>As a GPU programmer you will :</a:t>
            </a:r>
          </a:p>
          <a:p>
            <a:pPr>
              <a:defRPr/>
            </a:pPr>
            <a:r>
              <a:rPr lang="en-US"/>
              <a:t> * define an arithmetic instruction applied on an element of an array : </a:t>
            </a:r>
            <a:r>
              <a:rPr lang="en-US" b="1"/>
              <a:t>thread</a:t>
            </a:r>
            <a:r>
              <a:rPr lang="en-US"/>
              <a:t>.</a:t>
            </a:r>
            <a:endParaRPr/>
          </a:p>
          <a:p>
            <a:pPr>
              <a:defRPr/>
            </a:pPr>
            <a:r>
              <a:rPr lang="en-US"/>
              <a:t> * run many threads in parallel  within a shared memory environment  : </a:t>
            </a:r>
            <a:r>
              <a:rPr lang="en-US" b="1"/>
              <a:t>block</a:t>
            </a:r>
            <a:r>
              <a:rPr lang="en-US"/>
              <a:t>s.</a:t>
            </a:r>
          </a:p>
          <a:p>
            <a:pPr>
              <a:defRPr/>
            </a:pPr>
            <a:r>
              <a:rPr lang="en-US"/>
              <a:t>	</a:t>
            </a:r>
            <a:r>
              <a:rPr lang="en-US" sz="1600"/>
              <a:t>( block = doing the same operation in parallel on a subset of elements of your array ).</a:t>
            </a:r>
            <a:endParaRPr/>
          </a:p>
          <a:p>
            <a:pPr>
              <a:defRPr/>
            </a:pPr>
            <a:endParaRPr lang="en-US"/>
          </a:p>
          <a:p>
            <a:pPr>
              <a:defRPr/>
            </a:pPr>
            <a:endParaRPr lang="en-US"/>
          </a:p>
          <a:p>
            <a:pPr>
              <a:defRPr/>
            </a:pPr>
            <a:r>
              <a:rPr lang="en-US"/>
              <a:t> * manage many blocks in parallel (many blocks on the same SM, or many SM), </a:t>
            </a:r>
          </a:p>
          <a:p>
            <a:pPr>
              <a:defRPr/>
            </a:pPr>
            <a:r>
              <a:rPr lang="en-US"/>
              <a:t>	                         or sequentially if your array exceed your GPU capacity.</a:t>
            </a:r>
            <a:endParaRPr/>
          </a:p>
        </p:txBody>
      </p:sp>
      <p:sp>
        <p:nvSpPr>
          <p:cNvPr id="7" name="ZoneTexte 8"/>
          <p:cNvSpPr>
            <a:spLocks/>
          </p:cNvSpPr>
          <p:nvPr/>
        </p:nvSpPr>
        <p:spPr bwMode="auto">
          <a:xfrm rot="16199998">
            <a:off x="2000282" y="5630333"/>
            <a:ext cx="649537" cy="369332"/>
          </a:xfrm>
          <a:prstGeom prst="rect">
            <a:avLst/>
          </a:prstGeom>
          <a:noFill/>
        </p:spPr>
        <p:txBody>
          <a:bodyPr wrap="none" rtlCol="0">
            <a:spAutoFit/>
          </a:bodyPr>
          <a:lstStyle/>
          <a:p>
            <a:pPr>
              <a:defRPr/>
            </a:pPr>
            <a:r>
              <a:rPr lang="en-US"/>
              <a:t>Time</a:t>
            </a:r>
            <a:endParaRPr/>
          </a:p>
        </p:txBody>
      </p:sp>
      <p:sp>
        <p:nvSpPr>
          <p:cNvPr id="8" name="Rectangle 9"/>
          <p:cNvSpPr/>
          <p:nvPr/>
        </p:nvSpPr>
        <p:spPr bwMode="auto">
          <a:xfrm>
            <a:off x="6203666" y="6492874"/>
            <a:ext cx="6096000" cy="461665"/>
          </a:xfrm>
          <a:prstGeom prst="rect">
            <a:avLst/>
          </a:prstGeom>
        </p:spPr>
        <p:txBody>
          <a:bodyPr>
            <a:spAutoFit/>
          </a:bodyPr>
          <a:lstStyle/>
          <a:p>
            <a:pPr>
              <a:defRPr/>
            </a:pPr>
            <a:r>
              <a:rPr lang="en-US" sz="1200" u="sng">
                <a:hlinkClick r:id="rId4"/>
              </a:rPr>
              <a:t>http://developer.download.nvidia.com/compute/cuda/3_1/toolkit/docs/NVIDIA_CUDA_C_ProgrammingGuide_3.1.pdf</a:t>
            </a:r>
            <a:endParaRPr lang="en-US" sz="1200"/>
          </a:p>
        </p:txBody>
      </p:sp>
      <p:sp>
        <p:nvSpPr>
          <p:cNvPr id="9" name="ZoneTexte 7"/>
          <p:cNvSpPr>
            <a:spLocks/>
          </p:cNvSpPr>
          <p:nvPr/>
        </p:nvSpPr>
        <p:spPr bwMode="auto">
          <a:xfrm>
            <a:off x="12403949" y="156156"/>
            <a:ext cx="11726155" cy="1463076"/>
          </a:xfrm>
          <a:prstGeom prst="rect">
            <a:avLst/>
          </a:prstGeom>
          <a:noFill/>
        </p:spPr>
        <p:txBody>
          <a:bodyPr wrap="square" rtlCol="0">
            <a:spAutoFit/>
          </a:bodyPr>
          <a:lstStyle/>
          <a:p>
            <a:pPr>
              <a:defRPr/>
            </a:pPr>
            <a:r>
              <a:rPr lang="en-US"/>
              <a:t>As a GPU programmer you will define an arithmetic instruction applied on an element of an array: </a:t>
            </a:r>
            <a:r>
              <a:rPr lang="en-US" b="1"/>
              <a:t>thread</a:t>
            </a:r>
            <a:r>
              <a:rPr lang="en-US"/>
              <a:t>.</a:t>
            </a:r>
            <a:endParaRPr/>
          </a:p>
          <a:p>
            <a:pPr>
              <a:defRPr/>
            </a:pPr>
            <a:r>
              <a:rPr lang="en-US"/>
              <a:t>You will run many threads in parallel  within a shared memory environment called </a:t>
            </a:r>
            <a:r>
              <a:rPr lang="en-US" b="1"/>
              <a:t>block</a:t>
            </a:r>
            <a:r>
              <a:rPr lang="en-US"/>
              <a:t>s ( A block is then you doing the same operation parallelly on a subset of elements of your array ).</a:t>
            </a:r>
            <a:endParaRPr/>
          </a:p>
          <a:p>
            <a:pPr>
              <a:defRPr/>
            </a:pPr>
            <a:r>
              <a:rPr lang="en-US"/>
              <a:t>You will manage many blocks parallelly (if many blocks can sit on the same SM, or if you have many SM), or sequentially if your array exceed your GPU capacity.</a:t>
            </a:r>
            <a:endParaRPr/>
          </a:p>
        </p:txBody>
      </p:sp>
      <p:pic>
        <p:nvPicPr>
          <p:cNvPr id="10" name="Imagen 9"/>
          <p:cNvPicPr>
            <a:picLocks noChangeAspect="1"/>
          </p:cNvPicPr>
          <p:nvPr/>
        </p:nvPicPr>
        <p:blipFill>
          <a:blip r:embed="rId5"/>
          <a:stretch/>
        </p:blipFill>
        <p:spPr bwMode="auto">
          <a:xfrm>
            <a:off x="8024812" y="857250"/>
            <a:ext cx="3857625"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en-US"/>
              <a:t>On a real Real architecture</a:t>
            </a:r>
            <a:endParaRPr/>
          </a:p>
        </p:txBody>
      </p:sp>
      <p:sp>
        <p:nvSpPr>
          <p:cNvPr id="5" name="ZoneTexte 9"/>
          <p:cNvSpPr>
            <a:spLocks/>
          </p:cNvSpPr>
          <p:nvPr/>
        </p:nvSpPr>
        <p:spPr bwMode="auto">
          <a:xfrm>
            <a:off x="1384185" y="1762233"/>
            <a:ext cx="2491193" cy="369331"/>
          </a:xfrm>
          <a:prstGeom prst="rect">
            <a:avLst/>
          </a:prstGeom>
          <a:noFill/>
        </p:spPr>
        <p:txBody>
          <a:bodyPr wrap="none" rtlCol="0">
            <a:spAutoFit/>
          </a:bodyPr>
          <a:lstStyle/>
          <a:p>
            <a:pPr>
              <a:defRPr/>
            </a:pPr>
            <a:r>
              <a:rPr lang="en-US"/>
              <a:t>Nvidia Fermi GPU (2011)</a:t>
            </a:r>
            <a:endParaRPr/>
          </a:p>
        </p:txBody>
      </p:sp>
      <p:pic>
        <p:nvPicPr>
          <p:cNvPr id="6" name="Image 10"/>
          <p:cNvPicPr>
            <a:picLocks noChangeAspect="1"/>
          </p:cNvPicPr>
          <p:nvPr/>
        </p:nvPicPr>
        <p:blipFill>
          <a:blip r:embed="rId3"/>
          <a:stretch/>
        </p:blipFill>
        <p:spPr bwMode="auto">
          <a:xfrm>
            <a:off x="416920" y="2357870"/>
            <a:ext cx="6186102" cy="4206549"/>
          </a:xfrm>
          <a:prstGeom prst="rect">
            <a:avLst/>
          </a:prstGeom>
        </p:spPr>
      </p:pic>
      <p:sp>
        <p:nvSpPr>
          <p:cNvPr id="7" name="ZoneTexte 11"/>
          <p:cNvSpPr>
            <a:spLocks/>
          </p:cNvSpPr>
          <p:nvPr/>
        </p:nvSpPr>
        <p:spPr bwMode="auto">
          <a:xfrm>
            <a:off x="4671185" y="1946898"/>
            <a:ext cx="3073470" cy="914434"/>
          </a:xfrm>
          <a:prstGeom prst="rect">
            <a:avLst/>
          </a:prstGeom>
          <a:noFill/>
        </p:spPr>
        <p:txBody>
          <a:bodyPr wrap="square" rtlCol="0">
            <a:spAutoFit/>
          </a:bodyPr>
          <a:lstStyle/>
          <a:p>
            <a:pPr>
              <a:defRPr/>
            </a:pPr>
            <a:r>
              <a:rPr lang="en-US"/>
              <a:t>Here it is not a core, it is a "CUDA core" so not directly comparable to the CPU core</a:t>
            </a:r>
            <a:endParaRPr/>
          </a:p>
        </p:txBody>
      </p:sp>
      <p:sp>
        <p:nvSpPr>
          <p:cNvPr id="8" name="Rectangle 12"/>
          <p:cNvSpPr/>
          <p:nvPr/>
        </p:nvSpPr>
        <p:spPr bwMode="auto">
          <a:xfrm>
            <a:off x="416920" y="6405134"/>
            <a:ext cx="6095999" cy="461664"/>
          </a:xfrm>
          <a:prstGeom prst="rect">
            <a:avLst/>
          </a:prstGeom>
        </p:spPr>
        <p:txBody>
          <a:bodyPr>
            <a:spAutoFit/>
          </a:bodyPr>
          <a:lstStyle/>
          <a:p>
            <a:pPr>
              <a:defRPr/>
            </a:pPr>
            <a:r>
              <a:rPr lang="en-US" sz="1200" b="0" i="0">
                <a:solidFill>
                  <a:srgbClr val="111111"/>
                </a:solidFill>
                <a:latin typeface="Roboto"/>
              </a:rPr>
              <a:t>3D Data Denoising via Nonlocal Means Filter by Using Parallel GPU Strategies</a:t>
            </a:r>
            <a:endParaRPr/>
          </a:p>
          <a:p>
            <a:pPr>
              <a:defRPr/>
            </a:pPr>
            <a:r>
              <a:rPr lang="en-US" sz="1200"/>
              <a:t>DOI: 10.1155/2014/523862</a:t>
            </a:r>
            <a:endParaRPr lang="en-US" sz="1200" b="0" i="0">
              <a:solidFill>
                <a:srgbClr val="111111"/>
              </a:solidFill>
              <a:latin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en-US"/>
              <a:t>On a real Real architecture</a:t>
            </a:r>
            <a:r>
              <a:t> : one possible topology</a:t>
            </a:r>
          </a:p>
        </p:txBody>
      </p:sp>
      <p:sp>
        <p:nvSpPr>
          <p:cNvPr id="5" name="ZoneTexte 9"/>
          <p:cNvSpPr>
            <a:spLocks/>
          </p:cNvSpPr>
          <p:nvPr/>
        </p:nvSpPr>
        <p:spPr bwMode="auto">
          <a:xfrm>
            <a:off x="1384185" y="1762233"/>
            <a:ext cx="2491193" cy="369331"/>
          </a:xfrm>
          <a:prstGeom prst="rect">
            <a:avLst/>
          </a:prstGeom>
          <a:noFill/>
        </p:spPr>
        <p:txBody>
          <a:bodyPr wrap="none" rtlCol="0">
            <a:spAutoFit/>
          </a:bodyPr>
          <a:lstStyle/>
          <a:p>
            <a:pPr>
              <a:defRPr/>
            </a:pPr>
            <a:r>
              <a:rPr lang="en-US"/>
              <a:t>Nvidia Fermi GPU (2011)</a:t>
            </a:r>
            <a:endParaRPr/>
          </a:p>
        </p:txBody>
      </p:sp>
      <p:pic>
        <p:nvPicPr>
          <p:cNvPr id="6" name="Image 10"/>
          <p:cNvPicPr>
            <a:picLocks noChangeAspect="1"/>
          </p:cNvPicPr>
          <p:nvPr/>
        </p:nvPicPr>
        <p:blipFill>
          <a:blip r:embed="rId2"/>
          <a:stretch/>
        </p:blipFill>
        <p:spPr bwMode="auto">
          <a:xfrm>
            <a:off x="416920" y="2357870"/>
            <a:ext cx="6186102" cy="4206549"/>
          </a:xfrm>
          <a:prstGeom prst="rect">
            <a:avLst/>
          </a:prstGeom>
        </p:spPr>
      </p:pic>
      <p:sp>
        <p:nvSpPr>
          <p:cNvPr id="7" name="ZoneTexte 11"/>
          <p:cNvSpPr>
            <a:spLocks/>
          </p:cNvSpPr>
          <p:nvPr/>
        </p:nvSpPr>
        <p:spPr bwMode="auto">
          <a:xfrm>
            <a:off x="4671185" y="1946898"/>
            <a:ext cx="3073470" cy="914434"/>
          </a:xfrm>
          <a:prstGeom prst="rect">
            <a:avLst/>
          </a:prstGeom>
          <a:noFill/>
        </p:spPr>
        <p:txBody>
          <a:bodyPr wrap="square" rtlCol="0">
            <a:spAutoFit/>
          </a:bodyPr>
          <a:lstStyle/>
          <a:p>
            <a:pPr>
              <a:defRPr/>
            </a:pPr>
            <a:r>
              <a:rPr lang="en-US"/>
              <a:t>Here it is not a core, it is a "CUDA core" so not directly comparable to the CPU core</a:t>
            </a:r>
            <a:endParaRPr/>
          </a:p>
        </p:txBody>
      </p:sp>
      <p:sp>
        <p:nvSpPr>
          <p:cNvPr id="8" name="Rectangle 12"/>
          <p:cNvSpPr/>
          <p:nvPr/>
        </p:nvSpPr>
        <p:spPr bwMode="auto">
          <a:xfrm>
            <a:off x="416920" y="6405134"/>
            <a:ext cx="6095999" cy="461664"/>
          </a:xfrm>
          <a:prstGeom prst="rect">
            <a:avLst/>
          </a:prstGeom>
        </p:spPr>
        <p:txBody>
          <a:bodyPr>
            <a:spAutoFit/>
          </a:bodyPr>
          <a:lstStyle/>
          <a:p>
            <a:pPr>
              <a:defRPr/>
            </a:pPr>
            <a:r>
              <a:rPr lang="en-US" sz="1200" b="0" i="0">
                <a:solidFill>
                  <a:srgbClr val="111111"/>
                </a:solidFill>
                <a:latin typeface="Roboto"/>
              </a:rPr>
              <a:t>3D Data Denoising via Nonlocal Means Filter by Using Parallel GPU Strategies</a:t>
            </a:r>
            <a:endParaRPr/>
          </a:p>
          <a:p>
            <a:pPr>
              <a:defRPr/>
            </a:pPr>
            <a:r>
              <a:rPr lang="en-US" sz="1200"/>
              <a:t>DOI: 10.1155/2014/523862</a:t>
            </a:r>
            <a:endParaRPr lang="en-US" sz="1200" b="0" i="0">
              <a:solidFill>
                <a:srgbClr val="111111"/>
              </a:solidFill>
              <a:latin typeface="Roboto"/>
            </a:endParaRPr>
          </a:p>
        </p:txBody>
      </p:sp>
      <p:sp>
        <p:nvSpPr>
          <p:cNvPr id="9" name="Rectangle 6"/>
          <p:cNvSpPr/>
          <p:nvPr/>
        </p:nvSpPr>
        <p:spPr bwMode="auto">
          <a:xfrm>
            <a:off x="5090464" y="3850821"/>
            <a:ext cx="585106" cy="503463"/>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0" name="Rectangle 6"/>
          <p:cNvSpPr/>
          <p:nvPr/>
        </p:nvSpPr>
        <p:spPr bwMode="auto">
          <a:xfrm>
            <a:off x="5090464" y="4354285"/>
            <a:ext cx="585106" cy="503463"/>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1" name="Rectangle 6"/>
          <p:cNvSpPr/>
          <p:nvPr/>
        </p:nvSpPr>
        <p:spPr bwMode="auto">
          <a:xfrm>
            <a:off x="5090463" y="4857749"/>
            <a:ext cx="585106" cy="503463"/>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2" name="Rectangle 6"/>
          <p:cNvSpPr/>
          <p:nvPr/>
        </p:nvSpPr>
        <p:spPr bwMode="auto">
          <a:xfrm>
            <a:off x="5090464" y="5361213"/>
            <a:ext cx="585106" cy="503463"/>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3" name="Rectangle 6"/>
          <p:cNvSpPr/>
          <p:nvPr/>
        </p:nvSpPr>
        <p:spPr bwMode="auto">
          <a:xfrm>
            <a:off x="5042838" y="3850821"/>
            <a:ext cx="680357" cy="2095500"/>
          </a:xfrm>
          <a:prstGeom prst="rect">
            <a:avLst/>
          </a:prstGeom>
          <a:noFill/>
          <a:ln w="76200" cap="flat" cmpd="sng" algn="ctr">
            <a:solidFill>
              <a:schemeClr val="tx1"/>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4" name="Rectangle 6"/>
          <p:cNvSpPr/>
          <p:nvPr/>
        </p:nvSpPr>
        <p:spPr bwMode="auto">
          <a:xfrm>
            <a:off x="7002266" y="3769178"/>
            <a:ext cx="680356" cy="333374"/>
          </a:xfrm>
          <a:prstGeom prst="rect">
            <a:avLst/>
          </a:prstGeom>
          <a:noFill/>
          <a:ln w="76200" cap="flat" cmpd="sng" algn="ctr">
            <a:solidFill>
              <a:schemeClr val="tx1"/>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5" name="Rectangle 6"/>
          <p:cNvSpPr/>
          <p:nvPr/>
        </p:nvSpPr>
        <p:spPr bwMode="auto">
          <a:xfrm>
            <a:off x="7009071" y="4381499"/>
            <a:ext cx="674640" cy="326013"/>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6" name="Rectángulo 15"/>
          <p:cNvSpPr/>
          <p:nvPr/>
        </p:nvSpPr>
        <p:spPr bwMode="auto">
          <a:xfrm>
            <a:off x="7961571" y="3752967"/>
            <a:ext cx="914687" cy="36579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Grid</a:t>
            </a:r>
          </a:p>
        </p:txBody>
      </p:sp>
      <p:sp>
        <p:nvSpPr>
          <p:cNvPr id="17" name="Rectángulo 16"/>
          <p:cNvSpPr/>
          <p:nvPr/>
        </p:nvSpPr>
        <p:spPr bwMode="auto">
          <a:xfrm>
            <a:off x="7961571" y="4381499"/>
            <a:ext cx="914974" cy="36579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rPr>
                <a:solidFill>
                  <a:srgbClr val="FF0000"/>
                </a:solidFill>
              </a:rPr>
              <a:t>Block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en-US"/>
              <a:t>On a real Real architecture</a:t>
            </a:r>
            <a:r>
              <a:t> : one possible topology</a:t>
            </a:r>
          </a:p>
        </p:txBody>
      </p:sp>
      <p:sp>
        <p:nvSpPr>
          <p:cNvPr id="5" name="ZoneTexte 9"/>
          <p:cNvSpPr>
            <a:spLocks/>
          </p:cNvSpPr>
          <p:nvPr/>
        </p:nvSpPr>
        <p:spPr bwMode="auto">
          <a:xfrm>
            <a:off x="1384185" y="1762233"/>
            <a:ext cx="2491193" cy="369331"/>
          </a:xfrm>
          <a:prstGeom prst="rect">
            <a:avLst/>
          </a:prstGeom>
          <a:noFill/>
        </p:spPr>
        <p:txBody>
          <a:bodyPr wrap="none" rtlCol="0">
            <a:spAutoFit/>
          </a:bodyPr>
          <a:lstStyle/>
          <a:p>
            <a:pPr>
              <a:defRPr/>
            </a:pPr>
            <a:r>
              <a:rPr lang="en-US"/>
              <a:t>Nvidia Fermi GPU (2011)</a:t>
            </a:r>
            <a:endParaRPr/>
          </a:p>
        </p:txBody>
      </p:sp>
      <p:pic>
        <p:nvPicPr>
          <p:cNvPr id="6" name="Image 10"/>
          <p:cNvPicPr>
            <a:picLocks noChangeAspect="1"/>
          </p:cNvPicPr>
          <p:nvPr/>
        </p:nvPicPr>
        <p:blipFill>
          <a:blip r:embed="rId2"/>
          <a:stretch/>
        </p:blipFill>
        <p:spPr bwMode="auto">
          <a:xfrm>
            <a:off x="416920" y="2357870"/>
            <a:ext cx="6186102" cy="4206549"/>
          </a:xfrm>
          <a:prstGeom prst="rect">
            <a:avLst/>
          </a:prstGeom>
        </p:spPr>
      </p:pic>
      <p:sp>
        <p:nvSpPr>
          <p:cNvPr id="7" name="ZoneTexte 11"/>
          <p:cNvSpPr>
            <a:spLocks/>
          </p:cNvSpPr>
          <p:nvPr/>
        </p:nvSpPr>
        <p:spPr bwMode="auto">
          <a:xfrm>
            <a:off x="4671185" y="1946898"/>
            <a:ext cx="3073470" cy="914434"/>
          </a:xfrm>
          <a:prstGeom prst="rect">
            <a:avLst/>
          </a:prstGeom>
          <a:noFill/>
        </p:spPr>
        <p:txBody>
          <a:bodyPr wrap="square" rtlCol="0">
            <a:spAutoFit/>
          </a:bodyPr>
          <a:lstStyle/>
          <a:p>
            <a:pPr>
              <a:defRPr/>
            </a:pPr>
            <a:r>
              <a:rPr lang="en-US"/>
              <a:t>Here it is not a core, it is a "CUDA core" so not directly comparable to the CPU core</a:t>
            </a:r>
            <a:endParaRPr/>
          </a:p>
        </p:txBody>
      </p:sp>
      <p:sp>
        <p:nvSpPr>
          <p:cNvPr id="8" name="Rectangle 12"/>
          <p:cNvSpPr/>
          <p:nvPr/>
        </p:nvSpPr>
        <p:spPr bwMode="auto">
          <a:xfrm>
            <a:off x="416920" y="6405134"/>
            <a:ext cx="6095999" cy="461664"/>
          </a:xfrm>
          <a:prstGeom prst="rect">
            <a:avLst/>
          </a:prstGeom>
        </p:spPr>
        <p:txBody>
          <a:bodyPr>
            <a:spAutoFit/>
          </a:bodyPr>
          <a:lstStyle/>
          <a:p>
            <a:pPr>
              <a:defRPr/>
            </a:pPr>
            <a:r>
              <a:rPr lang="en-US" sz="1200" b="0" i="0">
                <a:solidFill>
                  <a:srgbClr val="111111"/>
                </a:solidFill>
                <a:latin typeface="Roboto"/>
              </a:rPr>
              <a:t>3D Data Denoising via Nonlocal Means Filter by Using Parallel GPU Strategies</a:t>
            </a:r>
            <a:endParaRPr/>
          </a:p>
          <a:p>
            <a:pPr>
              <a:defRPr/>
            </a:pPr>
            <a:r>
              <a:rPr lang="en-US" sz="1200"/>
              <a:t>DOI: 10.1155/2014/523862</a:t>
            </a:r>
            <a:endParaRPr lang="en-US" sz="1200" b="0" i="0">
              <a:solidFill>
                <a:srgbClr val="111111"/>
              </a:solidFill>
              <a:latin typeface="Roboto"/>
            </a:endParaRPr>
          </a:p>
        </p:txBody>
      </p:sp>
      <p:sp>
        <p:nvSpPr>
          <p:cNvPr id="9" name="Rectangle 6"/>
          <p:cNvSpPr/>
          <p:nvPr/>
        </p:nvSpPr>
        <p:spPr bwMode="auto">
          <a:xfrm>
            <a:off x="4450928" y="3850821"/>
            <a:ext cx="1197428" cy="1986643"/>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0" name="Rectangle 6"/>
          <p:cNvSpPr/>
          <p:nvPr/>
        </p:nvSpPr>
        <p:spPr bwMode="auto">
          <a:xfrm>
            <a:off x="7002266" y="3769177"/>
            <a:ext cx="680356" cy="333374"/>
          </a:xfrm>
          <a:prstGeom prst="rect">
            <a:avLst/>
          </a:prstGeom>
          <a:noFill/>
          <a:ln w="76200" cap="flat" cmpd="sng" algn="ctr">
            <a:solidFill>
              <a:schemeClr val="tx1"/>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1" name="Rectangle 6"/>
          <p:cNvSpPr/>
          <p:nvPr/>
        </p:nvSpPr>
        <p:spPr bwMode="auto">
          <a:xfrm>
            <a:off x="7009071" y="4381498"/>
            <a:ext cx="674640" cy="326012"/>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2" name="Rectángulo 11"/>
          <p:cNvSpPr/>
          <p:nvPr/>
        </p:nvSpPr>
        <p:spPr bwMode="auto">
          <a:xfrm>
            <a:off x="7961571" y="3752967"/>
            <a:ext cx="914686" cy="365794"/>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Grid</a:t>
            </a:r>
          </a:p>
        </p:txBody>
      </p:sp>
      <p:sp>
        <p:nvSpPr>
          <p:cNvPr id="13" name="Rectángulo 12"/>
          <p:cNvSpPr/>
          <p:nvPr/>
        </p:nvSpPr>
        <p:spPr bwMode="auto">
          <a:xfrm>
            <a:off x="7961571" y="4381498"/>
            <a:ext cx="914974" cy="365794"/>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rPr>
                <a:solidFill>
                  <a:srgbClr val="FF0000"/>
                </a:solidFill>
              </a:rPr>
              <a:t>Block</a:t>
            </a:r>
          </a:p>
        </p:txBody>
      </p:sp>
      <p:sp>
        <p:nvSpPr>
          <p:cNvPr id="14" name="Rectangle 6"/>
          <p:cNvSpPr/>
          <p:nvPr/>
        </p:nvSpPr>
        <p:spPr bwMode="auto">
          <a:xfrm>
            <a:off x="2879301" y="4127770"/>
            <a:ext cx="1108983" cy="1110978"/>
          </a:xfrm>
          <a:prstGeom prst="rect">
            <a:avLst/>
          </a:prstGeom>
          <a:noFill/>
          <a:ln w="76200" cap="flat" cmpd="sng" algn="ctr">
            <a:solidFill>
              <a:schemeClr val="tx1"/>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rPr lang="en-US"/>
              <a:t>On a real Real architecture</a:t>
            </a:r>
            <a:r>
              <a:t> : one possible topology</a:t>
            </a:r>
          </a:p>
        </p:txBody>
      </p:sp>
      <p:sp>
        <p:nvSpPr>
          <p:cNvPr id="5" name="ZoneTexte 9"/>
          <p:cNvSpPr>
            <a:spLocks/>
          </p:cNvSpPr>
          <p:nvPr/>
        </p:nvSpPr>
        <p:spPr bwMode="auto">
          <a:xfrm>
            <a:off x="1384185" y="1762233"/>
            <a:ext cx="2491193" cy="369331"/>
          </a:xfrm>
          <a:prstGeom prst="rect">
            <a:avLst/>
          </a:prstGeom>
          <a:noFill/>
        </p:spPr>
        <p:txBody>
          <a:bodyPr wrap="none" rtlCol="0">
            <a:spAutoFit/>
          </a:bodyPr>
          <a:lstStyle/>
          <a:p>
            <a:pPr>
              <a:defRPr/>
            </a:pPr>
            <a:r>
              <a:rPr lang="en-US"/>
              <a:t>Nvidia Fermi GPU (2011)</a:t>
            </a:r>
            <a:endParaRPr/>
          </a:p>
        </p:txBody>
      </p:sp>
      <p:pic>
        <p:nvPicPr>
          <p:cNvPr id="6" name="Image 10"/>
          <p:cNvPicPr>
            <a:picLocks noChangeAspect="1"/>
          </p:cNvPicPr>
          <p:nvPr/>
        </p:nvPicPr>
        <p:blipFill>
          <a:blip r:embed="rId2"/>
          <a:stretch/>
        </p:blipFill>
        <p:spPr bwMode="auto">
          <a:xfrm>
            <a:off x="416920" y="2357870"/>
            <a:ext cx="6186102" cy="4206549"/>
          </a:xfrm>
          <a:prstGeom prst="rect">
            <a:avLst/>
          </a:prstGeom>
        </p:spPr>
      </p:pic>
      <p:sp>
        <p:nvSpPr>
          <p:cNvPr id="7" name="ZoneTexte 11"/>
          <p:cNvSpPr>
            <a:spLocks/>
          </p:cNvSpPr>
          <p:nvPr/>
        </p:nvSpPr>
        <p:spPr bwMode="auto">
          <a:xfrm>
            <a:off x="4671185" y="1946898"/>
            <a:ext cx="3073470" cy="914434"/>
          </a:xfrm>
          <a:prstGeom prst="rect">
            <a:avLst/>
          </a:prstGeom>
          <a:noFill/>
        </p:spPr>
        <p:txBody>
          <a:bodyPr wrap="square" rtlCol="0">
            <a:spAutoFit/>
          </a:bodyPr>
          <a:lstStyle/>
          <a:p>
            <a:pPr>
              <a:defRPr/>
            </a:pPr>
            <a:r>
              <a:rPr lang="en-US"/>
              <a:t>Here it is not a core, it is a "CUDA core" so not directly comparable to the CPU core</a:t>
            </a:r>
            <a:endParaRPr/>
          </a:p>
        </p:txBody>
      </p:sp>
      <p:sp>
        <p:nvSpPr>
          <p:cNvPr id="8" name="Rectangle 12"/>
          <p:cNvSpPr/>
          <p:nvPr/>
        </p:nvSpPr>
        <p:spPr bwMode="auto">
          <a:xfrm>
            <a:off x="416920" y="6405134"/>
            <a:ext cx="6095999" cy="461664"/>
          </a:xfrm>
          <a:prstGeom prst="rect">
            <a:avLst/>
          </a:prstGeom>
        </p:spPr>
        <p:txBody>
          <a:bodyPr>
            <a:spAutoFit/>
          </a:bodyPr>
          <a:lstStyle/>
          <a:p>
            <a:pPr>
              <a:defRPr/>
            </a:pPr>
            <a:r>
              <a:rPr lang="en-US" sz="1200" b="0" i="0">
                <a:solidFill>
                  <a:srgbClr val="111111"/>
                </a:solidFill>
                <a:latin typeface="Roboto"/>
              </a:rPr>
              <a:t>3D Data Denoising via Nonlocal Means Filter by Using Parallel GPU Strategies</a:t>
            </a:r>
            <a:endParaRPr/>
          </a:p>
          <a:p>
            <a:pPr>
              <a:defRPr/>
            </a:pPr>
            <a:r>
              <a:rPr lang="en-US" sz="1200"/>
              <a:t>DOI: 10.1155/2014/523862</a:t>
            </a:r>
            <a:endParaRPr lang="en-US" sz="1200" b="0" i="0">
              <a:solidFill>
                <a:srgbClr val="111111"/>
              </a:solidFill>
              <a:latin typeface="Roboto"/>
            </a:endParaRPr>
          </a:p>
        </p:txBody>
      </p:sp>
      <p:sp>
        <p:nvSpPr>
          <p:cNvPr id="9" name="Rectangle 6"/>
          <p:cNvSpPr/>
          <p:nvPr/>
        </p:nvSpPr>
        <p:spPr bwMode="auto">
          <a:xfrm>
            <a:off x="4450928" y="3850819"/>
            <a:ext cx="1197427" cy="1986642"/>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0" name="Rectangle 6"/>
          <p:cNvSpPr/>
          <p:nvPr/>
        </p:nvSpPr>
        <p:spPr bwMode="auto">
          <a:xfrm>
            <a:off x="7002266" y="3769177"/>
            <a:ext cx="680356" cy="333374"/>
          </a:xfrm>
          <a:prstGeom prst="rect">
            <a:avLst/>
          </a:prstGeom>
          <a:noFill/>
          <a:ln w="76200" cap="flat" cmpd="sng" algn="ctr">
            <a:solidFill>
              <a:schemeClr val="tx1"/>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1" name="Rectangle 6"/>
          <p:cNvSpPr/>
          <p:nvPr/>
        </p:nvSpPr>
        <p:spPr bwMode="auto">
          <a:xfrm>
            <a:off x="7009071" y="4381498"/>
            <a:ext cx="674640" cy="326012"/>
          </a:xfrm>
          <a:prstGeom prst="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2" name="Rectángulo 11"/>
          <p:cNvSpPr/>
          <p:nvPr/>
        </p:nvSpPr>
        <p:spPr bwMode="auto">
          <a:xfrm>
            <a:off x="7961571" y="3752967"/>
            <a:ext cx="914686" cy="365794"/>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Grid</a:t>
            </a:r>
          </a:p>
        </p:txBody>
      </p:sp>
      <p:sp>
        <p:nvSpPr>
          <p:cNvPr id="13" name="Rectángulo 12"/>
          <p:cNvSpPr/>
          <p:nvPr/>
        </p:nvSpPr>
        <p:spPr bwMode="auto">
          <a:xfrm>
            <a:off x="7961571" y="4381498"/>
            <a:ext cx="914974" cy="365794"/>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rPr>
                <a:solidFill>
                  <a:srgbClr val="FF0000"/>
                </a:solidFill>
              </a:rPr>
              <a:t>Block</a:t>
            </a:r>
          </a:p>
        </p:txBody>
      </p:sp>
      <p:sp>
        <p:nvSpPr>
          <p:cNvPr id="14" name="Rectangle 6"/>
          <p:cNvSpPr/>
          <p:nvPr/>
        </p:nvSpPr>
        <p:spPr bwMode="auto">
          <a:xfrm>
            <a:off x="2879300" y="4127770"/>
            <a:ext cx="1108982" cy="1110978"/>
          </a:xfrm>
          <a:prstGeom prst="rect">
            <a:avLst/>
          </a:prstGeom>
          <a:noFill/>
          <a:ln w="76200" cap="flat" cmpd="sng" algn="ctr">
            <a:solidFill>
              <a:schemeClr val="tx1"/>
            </a:solidFill>
            <a:prstDash val="solid"/>
          </a:ln>
        </p:spPr>
        <p:style>
          <a:lnRef idx="2">
            <a:schemeClr val="accent6"/>
          </a:lnRef>
          <a:fillRef idx="1">
            <a:schemeClr val="lt1"/>
          </a:fillRef>
          <a:effectRef idx="0">
            <a:schemeClr val="accent6"/>
          </a:effectRef>
          <a:fontRef idx="minor">
            <a:schemeClr val="dk1"/>
          </a:fontRef>
        </p:style>
        <p:txBody>
          <a:bodyPr rtlCol="0" anchor="ctr"/>
          <a:lstStyle/>
          <a:p>
            <a:pPr algn="ctr">
              <a:defRPr/>
            </a:pPr>
            <a:endParaRPr lang="en-US"/>
          </a:p>
        </p:txBody>
      </p:sp>
      <p:sp>
        <p:nvSpPr>
          <p:cNvPr id="15" name="Rectángulo 14"/>
          <p:cNvSpPr/>
          <p:nvPr/>
        </p:nvSpPr>
        <p:spPr bwMode="auto">
          <a:xfrm>
            <a:off x="6369535" y="4844141"/>
            <a:ext cx="5831170" cy="2269035"/>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t>A grid can encompass many SM but a block can not be larger than a SM since a block is a shared memory space.</a:t>
            </a:r>
          </a:p>
          <a:p>
            <a:pPr>
              <a:defRPr/>
            </a:pPr>
            <a:endParaRPr/>
          </a:p>
          <a:p>
            <a:pPr>
              <a:defRPr/>
            </a:pPr>
            <a:r>
              <a:t>You can also set the number of threads per block:</a:t>
            </a:r>
          </a:p>
          <a:p>
            <a:pPr>
              <a:defRPr/>
            </a:pPr>
            <a:r>
              <a:t>but this number is not easily linkable to the number of CUDA core. Yet a block size (number of threads per block) should be a multiple of 32 (warping : not the focus of this course)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838200" y="365125"/>
            <a:ext cx="10756900" cy="1325563"/>
          </a:xfrm>
        </p:spPr>
        <p:txBody>
          <a:bodyPr/>
          <a:lstStyle/>
          <a:p>
            <a:pPr>
              <a:defRPr/>
            </a:pPr>
            <a:r>
              <a:rPr lang="en-US"/>
              <a:t>A mapping at the core of CPU/GPU communication: the kernel</a:t>
            </a:r>
            <a:endParaRPr/>
          </a:p>
        </p:txBody>
      </p:sp>
      <p:pic>
        <p:nvPicPr>
          <p:cNvPr id="5" name="Image 3"/>
          <p:cNvPicPr>
            <a:picLocks noChangeAspect="1"/>
          </p:cNvPicPr>
          <p:nvPr/>
        </p:nvPicPr>
        <p:blipFill>
          <a:blip r:embed="rId3"/>
          <a:stretch/>
        </p:blipFill>
        <p:spPr bwMode="auto">
          <a:xfrm>
            <a:off x="2688710" y="1841368"/>
            <a:ext cx="6300229" cy="4870714"/>
          </a:xfrm>
          <a:prstGeom prst="rect">
            <a:avLst/>
          </a:prstGeom>
        </p:spPr>
      </p:pic>
      <p:sp>
        <p:nvSpPr>
          <p:cNvPr id="6" name="Rectangle 4"/>
          <p:cNvSpPr/>
          <p:nvPr/>
        </p:nvSpPr>
        <p:spPr bwMode="auto">
          <a:xfrm>
            <a:off x="9163872" y="3760802"/>
            <a:ext cx="2842701" cy="276999"/>
          </a:xfrm>
          <a:prstGeom prst="rect">
            <a:avLst/>
          </a:prstGeom>
        </p:spPr>
        <p:txBody>
          <a:bodyPr wrap="none">
            <a:spAutoFit/>
          </a:bodyPr>
          <a:lstStyle/>
          <a:p>
            <a:pPr>
              <a:defRPr/>
            </a:pPr>
            <a:r>
              <a:rPr lang="en-US" sz="1200" u="sng">
                <a:hlinkClick r:id="rId4"/>
              </a:rPr>
              <a:t>https://cvw.cac.cornell.edu/GPU/structure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a:xfrm>
            <a:off x="171450" y="198437"/>
            <a:ext cx="11783643" cy="1325562"/>
          </a:xfrm>
        </p:spPr>
        <p:txBody>
          <a:bodyPr/>
          <a:lstStyle/>
          <a:p>
            <a:pPr>
              <a:defRPr/>
            </a:pPr>
            <a:r>
              <a:t>Writing your kernel : GPU technologies programming</a:t>
            </a:r>
          </a:p>
        </p:txBody>
      </p:sp>
      <p:pic>
        <p:nvPicPr>
          <p:cNvPr id="5" name="Imagen 4"/>
          <p:cNvPicPr>
            <a:picLocks noChangeAspect="1"/>
          </p:cNvPicPr>
          <p:nvPr/>
        </p:nvPicPr>
        <p:blipFill>
          <a:blip r:embed="rId2"/>
          <a:stretch/>
        </p:blipFill>
        <p:spPr bwMode="auto">
          <a:xfrm>
            <a:off x="2030795" y="1478716"/>
            <a:ext cx="2016896" cy="1221304"/>
          </a:xfrm>
          <a:prstGeom prst="rect">
            <a:avLst/>
          </a:prstGeom>
        </p:spPr>
      </p:pic>
      <p:pic>
        <p:nvPicPr>
          <p:cNvPr id="6" name="Imagen 5"/>
          <p:cNvPicPr>
            <a:picLocks noChangeAspect="1"/>
          </p:cNvPicPr>
          <p:nvPr/>
        </p:nvPicPr>
        <p:blipFill>
          <a:blip r:embed="rId3"/>
          <a:stretch/>
        </p:blipFill>
        <p:spPr bwMode="auto">
          <a:xfrm>
            <a:off x="7315656" y="4333498"/>
            <a:ext cx="1781226" cy="1334200"/>
          </a:xfrm>
          <a:prstGeom prst="rect">
            <a:avLst/>
          </a:prstGeom>
        </p:spPr>
      </p:pic>
      <p:sp>
        <p:nvSpPr>
          <p:cNvPr id="7" name="Rectángulo 6"/>
          <p:cNvSpPr/>
          <p:nvPr/>
        </p:nvSpPr>
        <p:spPr bwMode="auto">
          <a:xfrm>
            <a:off x="6915787" y="4110928"/>
            <a:ext cx="1502756" cy="36579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numba.cuda</a:t>
            </a:r>
          </a:p>
        </p:txBody>
      </p:sp>
      <p:sp>
        <p:nvSpPr>
          <p:cNvPr id="8" name="Rectángulo 7"/>
          <p:cNvSpPr/>
          <p:nvPr/>
        </p:nvSpPr>
        <p:spPr bwMode="auto">
          <a:xfrm>
            <a:off x="2126741" y="4232867"/>
            <a:ext cx="1188529" cy="48771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rPr sz="2600"/>
              <a:t>pycuda</a:t>
            </a:r>
            <a:endParaRPr/>
          </a:p>
        </p:txBody>
      </p:sp>
      <p:sp>
        <p:nvSpPr>
          <p:cNvPr id="9" name="Rectángulo 8"/>
          <p:cNvSpPr/>
          <p:nvPr/>
        </p:nvSpPr>
        <p:spPr bwMode="auto">
          <a:xfrm>
            <a:off x="469925" y="4118809"/>
            <a:ext cx="1602979" cy="429377"/>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CUDA C++</a:t>
            </a:r>
          </a:p>
        </p:txBody>
      </p:sp>
      <p:sp>
        <p:nvSpPr>
          <p:cNvPr id="10" name="Flecha: a la derecha 9"/>
          <p:cNvSpPr/>
          <p:nvPr/>
        </p:nvSpPr>
        <p:spPr bwMode="auto">
          <a:xfrm rot="7623512">
            <a:off x="1199620" y="3266787"/>
            <a:ext cx="1387711" cy="229290"/>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1" name="Flecha: a la derecha 10"/>
          <p:cNvSpPr/>
          <p:nvPr/>
        </p:nvSpPr>
        <p:spPr bwMode="auto">
          <a:xfrm rot="5399977">
            <a:off x="1999024" y="3440385"/>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2" name="Flecha: a la derecha 11"/>
          <p:cNvSpPr/>
          <p:nvPr/>
        </p:nvSpPr>
        <p:spPr bwMode="auto">
          <a:xfrm rot="3784236">
            <a:off x="4618313" y="3417069"/>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pic>
        <p:nvPicPr>
          <p:cNvPr id="13" name="Imagen 12"/>
          <p:cNvPicPr>
            <a:picLocks noChangeAspect="1"/>
          </p:cNvPicPr>
          <p:nvPr/>
        </p:nvPicPr>
        <p:blipFill>
          <a:blip r:embed="rId4"/>
          <a:stretch/>
        </p:blipFill>
        <p:spPr bwMode="auto">
          <a:xfrm>
            <a:off x="9210472" y="1315757"/>
            <a:ext cx="1284721" cy="1284721"/>
          </a:xfrm>
          <a:prstGeom prst="rect">
            <a:avLst/>
          </a:prstGeom>
        </p:spPr>
      </p:pic>
      <p:sp>
        <p:nvSpPr>
          <p:cNvPr id="14" name="Rectángulo 13"/>
          <p:cNvSpPr/>
          <p:nvPr/>
        </p:nvSpPr>
        <p:spPr bwMode="auto">
          <a:xfrm>
            <a:off x="9118502" y="2412018"/>
            <a:ext cx="2120499" cy="704829"/>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AMD GPU</a:t>
            </a:r>
            <a:endParaRPr sz="3600"/>
          </a:p>
        </p:txBody>
      </p:sp>
      <p:sp>
        <p:nvSpPr>
          <p:cNvPr id="15" name="Flecha: a la derecha 14"/>
          <p:cNvSpPr/>
          <p:nvPr/>
        </p:nvSpPr>
        <p:spPr bwMode="auto">
          <a:xfrm rot="3530909">
            <a:off x="9801338" y="3281028"/>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6" name="Flecha: a la derecha 15"/>
          <p:cNvSpPr/>
          <p:nvPr/>
        </p:nvSpPr>
        <p:spPr bwMode="auto">
          <a:xfrm rot="7623512">
            <a:off x="8581495" y="3266786"/>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7" name="Rectángulo 16"/>
          <p:cNvSpPr/>
          <p:nvPr/>
        </p:nvSpPr>
        <p:spPr bwMode="auto">
          <a:xfrm>
            <a:off x="8099031" y="3925231"/>
            <a:ext cx="1502971" cy="36579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numba.roc</a:t>
            </a:r>
          </a:p>
        </p:txBody>
      </p:sp>
      <p:sp>
        <p:nvSpPr>
          <p:cNvPr id="18" name="Rectángulo 17"/>
          <p:cNvSpPr/>
          <p:nvPr/>
        </p:nvSpPr>
        <p:spPr bwMode="auto">
          <a:xfrm>
            <a:off x="10038150" y="4118809"/>
            <a:ext cx="1682749" cy="793749"/>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HIP C++</a:t>
            </a:r>
            <a:endParaRPr sz="1400"/>
          </a:p>
        </p:txBody>
      </p:sp>
      <p:cxnSp>
        <p:nvCxnSpPr>
          <p:cNvPr id="19" name="Conector: angular 18"/>
          <p:cNvCxnSpPr>
            <a:cxnSpLocks/>
          </p:cNvCxnSpPr>
          <p:nvPr/>
        </p:nvCxnSpPr>
        <p:spPr bwMode="auto">
          <a:xfrm>
            <a:off x="4157249" y="2182090"/>
            <a:ext cx="5880899" cy="2250360"/>
          </a:xfrm>
          <a:prstGeom prst="bentConnector5">
            <a:avLst>
              <a:gd name="adj1" fmla="val 50000"/>
              <a:gd name="adj2" fmla="val 43346"/>
              <a:gd name="adj3" fmla="val 90111"/>
            </a:avLst>
          </a:prstGeom>
          <a:ln>
            <a:tailEnd type="arrow" len="med"/>
          </a:ln>
        </p:spPr>
        <p:style>
          <a:lnRef idx="1">
            <a:schemeClr val="accent1">
              <a:shade val="50000"/>
            </a:schemeClr>
          </a:lnRef>
          <a:fillRef idx="0">
            <a:schemeClr val="accent1"/>
          </a:fillRef>
          <a:effectRef idx="0">
            <a:schemeClr val="accent1"/>
          </a:effectRef>
          <a:fontRef idx="minor">
            <a:schemeClr val="tx1"/>
          </a:fontRef>
        </p:style>
      </p:cxnSp>
      <p:sp>
        <p:nvSpPr>
          <p:cNvPr id="20" name="Flecha: a la derecha 19"/>
          <p:cNvSpPr/>
          <p:nvPr/>
        </p:nvSpPr>
        <p:spPr bwMode="auto">
          <a:xfrm rot="2131299">
            <a:off x="5598351" y="3351338"/>
            <a:ext cx="1949932" cy="176170"/>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21" name="Flecha: a la derecha 20"/>
          <p:cNvSpPr/>
          <p:nvPr/>
        </p:nvSpPr>
        <p:spPr bwMode="auto">
          <a:xfrm rot="4403375">
            <a:off x="3203109" y="3401975"/>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pic>
        <p:nvPicPr>
          <p:cNvPr id="22" name="Imagen 21"/>
          <p:cNvPicPr>
            <a:picLocks noChangeAspect="1"/>
          </p:cNvPicPr>
          <p:nvPr/>
        </p:nvPicPr>
        <p:blipFill>
          <a:blip r:embed="rId5"/>
          <a:stretch/>
        </p:blipFill>
        <p:spPr bwMode="auto">
          <a:xfrm>
            <a:off x="3375312" y="4415302"/>
            <a:ext cx="1659710" cy="541209"/>
          </a:xfrm>
          <a:prstGeom prst="rect">
            <a:avLst/>
          </a:prstGeom>
        </p:spPr>
      </p:pic>
      <p:sp>
        <p:nvSpPr>
          <p:cNvPr id="23" name="Rectángulo 22"/>
          <p:cNvSpPr/>
          <p:nvPr/>
        </p:nvSpPr>
        <p:spPr bwMode="auto">
          <a:xfrm>
            <a:off x="5404159" y="4286249"/>
            <a:ext cx="1575954" cy="640115"/>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openACC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pic>
        <p:nvPicPr>
          <p:cNvPr id="4" name="Imagen 3"/>
          <p:cNvPicPr>
            <a:picLocks noChangeAspect="1"/>
          </p:cNvPicPr>
          <p:nvPr/>
        </p:nvPicPr>
        <p:blipFill>
          <a:blip r:embed="rId2"/>
          <a:stretch/>
        </p:blipFill>
        <p:spPr bwMode="auto">
          <a:xfrm>
            <a:off x="7315656" y="4333498"/>
            <a:ext cx="1781226" cy="1334200"/>
          </a:xfrm>
          <a:prstGeom prst="rect">
            <a:avLst/>
          </a:prstGeom>
        </p:spPr>
      </p:pic>
      <p:sp>
        <p:nvSpPr>
          <p:cNvPr id="5" name="Rectángulo 4"/>
          <p:cNvSpPr/>
          <p:nvPr/>
        </p:nvSpPr>
        <p:spPr bwMode="auto">
          <a:xfrm>
            <a:off x="3176083" y="4159249"/>
            <a:ext cx="5810249" cy="1904999"/>
          </a:xfrm>
          <a:prstGeom prst="rect">
            <a:avLst/>
          </a:prstGeom>
          <a:noFill/>
          <a:ln w="76199" cap="flat" cmpd="sng" algn="ctr">
            <a:solidFill>
              <a:schemeClr val="accent1">
                <a:shade val="50000"/>
              </a:schemeClr>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6" name="Titre 1"/>
          <p:cNvSpPr>
            <a:spLocks noGrp="1"/>
          </p:cNvSpPr>
          <p:nvPr>
            <p:ph type="title"/>
          </p:nvPr>
        </p:nvSpPr>
        <p:spPr bwMode="auto">
          <a:xfrm>
            <a:off x="171450" y="198437"/>
            <a:ext cx="11783643" cy="1325562"/>
          </a:xfrm>
        </p:spPr>
        <p:txBody>
          <a:bodyPr/>
          <a:lstStyle/>
          <a:p>
            <a:pPr>
              <a:defRPr/>
            </a:pPr>
            <a:r>
              <a:t>Writing your kernel : GPU technologies programming</a:t>
            </a:r>
          </a:p>
        </p:txBody>
      </p:sp>
      <p:pic>
        <p:nvPicPr>
          <p:cNvPr id="7" name="Imagen 6"/>
          <p:cNvPicPr>
            <a:picLocks noChangeAspect="1"/>
          </p:cNvPicPr>
          <p:nvPr/>
        </p:nvPicPr>
        <p:blipFill>
          <a:blip r:embed="rId3"/>
          <a:stretch/>
        </p:blipFill>
        <p:spPr bwMode="auto">
          <a:xfrm>
            <a:off x="2030795" y="1478716"/>
            <a:ext cx="2016896" cy="1221304"/>
          </a:xfrm>
          <a:prstGeom prst="rect">
            <a:avLst/>
          </a:prstGeom>
        </p:spPr>
      </p:pic>
      <p:sp>
        <p:nvSpPr>
          <p:cNvPr id="8" name="Rectángulo 7"/>
          <p:cNvSpPr/>
          <p:nvPr/>
        </p:nvSpPr>
        <p:spPr bwMode="auto">
          <a:xfrm>
            <a:off x="6915787" y="4110928"/>
            <a:ext cx="1502756" cy="36579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numba.cuda</a:t>
            </a:r>
          </a:p>
        </p:txBody>
      </p:sp>
      <p:sp>
        <p:nvSpPr>
          <p:cNvPr id="9" name="Rectángulo 8"/>
          <p:cNvSpPr/>
          <p:nvPr/>
        </p:nvSpPr>
        <p:spPr bwMode="auto">
          <a:xfrm>
            <a:off x="2126741" y="4232867"/>
            <a:ext cx="1188529" cy="48771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rPr sz="2600"/>
              <a:t>pycuda</a:t>
            </a:r>
            <a:endParaRPr/>
          </a:p>
        </p:txBody>
      </p:sp>
      <p:sp>
        <p:nvSpPr>
          <p:cNvPr id="10" name="Rectángulo 9"/>
          <p:cNvSpPr/>
          <p:nvPr/>
        </p:nvSpPr>
        <p:spPr bwMode="auto">
          <a:xfrm>
            <a:off x="469925" y="4118809"/>
            <a:ext cx="1602979" cy="429377"/>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CUDA C++</a:t>
            </a:r>
          </a:p>
        </p:txBody>
      </p:sp>
      <p:sp>
        <p:nvSpPr>
          <p:cNvPr id="11" name="Flecha: a la derecha 10"/>
          <p:cNvSpPr/>
          <p:nvPr/>
        </p:nvSpPr>
        <p:spPr bwMode="auto">
          <a:xfrm rot="7623512">
            <a:off x="1199620" y="3266787"/>
            <a:ext cx="1387711" cy="229290"/>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2" name="Flecha: a la derecha 11"/>
          <p:cNvSpPr/>
          <p:nvPr/>
        </p:nvSpPr>
        <p:spPr bwMode="auto">
          <a:xfrm rot="5399977">
            <a:off x="1999024" y="3440385"/>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3" name="Flecha: a la derecha 12"/>
          <p:cNvSpPr/>
          <p:nvPr/>
        </p:nvSpPr>
        <p:spPr bwMode="auto">
          <a:xfrm rot="3784236">
            <a:off x="4618313" y="3417069"/>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pic>
        <p:nvPicPr>
          <p:cNvPr id="14" name="Imagen 13"/>
          <p:cNvPicPr>
            <a:picLocks noChangeAspect="1"/>
          </p:cNvPicPr>
          <p:nvPr/>
        </p:nvPicPr>
        <p:blipFill>
          <a:blip r:embed="rId4"/>
          <a:stretch/>
        </p:blipFill>
        <p:spPr bwMode="auto">
          <a:xfrm>
            <a:off x="9210472" y="1315757"/>
            <a:ext cx="1284721" cy="1284721"/>
          </a:xfrm>
          <a:prstGeom prst="rect">
            <a:avLst/>
          </a:prstGeom>
        </p:spPr>
      </p:pic>
      <p:sp>
        <p:nvSpPr>
          <p:cNvPr id="15" name="Rectángulo 14"/>
          <p:cNvSpPr/>
          <p:nvPr/>
        </p:nvSpPr>
        <p:spPr bwMode="auto">
          <a:xfrm>
            <a:off x="9118502" y="2412018"/>
            <a:ext cx="2120499" cy="704829"/>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AMD GPU</a:t>
            </a:r>
            <a:endParaRPr sz="3600"/>
          </a:p>
        </p:txBody>
      </p:sp>
      <p:sp>
        <p:nvSpPr>
          <p:cNvPr id="16" name="Flecha: a la derecha 15"/>
          <p:cNvSpPr/>
          <p:nvPr/>
        </p:nvSpPr>
        <p:spPr bwMode="auto">
          <a:xfrm rot="3530909">
            <a:off x="9801338" y="3281028"/>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7" name="Flecha: a la derecha 16"/>
          <p:cNvSpPr/>
          <p:nvPr/>
        </p:nvSpPr>
        <p:spPr bwMode="auto">
          <a:xfrm rot="7623512">
            <a:off x="8581495" y="3266786"/>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18" name="Rectángulo 17"/>
          <p:cNvSpPr/>
          <p:nvPr/>
        </p:nvSpPr>
        <p:spPr bwMode="auto">
          <a:xfrm>
            <a:off x="8204864" y="3819398"/>
            <a:ext cx="1502971" cy="36579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t>numba.roc</a:t>
            </a:r>
          </a:p>
        </p:txBody>
      </p:sp>
      <p:sp>
        <p:nvSpPr>
          <p:cNvPr id="19" name="Rectángulo 18"/>
          <p:cNvSpPr/>
          <p:nvPr/>
        </p:nvSpPr>
        <p:spPr bwMode="auto">
          <a:xfrm>
            <a:off x="10038150" y="4118809"/>
            <a:ext cx="1682749" cy="793749"/>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HIP C++</a:t>
            </a:r>
            <a:endParaRPr sz="1400"/>
          </a:p>
        </p:txBody>
      </p:sp>
      <p:cxnSp>
        <p:nvCxnSpPr>
          <p:cNvPr id="20" name="Conector: angular 19"/>
          <p:cNvCxnSpPr>
            <a:cxnSpLocks/>
          </p:cNvCxnSpPr>
          <p:nvPr/>
        </p:nvCxnSpPr>
        <p:spPr bwMode="auto">
          <a:xfrm>
            <a:off x="4157249" y="2182090"/>
            <a:ext cx="5880899" cy="2250360"/>
          </a:xfrm>
          <a:prstGeom prst="bentConnector5">
            <a:avLst>
              <a:gd name="adj1" fmla="val 50000"/>
              <a:gd name="adj2" fmla="val 43346"/>
              <a:gd name="adj3" fmla="val 90111"/>
            </a:avLst>
          </a:prstGeom>
          <a:ln>
            <a:tailEnd type="arrow" len="med"/>
          </a:ln>
        </p:spPr>
        <p:style>
          <a:lnRef idx="1">
            <a:schemeClr val="accent1">
              <a:shade val="50000"/>
            </a:schemeClr>
          </a:lnRef>
          <a:fillRef idx="0">
            <a:schemeClr val="accent1"/>
          </a:fillRef>
          <a:effectRef idx="0">
            <a:schemeClr val="accent1"/>
          </a:effectRef>
          <a:fontRef idx="minor">
            <a:schemeClr val="tx1"/>
          </a:fontRef>
        </p:style>
      </p:cxnSp>
      <p:sp>
        <p:nvSpPr>
          <p:cNvPr id="21" name="Flecha: a la derecha 20"/>
          <p:cNvSpPr/>
          <p:nvPr/>
        </p:nvSpPr>
        <p:spPr bwMode="auto">
          <a:xfrm rot="2131299">
            <a:off x="5598351" y="3351338"/>
            <a:ext cx="1949932" cy="176170"/>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sp>
        <p:nvSpPr>
          <p:cNvPr id="22" name="Flecha: a la derecha 21"/>
          <p:cNvSpPr/>
          <p:nvPr/>
        </p:nvSpPr>
        <p:spPr bwMode="auto">
          <a:xfrm rot="4403375">
            <a:off x="3203109" y="3401975"/>
            <a:ext cx="1387710" cy="229289"/>
          </a:xfrm>
          <a:prstGeom prst="rightArrow">
            <a:avLst>
              <a:gd name="adj1" fmla="val 16123"/>
              <a:gd name="adj2" fmla="val 117433"/>
            </a:avLst>
          </a:prstGeom>
          <a:solidFill>
            <a:schemeClr val="tx1"/>
          </a:solidFill>
          <a:ln w="12700" cap="flat" cmpd="sng" algn="ctr">
            <a:solidFill>
              <a:schemeClr val="tx1"/>
            </a:solidFill>
            <a:prstDash val="solid"/>
            <a:miter/>
          </a:ln>
        </p:spPr>
        <p:style>
          <a:lnRef idx="2">
            <a:schemeClr val="accent1">
              <a:shade val="50000"/>
            </a:schemeClr>
          </a:lnRef>
          <a:fillRef idx="1">
            <a:schemeClr val="accent1"/>
          </a:fillRef>
          <a:effectRef idx="0">
            <a:schemeClr val="accent1"/>
          </a:effectRef>
          <a:fontRef idx="minor">
            <a:schemeClr val="lt1"/>
          </a:fontRef>
        </p:style>
      </p:sp>
      <p:pic>
        <p:nvPicPr>
          <p:cNvPr id="23" name="Imagen 22"/>
          <p:cNvPicPr>
            <a:picLocks noChangeAspect="1"/>
          </p:cNvPicPr>
          <p:nvPr/>
        </p:nvPicPr>
        <p:blipFill>
          <a:blip r:embed="rId5"/>
          <a:stretch/>
        </p:blipFill>
        <p:spPr bwMode="auto">
          <a:xfrm>
            <a:off x="3375312" y="4415302"/>
            <a:ext cx="1659710" cy="541209"/>
          </a:xfrm>
          <a:prstGeom prst="rect">
            <a:avLst/>
          </a:prstGeom>
        </p:spPr>
      </p:pic>
      <p:sp>
        <p:nvSpPr>
          <p:cNvPr id="24" name="Rectángulo 23"/>
          <p:cNvSpPr/>
          <p:nvPr/>
        </p:nvSpPr>
        <p:spPr bwMode="auto">
          <a:xfrm>
            <a:off x="5404159" y="4286249"/>
            <a:ext cx="1575954" cy="640115"/>
          </a:xfrm>
          <a:prstGeom prst="rect">
            <a:avLst/>
          </a:prstGeom>
          <a:noFill/>
        </p:spPr>
        <p:txBody>
          <a:bodyPr vertOverflow="overflow" horzOverflow="clip" vert="horz" wrap="square" lIns="91440" tIns="45720" rIns="91440" bIns="45720" numCol="1" spcCol="0" rtlCol="0" fromWordArt="0" anchor="t" anchorCtr="0" forceAA="0" compatLnSpc="0">
            <a:noAutofit/>
          </a:bodyPr>
          <a:lstStyle/>
          <a:p>
            <a:pPr>
              <a:defRPr/>
            </a:pPr>
            <a:r>
              <a:rPr sz="2600"/>
              <a:t>openACC</a:t>
            </a:r>
          </a:p>
        </p:txBody>
      </p:sp>
      <p:sp>
        <p:nvSpPr>
          <p:cNvPr id="25" name="Rectángulo 24"/>
          <p:cNvSpPr/>
          <p:nvPr/>
        </p:nvSpPr>
        <p:spPr bwMode="auto">
          <a:xfrm>
            <a:off x="4128583" y="5545666"/>
            <a:ext cx="4181496" cy="457235"/>
          </a:xfrm>
          <a:prstGeom prst="rect">
            <a:avLst/>
          </a:prstGeom>
          <a:noFill/>
        </p:spPr>
        <p:txBody>
          <a:bodyPr vertOverflow="overflow" horzOverflow="clip" vert="horz" wrap="square" lIns="91440" tIns="45720" rIns="91440" bIns="45720" numCol="1" spcCol="0" rtlCol="0" fromWordArt="0" anchor="t" anchorCtr="0" forceAA="0" compatLnSpc="0">
            <a:spAutoFit/>
          </a:bodyPr>
          <a:lstStyle/>
          <a:p>
            <a:pPr>
              <a:defRPr/>
            </a:pPr>
            <a:r>
              <a:rPr sz="2400" b="1"/>
              <a:t>covered in this course</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4" name="Titre 1"/>
          <p:cNvSpPr>
            <a:spLocks noGrp="1"/>
          </p:cNvSpPr>
          <p:nvPr>
            <p:ph type="title"/>
          </p:nvPr>
        </p:nvSpPr>
        <p:spPr bwMode="auto"/>
        <p:txBody>
          <a:bodyPr/>
          <a:lstStyle/>
          <a:p>
            <a:pPr>
              <a:defRPr/>
            </a:pPr>
            <a:r>
              <a:t>GPU computing at SCICORE</a:t>
            </a:r>
          </a:p>
        </p:txBody>
      </p:sp>
    </p:spTree>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1312</Words>
  <Application>Microsoft Office PowerPoint</Application>
  <DocSecurity>0</DocSecurity>
  <PresentationFormat>Panorámica</PresentationFormat>
  <Paragraphs>113</Paragraphs>
  <Slides>18</Slides>
  <Notes>9</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18</vt:i4>
      </vt:variant>
    </vt:vector>
  </HeadingPairs>
  <TitlesOfParts>
    <vt:vector size="24" baseType="lpstr">
      <vt:lpstr>Arial</vt:lpstr>
      <vt:lpstr>Calibri</vt:lpstr>
      <vt:lpstr>Calibri Light</vt:lpstr>
      <vt:lpstr>ff1</vt:lpstr>
      <vt:lpstr>Roboto</vt:lpstr>
      <vt:lpstr>Thème Office</vt:lpstr>
      <vt:lpstr>Intro</vt:lpstr>
      <vt:lpstr>Presentación de PowerPoint</vt:lpstr>
      <vt:lpstr>GPU programming enables state of the art performance </vt:lpstr>
      <vt:lpstr>Presentación de PowerPoint</vt:lpstr>
      <vt:lpstr>Presentación de PowerPoint</vt:lpstr>
      <vt:lpstr>Why is it more powerful for some operations</vt:lpstr>
      <vt:lpstr>Why is it more powerful for some operations</vt:lpstr>
      <vt:lpstr>GPU : A SIMD oriented architecture</vt:lpstr>
      <vt:lpstr>GPU : Not MISD or MIMD oriented architecture</vt:lpstr>
      <vt:lpstr>Mapping the hardware architecture to the programming architecture</vt:lpstr>
      <vt:lpstr>On a real Real architecture</vt:lpstr>
      <vt:lpstr>On a real Real architecture : one possible topology</vt:lpstr>
      <vt:lpstr>On a real Real architecture : one possible topology</vt:lpstr>
      <vt:lpstr>On a real Real architecture : one possible topology</vt:lpstr>
      <vt:lpstr>A mapping at the core of CPU/GPU communication: the kernel</vt:lpstr>
      <vt:lpstr>Writing your kernel : GPU technologies programming</vt:lpstr>
      <vt:lpstr>Writing your kernel : GPU technologies programming</vt:lpstr>
      <vt:lpstr>GPU computing at SCICORE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subject/>
  <dc:creator>Seb Boyer</dc:creator>
  <cp:keywords/>
  <dc:description/>
  <cp:lastModifiedBy>Rubén Martín</cp:lastModifiedBy>
  <cp:revision>40</cp:revision>
  <dcterms:created xsi:type="dcterms:W3CDTF">2020-06-05T09:34:45Z</dcterms:created>
  <dcterms:modified xsi:type="dcterms:W3CDTF">2020-09-24T11:42:55Z</dcterms:modified>
  <cp:category/>
  <dc:identifier/>
  <cp:contentStatus/>
  <dc:language/>
  <cp:version/>
</cp:coreProperties>
</file>