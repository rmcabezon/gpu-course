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462" autoAdjust="0"/>
  </p:normalViewPr>
  <p:slideViewPr>
    <p:cSldViewPr snapToGrid="0">
      <p:cViewPr varScale="1">
        <p:scale>
          <a:sx n="48" d="100"/>
          <a:sy n="48" d="100"/>
        </p:scale>
        <p:origin x="54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BE52-C1C2-498B-AFD9-81A4AEA019CC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B51C1-E11A-46BC-AA8A-CE42B96DDD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77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B51C1-E11A-46BC-AA8A-CE42B96DDD2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861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6E7BD-DD86-491D-BD3B-5E7B9D9B6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18DBA3-26F2-4EEE-AD91-2DF9958F9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D2C7CD-4CD5-40F0-8180-F63ECCE3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B6D01C-5BF0-48DD-A76C-A51FE76E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258036-8BE5-42FD-A010-60312069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673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2D00D-69BB-48E4-A678-9C0A6DB8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BD8501-5E75-40A4-AE7F-AF4CFC7AC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9FA961-179C-4987-ABAE-808301706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C8538-37CA-4E6D-B717-4AE8DBD3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579B2B-C68F-43DC-AFF6-DCC21A1F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0687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7B2CA-C7E0-4045-A049-367AD7A2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EBA5EA-734F-4444-A857-96C3D62B5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365B48-BD57-46E2-8B83-4D3487A4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50BBA-B2A7-4C44-B20B-B0FE0F20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92A6F5-00A8-4927-B5FA-5F1B0D81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853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66F8C-F3BC-4237-B7C5-795BD95B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5D5861-55A4-41F1-B5E3-77465D87F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C2FC5D-97D8-4D3C-B65B-8D64C6612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DCFC01-848B-4B7E-AB64-73E7BE5E9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33E234-6D83-4281-A664-12C84AFF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7D6C94-8482-47F8-BDAA-70ECA4171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909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B503C-F3C6-4B3C-835D-485AD8FA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2471E1-85B2-441B-B0B4-F40D4909F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55546E-A95D-496C-8260-6A43994B3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C0C84E-A36E-4231-AD7F-54D7E1039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693E3D-58D9-4088-BE60-5C90264A6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021084-5ADD-4A67-8984-DD2C8E17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3BCAAD9-0062-4C06-9E05-07F12FA14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B20C69-A14A-4C7A-B495-714A8377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926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D3262-C683-474E-81ED-B3850D2B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CF09E46-68E7-4112-85EC-CB1077315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94F4F6-83A5-42F3-9D2E-F37F71ED2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BD842F-AF54-4DAC-A3A0-59E2633E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56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C59AC4D-D979-40E4-B71F-042C0E06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8D8EF79-7FF5-465C-AFCD-E53F167A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7FBD8E-2CCE-4775-85F0-0B4F099F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417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67B28-3FC7-4E3D-AD0B-8AFC6A1F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9CB70B-AA66-4323-AB97-93207EA39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8C0465-7A6B-4DAA-B3EE-1409542F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803D6C-6D2C-4277-AE18-D43E27EB5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A755EB-0DFA-4882-9B25-29B5E0C0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5C4D97-041A-4E0B-B3A4-A68F5058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04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81A76-F03C-4B7C-B9F9-3DA34AC1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BED3B5-DA43-4CBA-B4E6-340A0B1C59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3525A8-F4B0-44AC-84BB-4D69135A8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1D9750-30B8-4B98-AAB3-578FCB12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8112A0-D65A-4642-BA43-08CBBE622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69A22B-E018-4C4A-8C8B-BCE86F63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864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B9B1E-CD0E-4DF5-B06C-26736D08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0B4E32-4A60-4064-A81B-FEA7B7BC6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0D9754-959A-4DA1-83E1-FA2B8F53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CEBB3-E079-464C-95B0-82079569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74C51B-8FCF-48EE-9CF2-AE5E02081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7666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8F9CCE-5F3F-4655-9955-977C48E93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E53830-F29F-4C9E-8E48-1B662A55C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180396-9C5B-4679-843D-F2297CA5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468160-B392-4736-8B94-0EB33277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38C105-8E43-44D2-8DD6-9896B9AD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03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075A5C-497D-4F98-B2FD-823137D49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9941CE-7E37-406D-843E-EE84F536E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84EE31-64C1-45CC-B5E0-5D83A60B8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DF0C2-F3B6-4A40-A43A-E997193919BB}" type="datetimeFigureOut">
              <a:rPr lang="es-ES" smtClean="0"/>
              <a:t>01/09/2020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F46294-B219-4B5B-B6CA-AFBFAF48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44F1F5-A149-4203-8764-AB4219F7F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5013D-160D-4868-8CDD-75BA3018DE5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4432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A97B4A5-ABE6-4AA1-9CA0-5F5F059F2477}"/>
              </a:ext>
            </a:extLst>
          </p:cNvPr>
          <p:cNvSpPr txBox="1"/>
          <p:nvPr/>
        </p:nvSpPr>
        <p:spPr>
          <a:xfrm>
            <a:off x="457200" y="336430"/>
            <a:ext cx="8822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Up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now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linearized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2D matrices and </a:t>
            </a:r>
            <a:r>
              <a:rPr lang="es-ES" dirty="0" err="1"/>
              <a:t>mapped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multiplication</a:t>
            </a:r>
            <a:r>
              <a:rPr lang="es-ES" dirty="0"/>
              <a:t> onto </a:t>
            </a:r>
            <a:r>
              <a:rPr lang="es-ES" dirty="0" err="1"/>
              <a:t>the</a:t>
            </a:r>
            <a:r>
              <a:rPr lang="es-ES" dirty="0"/>
              <a:t> GPU.</a:t>
            </a:r>
          </a:p>
          <a:p>
            <a:r>
              <a:rPr lang="es-ES" dirty="0" err="1"/>
              <a:t>Now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are </a:t>
            </a:r>
            <a:r>
              <a:rPr lang="es-ES" dirty="0" err="1"/>
              <a:t>going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perform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multiplication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blocks: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7B6EE0-E91D-4EE0-9CCF-C0811C20BBCB}"/>
              </a:ext>
            </a:extLst>
          </p:cNvPr>
          <p:cNvSpPr txBox="1"/>
          <p:nvPr/>
        </p:nvSpPr>
        <p:spPr>
          <a:xfrm>
            <a:off x="3124939" y="6269485"/>
            <a:ext cx="22813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/>
              <a:t>Source</a:t>
            </a:r>
            <a:r>
              <a:rPr lang="es-ES" sz="1100" dirty="0"/>
              <a:t>: </a:t>
            </a:r>
            <a:r>
              <a:rPr lang="es-ES" sz="1100" dirty="0" err="1"/>
              <a:t>Nvidia</a:t>
            </a:r>
            <a:r>
              <a:rPr lang="es-ES" sz="1100" dirty="0"/>
              <a:t> CUDA </a:t>
            </a:r>
            <a:r>
              <a:rPr lang="es-ES" sz="1100" dirty="0" err="1"/>
              <a:t>documentation</a:t>
            </a:r>
            <a:endParaRPr lang="es-ES" sz="11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0EFDF0-5604-406C-9E17-FC9F04961B88}"/>
              </a:ext>
            </a:extLst>
          </p:cNvPr>
          <p:cNvSpPr txBox="1"/>
          <p:nvPr/>
        </p:nvSpPr>
        <p:spPr>
          <a:xfrm>
            <a:off x="5459827" y="1345720"/>
            <a:ext cx="6017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s-ES" dirty="0" err="1"/>
              <a:t>Each</a:t>
            </a:r>
            <a:r>
              <a:rPr lang="es-ES" dirty="0"/>
              <a:t> block computes a </a:t>
            </a:r>
            <a:r>
              <a:rPr lang="es-ES" dirty="0" err="1"/>
              <a:t>sub-matrix</a:t>
            </a:r>
            <a:r>
              <a:rPr lang="es-ES" dirty="0"/>
              <a:t> </a:t>
            </a:r>
            <a:r>
              <a:rPr lang="es-ES" dirty="0" err="1"/>
              <a:t>C</a:t>
            </a:r>
            <a:r>
              <a:rPr lang="es-ES" baseline="-25000" dirty="0" err="1"/>
              <a:t>sub</a:t>
            </a:r>
            <a:endParaRPr lang="es-ES" baseline="-25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thread</a:t>
            </a:r>
            <a:r>
              <a:rPr lang="es-ES" dirty="0"/>
              <a:t> </a:t>
            </a:r>
            <a:r>
              <a:rPr lang="es-ES" dirty="0" err="1"/>
              <a:t>within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block computes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element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</a:t>
            </a:r>
            <a:r>
              <a:rPr lang="es-ES" baseline="-25000" dirty="0" err="1"/>
              <a:t>sub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80D4D77-FA98-42C6-872C-D160F3B7F607}"/>
              </a:ext>
            </a:extLst>
          </p:cNvPr>
          <p:cNvSpPr txBox="1"/>
          <p:nvPr/>
        </p:nvSpPr>
        <p:spPr>
          <a:xfrm>
            <a:off x="5585327" y="2217652"/>
            <a:ext cx="6149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BLOCK_SIZE = 16 (</a:t>
            </a:r>
            <a:r>
              <a:rPr lang="es-ES" dirty="0" err="1"/>
              <a:t>or</a:t>
            </a:r>
            <a:r>
              <a:rPr lang="es-ES" dirty="0"/>
              <a:t> 32), so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#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threads</a:t>
            </a:r>
            <a:r>
              <a:rPr lang="es-ES" dirty="0"/>
              <a:t>/block </a:t>
            </a:r>
            <a:r>
              <a:rPr lang="es-ES" dirty="0" err="1"/>
              <a:t>is</a:t>
            </a:r>
            <a:r>
              <a:rPr lang="es-ES" dirty="0"/>
              <a:t> a </a:t>
            </a:r>
            <a:r>
              <a:rPr lang="es-ES" dirty="0" err="1"/>
              <a:t>multiple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warp</a:t>
            </a:r>
            <a:r>
              <a:rPr lang="es-ES" dirty="0"/>
              <a:t> </a:t>
            </a:r>
            <a:r>
              <a:rPr lang="es-ES" dirty="0" err="1"/>
              <a:t>size</a:t>
            </a:r>
            <a:r>
              <a:rPr lang="es-ES" dirty="0"/>
              <a:t> (w) and </a:t>
            </a:r>
            <a:r>
              <a:rPr lang="es-ES" dirty="0" err="1"/>
              <a:t>remains</a:t>
            </a:r>
            <a:r>
              <a:rPr lang="es-ES" dirty="0"/>
              <a:t> </a:t>
            </a:r>
            <a:r>
              <a:rPr lang="es-ES" dirty="0" err="1"/>
              <a:t>below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max</a:t>
            </a:r>
            <a:r>
              <a:rPr lang="es-ES" dirty="0"/>
              <a:t> #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threads</a:t>
            </a:r>
            <a:r>
              <a:rPr lang="es-ES" dirty="0"/>
              <a:t>/block.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F3C2832-EC14-4C32-916A-007A1DDA4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627" y="3271143"/>
            <a:ext cx="5132496" cy="1731183"/>
          </a:xfrm>
          <a:prstGeom prst="rect">
            <a:avLst/>
          </a:prstGeom>
          <a:solidFill>
            <a:srgbClr val="EAEF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174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__global__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simpleMultiply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*a,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 b,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*c,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col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sum = 0.0f;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i = 0; i &lt; TILE_DIM;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 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sum += a[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TILE_DIM+i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* b[i*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c[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= sum;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496E144-4553-41B0-A509-1B9286C39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872" y="4136734"/>
            <a:ext cx="2753109" cy="270547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635D2C8-3C1E-413F-B983-A21A99D9E18E}"/>
              </a:ext>
            </a:extLst>
          </p:cNvPr>
          <p:cNvSpPr txBox="1"/>
          <p:nvPr/>
        </p:nvSpPr>
        <p:spPr>
          <a:xfrm>
            <a:off x="5459827" y="5788231"/>
            <a:ext cx="3848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Effective</a:t>
            </a:r>
            <a:r>
              <a:rPr lang="es-ES" dirty="0"/>
              <a:t> BW: 119,9 GB/s </a:t>
            </a:r>
            <a:r>
              <a:rPr lang="es-ES" dirty="0" err="1"/>
              <a:t>on</a:t>
            </a:r>
            <a:r>
              <a:rPr lang="es-ES" dirty="0"/>
              <a:t> Tesla V100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790157C-009B-4E79-8C19-CDA95D523CAA}"/>
              </a:ext>
            </a:extLst>
          </p:cNvPr>
          <p:cNvSpPr txBox="1"/>
          <p:nvPr/>
        </p:nvSpPr>
        <p:spPr>
          <a:xfrm>
            <a:off x="5644429" y="5082125"/>
            <a:ext cx="2824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/>
              <a:t>blockDim.x</a:t>
            </a:r>
            <a:r>
              <a:rPr lang="es-ES" sz="1200" dirty="0"/>
              <a:t>, </a:t>
            </a:r>
            <a:r>
              <a:rPr lang="es-ES" sz="1200" dirty="0" err="1"/>
              <a:t>blockDim.y</a:t>
            </a:r>
            <a:r>
              <a:rPr lang="es-ES" sz="1200" dirty="0"/>
              <a:t>, and TILE_DIM = w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E18EEA4-CF68-4A2C-836A-86595277A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45720"/>
            <a:ext cx="4949133" cy="49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793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A97B4A5-ABE6-4AA1-9CA0-5F5F059F2477}"/>
              </a:ext>
            </a:extLst>
          </p:cNvPr>
          <p:cNvSpPr txBox="1"/>
          <p:nvPr/>
        </p:nvSpPr>
        <p:spPr>
          <a:xfrm>
            <a:off x="457200" y="336430"/>
            <a:ext cx="4707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Let’s</a:t>
            </a:r>
            <a:r>
              <a:rPr lang="es-ES" dirty="0"/>
              <a:t> </a:t>
            </a:r>
            <a:r>
              <a:rPr lang="es-ES" dirty="0" err="1"/>
              <a:t>analyze</a:t>
            </a:r>
            <a:r>
              <a:rPr lang="es-ES" dirty="0"/>
              <a:t> </a:t>
            </a:r>
            <a:r>
              <a:rPr lang="es-ES" dirty="0" err="1"/>
              <a:t>how</a:t>
            </a:r>
            <a:r>
              <a:rPr lang="es-ES" dirty="0"/>
              <a:t> data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accessed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warps</a:t>
            </a:r>
            <a:r>
              <a:rPr lang="es-ES" dirty="0"/>
              <a:t>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7B6EE0-E91D-4EE0-9CCF-C0811C20BBCB}"/>
              </a:ext>
            </a:extLst>
          </p:cNvPr>
          <p:cNvSpPr txBox="1"/>
          <p:nvPr/>
        </p:nvSpPr>
        <p:spPr>
          <a:xfrm rot="16200000">
            <a:off x="-599147" y="2086184"/>
            <a:ext cx="22813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/>
              <a:t>Source</a:t>
            </a:r>
            <a:r>
              <a:rPr lang="es-ES" sz="1100" dirty="0"/>
              <a:t>: </a:t>
            </a:r>
            <a:r>
              <a:rPr lang="es-ES" sz="1100" dirty="0" err="1"/>
              <a:t>Nvidia</a:t>
            </a:r>
            <a:r>
              <a:rPr lang="es-ES" sz="1100" dirty="0"/>
              <a:t> CUDA </a:t>
            </a:r>
            <a:r>
              <a:rPr lang="es-ES" sz="1100" dirty="0" err="1"/>
              <a:t>documentation</a:t>
            </a:r>
            <a:endParaRPr lang="es-ES" sz="11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0EFDF0-5604-406C-9E17-FC9F04961B88}"/>
              </a:ext>
            </a:extLst>
          </p:cNvPr>
          <p:cNvSpPr txBox="1"/>
          <p:nvPr/>
        </p:nvSpPr>
        <p:spPr>
          <a:xfrm>
            <a:off x="3631027" y="925723"/>
            <a:ext cx="8103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row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</a:t>
            </a:r>
            <a:r>
              <a:rPr lang="es-ES" baseline="-25000" dirty="0" err="1"/>
              <a:t>sub</a:t>
            </a:r>
            <a:r>
              <a:rPr lang="es-ES" dirty="0"/>
              <a:t> </a:t>
            </a:r>
            <a:r>
              <a:rPr lang="es-ES" dirty="0" err="1"/>
              <a:t>needs</a:t>
            </a:r>
            <a:r>
              <a:rPr lang="es-ES" dirty="0"/>
              <a:t> a </a:t>
            </a:r>
            <a:r>
              <a:rPr lang="es-ES" dirty="0" err="1"/>
              <a:t>row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A tile and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columns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B tile.</a:t>
            </a:r>
          </a:p>
          <a:p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iteration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i,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warp</a:t>
            </a:r>
            <a:r>
              <a:rPr lang="es-ES" dirty="0"/>
              <a:t> </a:t>
            </a:r>
            <a:r>
              <a:rPr lang="es-ES" dirty="0" err="1"/>
              <a:t>reads</a:t>
            </a:r>
            <a:r>
              <a:rPr lang="es-ES" dirty="0"/>
              <a:t> a full </a:t>
            </a:r>
            <a:r>
              <a:rPr lang="es-ES" dirty="0" err="1"/>
              <a:t>row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B tile (</a:t>
            </a:r>
            <a:r>
              <a:rPr lang="es-ES" b="1" dirty="0">
                <a:solidFill>
                  <a:srgbClr val="00B050"/>
                </a:solidFill>
              </a:rPr>
              <a:t>Good</a:t>
            </a:r>
            <a:r>
              <a:rPr lang="es-ES" dirty="0"/>
              <a:t>),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threads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warp</a:t>
            </a:r>
            <a:r>
              <a:rPr lang="es-ES" dirty="0"/>
              <a:t> </a:t>
            </a:r>
            <a:r>
              <a:rPr lang="es-ES" dirty="0" err="1"/>
              <a:t>read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same</a:t>
            </a:r>
            <a:r>
              <a:rPr lang="es-ES" dirty="0"/>
              <a:t>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global </a:t>
            </a:r>
            <a:r>
              <a:rPr lang="es-ES" dirty="0" err="1"/>
              <a:t>memory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A tile (</a:t>
            </a:r>
            <a:r>
              <a:rPr lang="es-ES" b="1" dirty="0" err="1">
                <a:solidFill>
                  <a:srgbClr val="FF0000"/>
                </a:solidFill>
              </a:rPr>
              <a:t>Bad</a:t>
            </a:r>
            <a:r>
              <a:rPr lang="es-ES" dirty="0"/>
              <a:t>): </a:t>
            </a:r>
            <a:r>
              <a:rPr lang="es-ES" dirty="0" err="1"/>
              <a:t>wasted</a:t>
            </a:r>
            <a:r>
              <a:rPr lang="es-ES" dirty="0"/>
              <a:t> </a:t>
            </a:r>
            <a:r>
              <a:rPr lang="es-ES" dirty="0" err="1"/>
              <a:t>memory</a:t>
            </a:r>
            <a:r>
              <a:rPr lang="es-ES" dirty="0"/>
              <a:t> BW and </a:t>
            </a:r>
            <a:r>
              <a:rPr lang="es-ES" dirty="0" err="1"/>
              <a:t>likely</a:t>
            </a:r>
            <a:r>
              <a:rPr lang="es-ES" dirty="0"/>
              <a:t> cache miss.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F3C2832-EC14-4C32-916A-007A1DDA4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31" y="3490079"/>
            <a:ext cx="5132496" cy="1731183"/>
          </a:xfrm>
          <a:prstGeom prst="rect">
            <a:avLst/>
          </a:prstGeom>
          <a:solidFill>
            <a:srgbClr val="EAEF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174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__global__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simpleMultiply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*a,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 b,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*c,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col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sum = 0.0f;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i = 0; i &lt; TILE_DIM;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 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sum += a[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TILE_DIM+i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* b[i*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c[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= sum;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635D2C8-3C1E-413F-B983-A21A99D9E18E}"/>
              </a:ext>
            </a:extLst>
          </p:cNvPr>
          <p:cNvSpPr txBox="1"/>
          <p:nvPr/>
        </p:nvSpPr>
        <p:spPr>
          <a:xfrm>
            <a:off x="232220" y="5353655"/>
            <a:ext cx="3848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Effective</a:t>
            </a:r>
            <a:r>
              <a:rPr lang="es-ES" dirty="0"/>
              <a:t> BW: 119,9 GB/s </a:t>
            </a:r>
            <a:r>
              <a:rPr lang="es-ES" dirty="0" err="1"/>
              <a:t>on</a:t>
            </a:r>
            <a:r>
              <a:rPr lang="es-ES" dirty="0"/>
              <a:t> Tesla V100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39353A0-2749-4B32-AF17-C673D2140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90" y="771154"/>
            <a:ext cx="2743583" cy="265784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E3CB816-D68F-47B1-B369-C870348C9A11}"/>
              </a:ext>
            </a:extLst>
          </p:cNvPr>
          <p:cNvSpPr txBox="1"/>
          <p:nvPr/>
        </p:nvSpPr>
        <p:spPr>
          <a:xfrm>
            <a:off x="3629619" y="2247285"/>
            <a:ext cx="552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would</a:t>
            </a:r>
            <a:r>
              <a:rPr lang="es-ES" dirty="0"/>
              <a:t> be </a:t>
            </a:r>
            <a:r>
              <a:rPr lang="es-ES" dirty="0" err="1"/>
              <a:t>better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read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A tile </a:t>
            </a:r>
            <a:r>
              <a:rPr lang="es-ES" dirty="0" err="1"/>
              <a:t>into</a:t>
            </a:r>
            <a:r>
              <a:rPr lang="es-ES" dirty="0"/>
              <a:t> </a:t>
            </a:r>
            <a:r>
              <a:rPr lang="es-ES" dirty="0" err="1"/>
              <a:t>shared</a:t>
            </a:r>
            <a:r>
              <a:rPr lang="es-ES" dirty="0"/>
              <a:t> </a:t>
            </a:r>
            <a:r>
              <a:rPr lang="es-ES" dirty="0" err="1"/>
              <a:t>memory</a:t>
            </a:r>
            <a:r>
              <a:rPr lang="es-ES" dirty="0"/>
              <a:t>: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F4262FC-CEE2-4D2C-ADAC-05F73A38A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781" y="2867479"/>
            <a:ext cx="5132496" cy="2808401"/>
          </a:xfrm>
          <a:prstGeom prst="rect">
            <a:avLst/>
          </a:prstGeom>
          <a:solidFill>
            <a:srgbClr val="EAEF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174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__global__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coalescedMultiply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*a,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 b,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*c,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shared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aTile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[TILE_DIM][TILE_DIM];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col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sum = 0.0f;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000" dirty="0">
              <a:solidFill>
                <a:srgbClr val="2244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aTile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= a[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TILE_DIM+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000" dirty="0">
              <a:solidFill>
                <a:srgbClr val="2244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__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syncwarp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000" dirty="0">
              <a:solidFill>
                <a:srgbClr val="2244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i = 0; i &lt; TILE_DIM;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 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sum +=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aTile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][i]* b[i*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c[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= sum;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ADECF34-201F-439D-A99E-9E366ED561F7}"/>
              </a:ext>
            </a:extLst>
          </p:cNvPr>
          <p:cNvSpPr txBox="1"/>
          <p:nvPr/>
        </p:nvSpPr>
        <p:spPr>
          <a:xfrm>
            <a:off x="6139932" y="5772372"/>
            <a:ext cx="3848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Effective</a:t>
            </a:r>
            <a:r>
              <a:rPr lang="es-ES" dirty="0"/>
              <a:t> BW: 144,4 GB/s </a:t>
            </a:r>
            <a:r>
              <a:rPr lang="es-ES" dirty="0" err="1"/>
              <a:t>on</a:t>
            </a:r>
            <a:r>
              <a:rPr lang="es-ES" dirty="0"/>
              <a:t> Tesla V100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66C0E57-5B2C-4F01-A4D0-5E0E07EC9BA8}"/>
              </a:ext>
            </a:extLst>
          </p:cNvPr>
          <p:cNvSpPr txBox="1"/>
          <p:nvPr/>
        </p:nvSpPr>
        <p:spPr>
          <a:xfrm>
            <a:off x="2753642" y="6336904"/>
            <a:ext cx="668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element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tile A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read</a:t>
            </a:r>
            <a:r>
              <a:rPr lang="es-ES" dirty="0"/>
              <a:t> once w/o BW </a:t>
            </a:r>
            <a:r>
              <a:rPr lang="es-ES" dirty="0" err="1"/>
              <a:t>waste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shared</a:t>
            </a:r>
            <a:r>
              <a:rPr lang="es-ES" dirty="0"/>
              <a:t> </a:t>
            </a:r>
            <a:r>
              <a:rPr lang="es-ES" dirty="0" err="1"/>
              <a:t>memory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32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A97B4A5-ABE6-4AA1-9CA0-5F5F059F2477}"/>
              </a:ext>
            </a:extLst>
          </p:cNvPr>
          <p:cNvSpPr txBox="1"/>
          <p:nvPr/>
        </p:nvSpPr>
        <p:spPr>
          <a:xfrm>
            <a:off x="457200" y="336430"/>
            <a:ext cx="7373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You</a:t>
            </a:r>
            <a:r>
              <a:rPr lang="es-ES" dirty="0"/>
              <a:t> can </a:t>
            </a:r>
            <a:r>
              <a:rPr lang="es-ES" dirty="0" err="1"/>
              <a:t>optimize</a:t>
            </a:r>
            <a:r>
              <a:rPr lang="es-ES" dirty="0"/>
              <a:t> </a:t>
            </a:r>
            <a:r>
              <a:rPr lang="es-ES" dirty="0" err="1"/>
              <a:t>further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load </a:t>
            </a:r>
            <a:r>
              <a:rPr lang="es-ES" dirty="0" err="1"/>
              <a:t>additional</a:t>
            </a:r>
            <a:r>
              <a:rPr lang="es-ES" dirty="0"/>
              <a:t> data </a:t>
            </a:r>
            <a:r>
              <a:rPr lang="es-ES" dirty="0" err="1"/>
              <a:t>into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shared</a:t>
            </a:r>
            <a:r>
              <a:rPr lang="es-ES" dirty="0"/>
              <a:t> </a:t>
            </a:r>
            <a:r>
              <a:rPr lang="es-ES" dirty="0" err="1"/>
              <a:t>memory</a:t>
            </a:r>
            <a:r>
              <a:rPr lang="es-ES" dirty="0"/>
              <a:t>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7B6EE0-E91D-4EE0-9CCF-C0811C20BBCB}"/>
              </a:ext>
            </a:extLst>
          </p:cNvPr>
          <p:cNvSpPr txBox="1"/>
          <p:nvPr/>
        </p:nvSpPr>
        <p:spPr>
          <a:xfrm rot="16200000">
            <a:off x="-599147" y="2086184"/>
            <a:ext cx="22813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/>
              <a:t>Source</a:t>
            </a:r>
            <a:r>
              <a:rPr lang="es-ES" sz="1100" dirty="0"/>
              <a:t>: </a:t>
            </a:r>
            <a:r>
              <a:rPr lang="es-ES" sz="1100" dirty="0" err="1"/>
              <a:t>Nvidia</a:t>
            </a:r>
            <a:r>
              <a:rPr lang="es-ES" sz="1100" dirty="0"/>
              <a:t> CUDA </a:t>
            </a:r>
            <a:r>
              <a:rPr lang="es-ES" sz="1100" dirty="0" err="1"/>
              <a:t>documentation</a:t>
            </a:r>
            <a:endParaRPr lang="es-ES" sz="11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F3C2832-EC14-4C32-916A-007A1DDA4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820" y="900962"/>
            <a:ext cx="5132496" cy="1731183"/>
          </a:xfrm>
          <a:prstGeom prst="rect">
            <a:avLst/>
          </a:prstGeom>
          <a:solidFill>
            <a:srgbClr val="EAEF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174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__global__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simpleMultiply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*a,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 b,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*c,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col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sum = 0.0f;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i = 0; i &lt; TILE_DIM;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 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sum += a[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TILE_DIM+i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* b[i*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c[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= sum;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635D2C8-3C1E-413F-B983-A21A99D9E18E}"/>
              </a:ext>
            </a:extLst>
          </p:cNvPr>
          <p:cNvSpPr txBox="1"/>
          <p:nvPr/>
        </p:nvSpPr>
        <p:spPr>
          <a:xfrm>
            <a:off x="6095999" y="830434"/>
            <a:ext cx="3848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Effective</a:t>
            </a:r>
            <a:r>
              <a:rPr lang="es-ES" dirty="0"/>
              <a:t> BW: 119,9 GB/s </a:t>
            </a:r>
            <a:r>
              <a:rPr lang="es-ES" dirty="0" err="1"/>
              <a:t>on</a:t>
            </a:r>
            <a:r>
              <a:rPr lang="es-ES" dirty="0"/>
              <a:t> Tesla V100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F4262FC-CEE2-4D2C-ADAC-05F73A38A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430" y="1424354"/>
            <a:ext cx="5132496" cy="2808401"/>
          </a:xfrm>
          <a:prstGeom prst="rect">
            <a:avLst/>
          </a:prstGeom>
          <a:solidFill>
            <a:srgbClr val="EAEF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174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__global__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coalescedMultiply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*a,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 b,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*c,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shared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aTile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[TILE_DIM][TILE_DIM];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col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sum = 0.0f;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000" dirty="0">
              <a:solidFill>
                <a:srgbClr val="2244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aTile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= a[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TILE_DIM+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000" dirty="0">
              <a:solidFill>
                <a:srgbClr val="2244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__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syncwarp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000" dirty="0">
              <a:solidFill>
                <a:srgbClr val="2244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i = 0; i &lt; TILE_DIM;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 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sum +=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aTile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][i]* b[i*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c[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= sum;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ADECF34-201F-439D-A99E-9E366ED561F7}"/>
              </a:ext>
            </a:extLst>
          </p:cNvPr>
          <p:cNvSpPr txBox="1"/>
          <p:nvPr/>
        </p:nvSpPr>
        <p:spPr>
          <a:xfrm>
            <a:off x="2563842" y="2856733"/>
            <a:ext cx="3848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Effective</a:t>
            </a:r>
            <a:r>
              <a:rPr lang="es-ES" dirty="0"/>
              <a:t> BW: 144,4 GB/s </a:t>
            </a:r>
            <a:r>
              <a:rPr lang="es-ES" dirty="0" err="1"/>
              <a:t>on</a:t>
            </a:r>
            <a:r>
              <a:rPr lang="es-ES" dirty="0"/>
              <a:t> Tesla V100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BF1BF8-32D9-446A-BFC3-631260118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031" y="3713134"/>
            <a:ext cx="5322830" cy="2962289"/>
          </a:xfrm>
          <a:prstGeom prst="rect">
            <a:avLst/>
          </a:prstGeom>
          <a:solidFill>
            <a:srgbClr val="EAEF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174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__global__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sharedABMultiply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*a,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 b,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*c,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shared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aTile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[TILE_DIM][TILE_DIM],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             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bTile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[TILE_DIM][TILE_DIM];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col 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blockDim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sum = 0.0f;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000" dirty="0">
              <a:solidFill>
                <a:srgbClr val="2244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aTile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= a[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TILE_DIM+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bTile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= b[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000" dirty="0">
              <a:solidFill>
                <a:srgbClr val="2244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__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syncthreads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000" dirty="0">
              <a:solidFill>
                <a:srgbClr val="2244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 i = 0; i &lt; TILE_DIM;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 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sum +=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aTile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][i]*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bTile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[i][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threadIdx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000" dirty="0">
                <a:solidFill>
                  <a:srgbClr val="224400"/>
                </a:solidFill>
                <a:latin typeface="Consolas" panose="020B0609020204030204" pitchFamily="49" charset="0"/>
              </a:rPr>
              <a:t>    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c[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N+col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] = sum;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rgbClr val="2244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s-ES" altLang="es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E7554E2-02E7-4EA6-BE59-FFB484C4FCF4}"/>
              </a:ext>
            </a:extLst>
          </p:cNvPr>
          <p:cNvSpPr txBox="1"/>
          <p:nvPr/>
        </p:nvSpPr>
        <p:spPr>
          <a:xfrm>
            <a:off x="6095999" y="4801077"/>
            <a:ext cx="3848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Effective</a:t>
            </a:r>
            <a:r>
              <a:rPr lang="es-ES" dirty="0"/>
              <a:t> BW: 195,5 GB/s </a:t>
            </a:r>
            <a:r>
              <a:rPr lang="es-ES" dirty="0" err="1"/>
              <a:t>on</a:t>
            </a:r>
            <a:r>
              <a:rPr lang="es-ES" dirty="0"/>
              <a:t> Tesla V100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70C3255E-2226-4627-8CE1-6DF1DC56D833}"/>
              </a:ext>
            </a:extLst>
          </p:cNvPr>
          <p:cNvCxnSpPr/>
          <p:nvPr/>
        </p:nvCxnSpPr>
        <p:spPr>
          <a:xfrm flipH="1">
            <a:off x="6050166" y="1199766"/>
            <a:ext cx="134596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B12FD9F-062F-4A8F-ABAB-578386AD602F}"/>
              </a:ext>
            </a:extLst>
          </p:cNvPr>
          <p:cNvCxnSpPr/>
          <p:nvPr/>
        </p:nvCxnSpPr>
        <p:spPr>
          <a:xfrm flipH="1">
            <a:off x="6050166" y="5194278"/>
            <a:ext cx="134596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0DEC45A-CBA4-4F70-B67F-5D1BB51524DB}"/>
              </a:ext>
            </a:extLst>
          </p:cNvPr>
          <p:cNvCxnSpPr>
            <a:cxnSpLocks/>
          </p:cNvCxnSpPr>
          <p:nvPr/>
        </p:nvCxnSpPr>
        <p:spPr>
          <a:xfrm>
            <a:off x="5075450" y="3226065"/>
            <a:ext cx="133726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8361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Panorámica</PresentationFormat>
  <Paragraphs>104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Rubén Martín</dc:creator>
  <cp:lastModifiedBy>Rubén Martín</cp:lastModifiedBy>
  <cp:revision>8</cp:revision>
  <dcterms:created xsi:type="dcterms:W3CDTF">2020-09-01T09:32:47Z</dcterms:created>
  <dcterms:modified xsi:type="dcterms:W3CDTF">2020-09-01T12:12:57Z</dcterms:modified>
</cp:coreProperties>
</file>