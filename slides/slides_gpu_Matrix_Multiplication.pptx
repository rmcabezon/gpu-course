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421" r:id="rId3"/>
    <p:sldId id="408" r:id="rId4"/>
    <p:sldId id="409" r:id="rId5"/>
    <p:sldId id="420" r:id="rId6"/>
    <p:sldId id="259" r:id="rId7"/>
    <p:sldId id="423" r:id="rId8"/>
    <p:sldId id="422" r:id="rId9"/>
    <p:sldId id="257" r:id="rId10"/>
    <p:sldId id="25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ubén Martín" initials="RM" lastIdx="2" clrIdx="0">
    <p:extLst>
      <p:ext uri="{19B8F6BF-5375-455C-9EA6-DF929625EA0E}">
        <p15:presenceInfo xmlns:p15="http://schemas.microsoft.com/office/powerpoint/2012/main" userId="7cfa1867aa0efb1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52515D-72C2-473A-9296-B252BB30E7C0}" v="17" dt="2020-09-15T18:33:29.8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615" autoAdjust="0"/>
  </p:normalViewPr>
  <p:slideViewPr>
    <p:cSldViewPr snapToGrid="0">
      <p:cViewPr varScale="1">
        <p:scale>
          <a:sx n="103" d="100"/>
          <a:sy n="103" d="100"/>
        </p:scale>
        <p:origin x="12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9-24T13:44:37.498" idx="1">
    <p:pos x="2849" y="251"/>
    <p:text>I would start with this and next two slides.</p:text>
    <p:extLst>
      <p:ext uri="{C676402C-5697-4E1C-873F-D02D1690AC5C}">
        <p15:threadingInfo xmlns:p15="http://schemas.microsoft.com/office/powerpoint/2012/main" timeZoneBias="-120"/>
      </p:ext>
    </p:extLst>
  </p:cm>
  <p:cm authorId="1" dt="2020-09-24T13:45:26.157" idx="2">
    <p:pos x="3813" y="269"/>
    <p:text>I would also refresh the concept of Kernel befor using it here.</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BCAD3-DEE0-4A52-BAA7-367ADE365FCC}" type="datetimeFigureOut">
              <a:rPr lang="en-US" smtClean="0"/>
              <a:t>9/24/2020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2BD07-5C84-45AF-B88C-7EBFB7C3B6BF}" type="slidenum">
              <a:rPr lang="en-US" smtClean="0"/>
              <a:t>‹Nº›</a:t>
            </a:fld>
            <a:endParaRPr lang="en-US"/>
          </a:p>
        </p:txBody>
      </p:sp>
    </p:spTree>
    <p:extLst>
      <p:ext uri="{BB962C8B-B14F-4D97-AF65-F5344CB8AC3E}">
        <p14:creationId xmlns:p14="http://schemas.microsoft.com/office/powerpoint/2010/main" val="2174902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8"/>
        <p:cNvGrpSpPr/>
        <p:nvPr/>
      </p:nvGrpSpPr>
      <p:grpSpPr>
        <a:xfrm>
          <a:off x="0" y="0"/>
          <a:ext cx="0" cy="0"/>
          <a:chOff x="0" y="0"/>
          <a:chExt cx="0" cy="0"/>
        </a:xfrm>
      </p:grpSpPr>
      <p:sp>
        <p:nvSpPr>
          <p:cNvPr id="2249" name="Google Shape;2249;g770d93b87d_2_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50" name="Google Shape;2250;g770d93b87d_2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2485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8"/>
        <p:cNvGrpSpPr/>
        <p:nvPr/>
      </p:nvGrpSpPr>
      <p:grpSpPr>
        <a:xfrm>
          <a:off x="0" y="0"/>
          <a:ext cx="0" cy="0"/>
          <a:chOff x="0" y="0"/>
          <a:chExt cx="0" cy="0"/>
        </a:xfrm>
      </p:grpSpPr>
      <p:sp>
        <p:nvSpPr>
          <p:cNvPr id="2249" name="Google Shape;2249;g770d93b87d_2_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0" name="Google Shape;2250;g770d93b87d_2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602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8"/>
        <p:cNvGrpSpPr/>
        <p:nvPr/>
      </p:nvGrpSpPr>
      <p:grpSpPr>
        <a:xfrm>
          <a:off x="0" y="0"/>
          <a:ext cx="0" cy="0"/>
          <a:chOff x="0" y="0"/>
          <a:chExt cx="0" cy="0"/>
        </a:xfrm>
      </p:grpSpPr>
      <p:sp>
        <p:nvSpPr>
          <p:cNvPr id="2249" name="Google Shape;2249;g770d93b87d_2_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0" name="Google Shape;2250;g770d93b87d_2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7150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8"/>
        <p:cNvGrpSpPr/>
        <p:nvPr/>
      </p:nvGrpSpPr>
      <p:grpSpPr>
        <a:xfrm>
          <a:off x="0" y="0"/>
          <a:ext cx="0" cy="0"/>
          <a:chOff x="0" y="0"/>
          <a:chExt cx="0" cy="0"/>
        </a:xfrm>
      </p:grpSpPr>
      <p:sp>
        <p:nvSpPr>
          <p:cNvPr id="2249" name="Google Shape;2249;g770d93b87d_2_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0" name="Google Shape;2250;g770d93b87d_2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3178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1865-6CF7-4DC8-A2C6-EF96A42D8E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33EB3D-8757-495D-BEB1-D53278E470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CFB210-2AFB-4BAB-8DD5-98FB9E2D8A18}"/>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5" name="Footer Placeholder 4">
            <a:extLst>
              <a:ext uri="{FF2B5EF4-FFF2-40B4-BE49-F238E27FC236}">
                <a16:creationId xmlns:a16="http://schemas.microsoft.com/office/drawing/2014/main" id="{71D506B4-4AFE-4AAF-802E-5B6429F26F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C95FCB-AF86-4383-9113-70B7669E619A}"/>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566255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E6687-BEE7-415C-85E8-AA98D6B1E7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1E0AAF-866C-4214-A2F2-C127ABDB15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6A589E-B086-4E74-A4A0-DE506BBDD16D}"/>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5" name="Footer Placeholder 4">
            <a:extLst>
              <a:ext uri="{FF2B5EF4-FFF2-40B4-BE49-F238E27FC236}">
                <a16:creationId xmlns:a16="http://schemas.microsoft.com/office/drawing/2014/main" id="{32C7915A-247A-44C6-BD9F-F0C3DA54B0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22B97F-841E-4A90-B333-EDB88AD1993C}"/>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191903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78589-BBC4-490E-9C96-A6E3DD4632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4D9ABF-A662-408F-906F-C1827C4E76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0146DF-881B-4E89-9523-2C476ABDFE6A}"/>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5" name="Footer Placeholder 4">
            <a:extLst>
              <a:ext uri="{FF2B5EF4-FFF2-40B4-BE49-F238E27FC236}">
                <a16:creationId xmlns:a16="http://schemas.microsoft.com/office/drawing/2014/main" id="{E0E9795D-0936-4D60-B6FC-55DEF05D6C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AFECC3-1DD1-4ED3-A3D8-2B96489AAAC7}"/>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1680910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AE806-2E28-4A2E-854E-B5D343F5D9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43DF32-950A-407B-8FC3-1D561C3479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215CC1-7680-49F9-B010-685349F28F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A1C8E1-D1F5-409F-8471-942FAC6945DE}"/>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6" name="Footer Placeholder 5">
            <a:extLst>
              <a:ext uri="{FF2B5EF4-FFF2-40B4-BE49-F238E27FC236}">
                <a16:creationId xmlns:a16="http://schemas.microsoft.com/office/drawing/2014/main" id="{8FDC5C1D-E5BE-4AED-9D25-1477C4753C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71823-27F3-4AD4-A894-31D97C1E19CE}"/>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4285428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5957A-FDE5-4C27-8882-174FC431DF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1EA488-C1F4-4B02-ACE8-C8DA79FE10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D128C7-E455-4FEA-8951-D7BCB457BA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0DE893-CF67-4501-9FF3-EFBDC5B4D6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BED89B-5DEB-4A43-9EE6-13BCBC16CB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054E7C-BBFE-4CFB-A5F8-3F4426B07C30}"/>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8" name="Footer Placeholder 7">
            <a:extLst>
              <a:ext uri="{FF2B5EF4-FFF2-40B4-BE49-F238E27FC236}">
                <a16:creationId xmlns:a16="http://schemas.microsoft.com/office/drawing/2014/main" id="{EA0E3FD5-3966-48FF-98DA-8179EE2C85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66240C-54FD-47B4-8BAA-17439648E173}"/>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1682456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4831A-2B41-4172-BE30-CDE2C89C1E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CDD41C-78D4-4714-9143-A9244C0D9EA7}"/>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4" name="Footer Placeholder 3">
            <a:extLst>
              <a:ext uri="{FF2B5EF4-FFF2-40B4-BE49-F238E27FC236}">
                <a16:creationId xmlns:a16="http://schemas.microsoft.com/office/drawing/2014/main" id="{620C2D20-4905-4DEA-9D0F-50DDDBDA67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8E0ED3-5E62-4E55-A3ED-BD8AAD4CA40A}"/>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2765068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FAE6DA-08CA-4FA6-A759-C7260AF62C62}"/>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3" name="Footer Placeholder 2">
            <a:extLst>
              <a:ext uri="{FF2B5EF4-FFF2-40B4-BE49-F238E27FC236}">
                <a16:creationId xmlns:a16="http://schemas.microsoft.com/office/drawing/2014/main" id="{919B3D28-A08E-4940-B4DA-8FD21E4773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7D5D2B-652C-40CF-8E9F-4DF0777DDEAB}"/>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67719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1EF5-773E-47EC-8681-F39F1E0FB9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093EF7-85C3-4602-9167-B51976A562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FC22A4-A296-40C0-812F-F1C64C1DEE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AFFE03-EE1A-4B7D-BB8F-A8C91CAFF791}"/>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6" name="Footer Placeholder 5">
            <a:extLst>
              <a:ext uri="{FF2B5EF4-FFF2-40B4-BE49-F238E27FC236}">
                <a16:creationId xmlns:a16="http://schemas.microsoft.com/office/drawing/2014/main" id="{01453767-F9A5-4C99-A852-AEF346A8D7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63DF2F-7A9E-4ABF-9865-084F379B2C1C}"/>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2276199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30D01-F119-465E-B1E1-69AC160818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4C2489-B0C3-470F-BDC5-72D61E6879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D30F41-2350-4AEE-853A-8459E1639C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8941B7-CA42-4722-B149-E967F843722E}"/>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6" name="Footer Placeholder 5">
            <a:extLst>
              <a:ext uri="{FF2B5EF4-FFF2-40B4-BE49-F238E27FC236}">
                <a16:creationId xmlns:a16="http://schemas.microsoft.com/office/drawing/2014/main" id="{17093E98-BE3E-440E-A7C5-E8ACEA55F0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60D5C-E179-4879-9A4B-981670D8136B}"/>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1467874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2ACED-2A65-4B3B-813F-CF9299147B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5B8768-D459-4ED6-84C3-0E49B34098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73B9E1-9E32-45A5-8E5E-324FCBC794CC}"/>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5" name="Footer Placeholder 4">
            <a:extLst>
              <a:ext uri="{FF2B5EF4-FFF2-40B4-BE49-F238E27FC236}">
                <a16:creationId xmlns:a16="http://schemas.microsoft.com/office/drawing/2014/main" id="{2462F4F1-F15C-46B2-9DF8-89528857D2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BB54B5-CFDB-497A-99F5-81C9DD49DEBB}"/>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3714750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4E57BB-8561-43E2-84D0-406CF52F05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9A859A-4657-4C0C-8381-A08993CDE5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7E1259-21BB-4EE0-91C1-770EC1D9DDB6}"/>
              </a:ext>
            </a:extLst>
          </p:cNvPr>
          <p:cNvSpPr>
            <a:spLocks noGrp="1"/>
          </p:cNvSpPr>
          <p:nvPr>
            <p:ph type="dt" sz="half" idx="10"/>
          </p:nvPr>
        </p:nvSpPr>
        <p:spPr/>
        <p:txBody>
          <a:bodyPr/>
          <a:lstStyle/>
          <a:p>
            <a:fld id="{866D0EA9-75B6-4DD6-8049-C9004FBFE56A}" type="datetimeFigureOut">
              <a:rPr lang="en-US" smtClean="0"/>
              <a:t>9/24/2020</a:t>
            </a:fld>
            <a:endParaRPr lang="en-US"/>
          </a:p>
        </p:txBody>
      </p:sp>
      <p:sp>
        <p:nvSpPr>
          <p:cNvPr id="5" name="Footer Placeholder 4">
            <a:extLst>
              <a:ext uri="{FF2B5EF4-FFF2-40B4-BE49-F238E27FC236}">
                <a16:creationId xmlns:a16="http://schemas.microsoft.com/office/drawing/2014/main" id="{31A42B4C-206D-461E-A776-5921E934B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3E8BB5-C690-470C-88FD-AC31C707CD89}"/>
              </a:ext>
            </a:extLst>
          </p:cNvPr>
          <p:cNvSpPr>
            <a:spLocks noGrp="1"/>
          </p:cNvSpPr>
          <p:nvPr>
            <p:ph type="sldNum" sz="quarter" idx="12"/>
          </p:nvPr>
        </p:nvSpPr>
        <p:spPr/>
        <p:txBody>
          <a:bodyPr/>
          <a:lstStyle/>
          <a:p>
            <a:fld id="{AD095564-349D-4FF9-B3DA-E000FB878BE6}" type="slidenum">
              <a:rPr lang="en-US" smtClean="0"/>
              <a:t>‹Nº›</a:t>
            </a:fld>
            <a:endParaRPr lang="en-US"/>
          </a:p>
        </p:txBody>
      </p:sp>
    </p:spTree>
    <p:extLst>
      <p:ext uri="{BB962C8B-B14F-4D97-AF65-F5344CB8AC3E}">
        <p14:creationId xmlns:p14="http://schemas.microsoft.com/office/powerpoint/2010/main" val="378453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141EAE-5031-4CED-8129-265DFDB296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C1CDB5-95AB-45A9-BFE7-98F56CB186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81433-5439-4E1C-974A-1172E549C8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6D0EA9-75B6-4DD6-8049-C9004FBFE56A}" type="datetimeFigureOut">
              <a:rPr lang="en-US" smtClean="0"/>
              <a:t>9/24/2020</a:t>
            </a:fld>
            <a:endParaRPr lang="en-US"/>
          </a:p>
        </p:txBody>
      </p:sp>
      <p:sp>
        <p:nvSpPr>
          <p:cNvPr id="5" name="Footer Placeholder 4">
            <a:extLst>
              <a:ext uri="{FF2B5EF4-FFF2-40B4-BE49-F238E27FC236}">
                <a16:creationId xmlns:a16="http://schemas.microsoft.com/office/drawing/2014/main" id="{E1746035-47AA-4254-B9C6-401036641D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AD0F83-EC0E-4B10-A3D3-B79048F55E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095564-349D-4FF9-B3DA-E000FB878BE6}" type="slidenum">
              <a:rPr lang="en-US" smtClean="0"/>
              <a:t>‹Nº›</a:t>
            </a:fld>
            <a:endParaRPr lang="en-US"/>
          </a:p>
        </p:txBody>
      </p:sp>
    </p:spTree>
    <p:extLst>
      <p:ext uri="{BB962C8B-B14F-4D97-AF65-F5344CB8AC3E}">
        <p14:creationId xmlns:p14="http://schemas.microsoft.com/office/powerpoint/2010/main" val="4292424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622F-F62D-4F0D-99B2-C7CCC3981BE4}"/>
              </a:ext>
            </a:extLst>
          </p:cNvPr>
          <p:cNvSpPr>
            <a:spLocks noGrp="1"/>
          </p:cNvSpPr>
          <p:nvPr>
            <p:ph type="ctrTitle"/>
          </p:nvPr>
        </p:nvSpPr>
        <p:spPr/>
        <p:txBody>
          <a:bodyPr/>
          <a:lstStyle/>
          <a:p>
            <a:r>
              <a:rPr lang="en-US" dirty="0"/>
              <a:t>Execution and Divergence</a:t>
            </a:r>
          </a:p>
        </p:txBody>
      </p:sp>
      <p:sp>
        <p:nvSpPr>
          <p:cNvPr id="3" name="Subtitle 2">
            <a:extLst>
              <a:ext uri="{FF2B5EF4-FFF2-40B4-BE49-F238E27FC236}">
                <a16:creationId xmlns:a16="http://schemas.microsoft.com/office/drawing/2014/main" id="{E967B1E2-AD28-4D51-91DF-EE76C7E9B36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41139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51"/>
        <p:cNvGrpSpPr/>
        <p:nvPr/>
      </p:nvGrpSpPr>
      <p:grpSpPr>
        <a:xfrm>
          <a:off x="0" y="0"/>
          <a:ext cx="0" cy="0"/>
          <a:chOff x="0" y="0"/>
          <a:chExt cx="0" cy="0"/>
        </a:xfrm>
      </p:grpSpPr>
      <p:sp>
        <p:nvSpPr>
          <p:cNvPr id="41" name="Google Shape;2219;g770d93b87d_1_3">
            <a:extLst>
              <a:ext uri="{FF2B5EF4-FFF2-40B4-BE49-F238E27FC236}">
                <a16:creationId xmlns:a16="http://schemas.microsoft.com/office/drawing/2014/main" id="{8323146D-D72C-45EA-A404-7E0835153427}"/>
              </a:ext>
            </a:extLst>
          </p:cNvPr>
          <p:cNvSpPr txBox="1"/>
          <p:nvPr/>
        </p:nvSpPr>
        <p:spPr>
          <a:xfrm>
            <a:off x="373495" y="407310"/>
            <a:ext cx="4295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solidFill>
                  <a:srgbClr val="FF0000"/>
                </a:solidFill>
                <a:latin typeface="Calibri"/>
                <a:ea typeface="Calibri"/>
                <a:cs typeface="Calibri"/>
                <a:sym typeface="Calibri"/>
              </a:rPr>
              <a:t>Example</a:t>
            </a:r>
            <a:r>
              <a:rPr lang="en-US" sz="1800" dirty="0">
                <a:solidFill>
                  <a:schemeClr val="dk1"/>
                </a:solidFill>
                <a:latin typeface="Calibri"/>
                <a:ea typeface="Calibri"/>
                <a:cs typeface="Calibri"/>
                <a:sym typeface="Calibri"/>
              </a:rPr>
              <a:t>: matrix multiplication </a:t>
            </a:r>
            <a:endParaRPr sz="1800" dirty="0">
              <a:solidFill>
                <a:schemeClr val="dk1"/>
              </a:solidFill>
              <a:latin typeface="Calibri"/>
              <a:ea typeface="Calibri"/>
              <a:cs typeface="Calibri"/>
              <a:sym typeface="Calibri"/>
            </a:endParaRPr>
          </a:p>
        </p:txBody>
      </p:sp>
      <p:sp>
        <p:nvSpPr>
          <p:cNvPr id="42" name="Google Shape;2220;g770d93b87d_1_3">
            <a:extLst>
              <a:ext uri="{FF2B5EF4-FFF2-40B4-BE49-F238E27FC236}">
                <a16:creationId xmlns:a16="http://schemas.microsoft.com/office/drawing/2014/main" id="{60E3463B-31EA-4BDE-9D21-3B29D79DDCB0}"/>
              </a:ext>
            </a:extLst>
          </p:cNvPr>
          <p:cNvSpPr/>
          <p:nvPr/>
        </p:nvSpPr>
        <p:spPr>
          <a:xfrm>
            <a:off x="3708734" y="2100387"/>
            <a:ext cx="5667300" cy="1369697"/>
          </a:xfrm>
          <a:prstGeom prst="roundRect">
            <a:avLst>
              <a:gd name="adj" fmla="val 10241"/>
            </a:avLst>
          </a:prstGeom>
          <a:solidFill>
            <a:schemeClr val="dk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100"/>
              <a:buFont typeface="Arial"/>
              <a:buNone/>
            </a:pPr>
            <a:r>
              <a:rPr lang="en-US" sz="1600" dirty="0">
                <a:solidFill>
                  <a:srgbClr val="00FF00"/>
                </a:solidFill>
                <a:latin typeface="Consolas"/>
                <a:ea typeface="Consolas"/>
                <a:cs typeface="Consolas"/>
                <a:sym typeface="Consolas"/>
              </a:rPr>
              <a:t>for(int </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=0; </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&lt;n; ++</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a:t>
            </a:r>
            <a:endParaRPr sz="1600" dirty="0">
              <a:solidFill>
                <a:srgbClr val="00FF00"/>
              </a:solidFill>
              <a:latin typeface="Consolas"/>
              <a:ea typeface="Consolas"/>
              <a:cs typeface="Consolas"/>
              <a:sym typeface="Consolas"/>
            </a:endParaRPr>
          </a:p>
          <a:p>
            <a:pPr marL="0" marR="0" lvl="0" indent="0" algn="l" rtl="0">
              <a:spcBef>
                <a:spcPts val="0"/>
              </a:spcBef>
              <a:spcAft>
                <a:spcPts val="0"/>
              </a:spcAft>
              <a:buClr>
                <a:schemeClr val="dk1"/>
              </a:buClr>
              <a:buSzPts val="1100"/>
              <a:buFont typeface="Arial"/>
              <a:buNone/>
            </a:pPr>
            <a:r>
              <a:rPr lang="en-US" sz="1600" dirty="0">
                <a:solidFill>
                  <a:srgbClr val="00FF00"/>
                </a:solidFill>
                <a:latin typeface="Consolas"/>
                <a:ea typeface="Consolas"/>
                <a:cs typeface="Consolas"/>
                <a:sym typeface="Consolas"/>
              </a:rPr>
              <a:t>   for(int </a:t>
            </a:r>
            <a:r>
              <a:rPr lang="en-US" sz="1600" dirty="0">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=0; </a:t>
            </a:r>
            <a:r>
              <a:rPr lang="en-US" sz="1600" dirty="0">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&lt;n; ++</a:t>
            </a:r>
            <a:r>
              <a:rPr lang="en-US" sz="1600" dirty="0">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a:t>
            </a:r>
            <a:endParaRPr sz="1600" dirty="0">
              <a:solidFill>
                <a:srgbClr val="00FF00"/>
              </a:solidFill>
              <a:latin typeface="Consolas"/>
              <a:ea typeface="Consolas"/>
              <a:cs typeface="Consolas"/>
              <a:sym typeface="Consolas"/>
            </a:endParaRPr>
          </a:p>
          <a:p>
            <a:pPr marL="0" marR="0" lvl="0" indent="0" algn="l" rtl="0">
              <a:spcBef>
                <a:spcPts val="0"/>
              </a:spcBef>
              <a:spcAft>
                <a:spcPts val="0"/>
              </a:spcAft>
              <a:buClr>
                <a:schemeClr val="dk1"/>
              </a:buClr>
              <a:buSzPts val="1100"/>
              <a:buFont typeface="Arial"/>
              <a:buNone/>
            </a:pPr>
            <a:r>
              <a:rPr lang="en-US" sz="1600" dirty="0">
                <a:solidFill>
                  <a:srgbClr val="00FF00"/>
                </a:solidFill>
                <a:latin typeface="Consolas"/>
                <a:ea typeface="Consolas"/>
                <a:cs typeface="Consolas"/>
                <a:sym typeface="Consolas"/>
              </a:rPr>
              <a:t>      for(int </a:t>
            </a:r>
            <a:r>
              <a:rPr lang="en-US" sz="1600" dirty="0">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=0; </a:t>
            </a:r>
            <a:r>
              <a:rPr lang="en-US" sz="1600" dirty="0">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&lt;n; ++</a:t>
            </a:r>
            <a:r>
              <a:rPr lang="en-US" sz="1600" dirty="0">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a:t>
            </a:r>
            <a:endParaRPr sz="1600" dirty="0">
              <a:solidFill>
                <a:srgbClr val="00FF00"/>
              </a:solidFill>
              <a:latin typeface="Consolas"/>
              <a:ea typeface="Consolas"/>
              <a:cs typeface="Consolas"/>
              <a:sym typeface="Consolas"/>
            </a:endParaRPr>
          </a:p>
          <a:p>
            <a:pPr marL="0" marR="0" lvl="0" indent="0" algn="l" rtl="0">
              <a:spcBef>
                <a:spcPts val="0"/>
              </a:spcBef>
              <a:spcAft>
                <a:spcPts val="0"/>
              </a:spcAft>
              <a:buSzPts val="1100"/>
              <a:buNone/>
            </a:pPr>
            <a:r>
              <a:rPr lang="en-US" sz="1600" dirty="0">
                <a:solidFill>
                  <a:srgbClr val="00FF00"/>
                </a:solidFill>
                <a:latin typeface="Consolas"/>
                <a:ea typeface="Consolas"/>
                <a:cs typeface="Consolas"/>
                <a:sym typeface="Consolas"/>
              </a:rPr>
              <a:t>          c[</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a:t>
            </a:r>
            <a:r>
              <a:rPr lang="en-US" sz="1600" dirty="0" err="1">
                <a:solidFill>
                  <a:srgbClr val="00FF00"/>
                </a:solidFill>
                <a:latin typeface="Consolas"/>
                <a:ea typeface="Consolas"/>
                <a:cs typeface="Consolas"/>
                <a:sym typeface="Consolas"/>
              </a:rPr>
              <a:t>n+</a:t>
            </a:r>
            <a:r>
              <a:rPr lang="en-US" sz="1600" dirty="0" err="1">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 += a[</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a:t>
            </a:r>
            <a:r>
              <a:rPr lang="en-US" sz="1600" dirty="0" err="1">
                <a:solidFill>
                  <a:srgbClr val="00FF00"/>
                </a:solidFill>
                <a:latin typeface="Consolas"/>
                <a:ea typeface="Consolas"/>
                <a:cs typeface="Consolas"/>
                <a:sym typeface="Consolas"/>
              </a:rPr>
              <a:t>n+</a:t>
            </a:r>
            <a:r>
              <a:rPr lang="en-US" sz="1600" dirty="0" err="1">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 * b[</a:t>
            </a:r>
            <a:r>
              <a:rPr lang="en-US" sz="1600" dirty="0">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a:t>
            </a:r>
            <a:r>
              <a:rPr lang="en-US" sz="1600" dirty="0" err="1">
                <a:solidFill>
                  <a:srgbClr val="00FF00"/>
                </a:solidFill>
                <a:latin typeface="Consolas"/>
                <a:ea typeface="Consolas"/>
                <a:cs typeface="Consolas"/>
                <a:sym typeface="Consolas"/>
              </a:rPr>
              <a:t>n+</a:t>
            </a:r>
            <a:r>
              <a:rPr lang="en-US" sz="1600" dirty="0" err="1">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a:t>
            </a:r>
            <a:endParaRPr sz="1600" dirty="0">
              <a:solidFill>
                <a:srgbClr val="00FF00"/>
              </a:solidFill>
              <a:latin typeface="Consolas"/>
              <a:ea typeface="Consolas"/>
              <a:cs typeface="Consolas"/>
              <a:sym typeface="Consolas"/>
            </a:endParaRPr>
          </a:p>
        </p:txBody>
      </p:sp>
      <p:sp>
        <p:nvSpPr>
          <p:cNvPr id="43" name="Google Shape;2221;g770d93b87d_1_3">
            <a:extLst>
              <a:ext uri="{FF2B5EF4-FFF2-40B4-BE49-F238E27FC236}">
                <a16:creationId xmlns:a16="http://schemas.microsoft.com/office/drawing/2014/main" id="{4EE3ED3A-DBBC-46F9-8FCC-FC08D91EBF94}"/>
              </a:ext>
            </a:extLst>
          </p:cNvPr>
          <p:cNvSpPr txBox="1"/>
          <p:nvPr/>
        </p:nvSpPr>
        <p:spPr>
          <a:xfrm>
            <a:off x="3708734" y="1611375"/>
            <a:ext cx="5486400"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US" sz="1800" dirty="0">
                <a:solidFill>
                  <a:schemeClr val="dk1"/>
                </a:solidFill>
                <a:latin typeface="Calibri"/>
                <a:ea typeface="Calibri"/>
                <a:cs typeface="Calibri"/>
                <a:sym typeface="Calibri"/>
              </a:rPr>
              <a:t>The less efficient way (column-major):</a:t>
            </a:r>
            <a:endParaRPr sz="1800" dirty="0">
              <a:solidFill>
                <a:schemeClr val="dk1"/>
              </a:solidFill>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p:txBody>
      </p:sp>
      <p:sp>
        <p:nvSpPr>
          <p:cNvPr id="44" name="Google Shape;2222;g770d93b87d_1_3">
            <a:extLst>
              <a:ext uri="{FF2B5EF4-FFF2-40B4-BE49-F238E27FC236}">
                <a16:creationId xmlns:a16="http://schemas.microsoft.com/office/drawing/2014/main" id="{F86453BB-6977-43BD-A07B-86860E4D3E24}"/>
              </a:ext>
            </a:extLst>
          </p:cNvPr>
          <p:cNvSpPr txBox="1"/>
          <p:nvPr/>
        </p:nvSpPr>
        <p:spPr>
          <a:xfrm>
            <a:off x="3671499" y="3757355"/>
            <a:ext cx="5486400"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solidFill>
                  <a:schemeClr val="dk1"/>
                </a:solidFill>
                <a:latin typeface="Calibri"/>
                <a:ea typeface="Calibri"/>
                <a:cs typeface="Calibri"/>
                <a:sym typeface="Calibri"/>
              </a:rPr>
              <a:t>The better way (row-major):</a:t>
            </a:r>
            <a:endParaRPr sz="1800" dirty="0">
              <a:solidFill>
                <a:schemeClr val="dk1"/>
              </a:solidFill>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p:txBody>
      </p:sp>
      <p:sp>
        <p:nvSpPr>
          <p:cNvPr id="45" name="Google Shape;2223;g770d93b87d_1_3">
            <a:extLst>
              <a:ext uri="{FF2B5EF4-FFF2-40B4-BE49-F238E27FC236}">
                <a16:creationId xmlns:a16="http://schemas.microsoft.com/office/drawing/2014/main" id="{FA3D92F9-D41E-4A37-BCEB-CFAB3C29E8BD}"/>
              </a:ext>
            </a:extLst>
          </p:cNvPr>
          <p:cNvSpPr/>
          <p:nvPr/>
        </p:nvSpPr>
        <p:spPr>
          <a:xfrm>
            <a:off x="3708734" y="4257774"/>
            <a:ext cx="5667300" cy="1211715"/>
          </a:xfrm>
          <a:prstGeom prst="roundRect">
            <a:avLst>
              <a:gd name="adj" fmla="val 10241"/>
            </a:avLst>
          </a:prstGeom>
          <a:solidFill>
            <a:schemeClr val="dk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SzPts val="1100"/>
              <a:buNone/>
            </a:pPr>
            <a:r>
              <a:rPr lang="en-US" sz="1600" dirty="0">
                <a:solidFill>
                  <a:srgbClr val="00FF00"/>
                </a:solidFill>
                <a:latin typeface="Consolas"/>
                <a:ea typeface="Consolas"/>
                <a:cs typeface="Consolas"/>
                <a:sym typeface="Consolas"/>
              </a:rPr>
              <a:t>for(int </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=0; </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&lt;n; ++</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a:t>
            </a:r>
            <a:endParaRPr sz="1600" dirty="0">
              <a:solidFill>
                <a:srgbClr val="00FF00"/>
              </a:solidFill>
              <a:latin typeface="Consolas"/>
              <a:ea typeface="Consolas"/>
              <a:cs typeface="Consolas"/>
              <a:sym typeface="Consolas"/>
            </a:endParaRPr>
          </a:p>
          <a:p>
            <a:pPr marL="0" marR="0" lvl="0" indent="0" algn="l" rtl="0">
              <a:spcBef>
                <a:spcPts val="0"/>
              </a:spcBef>
              <a:spcAft>
                <a:spcPts val="0"/>
              </a:spcAft>
              <a:buSzPts val="1100"/>
              <a:buNone/>
            </a:pPr>
            <a:r>
              <a:rPr lang="en-US" sz="1600" dirty="0">
                <a:solidFill>
                  <a:srgbClr val="00FF00"/>
                </a:solidFill>
                <a:latin typeface="Consolas"/>
                <a:ea typeface="Consolas"/>
                <a:cs typeface="Consolas"/>
                <a:sym typeface="Consolas"/>
              </a:rPr>
              <a:t>   for(int </a:t>
            </a:r>
            <a:r>
              <a:rPr lang="en-US" sz="1600" dirty="0">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=0; </a:t>
            </a:r>
            <a:r>
              <a:rPr lang="en-US" sz="1600" dirty="0">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&lt;n; ++</a:t>
            </a:r>
            <a:r>
              <a:rPr lang="en-US" sz="1600" dirty="0">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a:t>
            </a:r>
            <a:endParaRPr sz="1600" dirty="0">
              <a:solidFill>
                <a:srgbClr val="00FF00"/>
              </a:solidFill>
              <a:latin typeface="Consolas"/>
              <a:ea typeface="Consolas"/>
              <a:cs typeface="Consolas"/>
              <a:sym typeface="Consolas"/>
            </a:endParaRPr>
          </a:p>
          <a:p>
            <a:pPr marL="0" marR="0" lvl="0" indent="0" algn="l" rtl="0">
              <a:spcBef>
                <a:spcPts val="0"/>
              </a:spcBef>
              <a:spcAft>
                <a:spcPts val="0"/>
              </a:spcAft>
              <a:buSzPts val="1100"/>
              <a:buNone/>
            </a:pPr>
            <a:r>
              <a:rPr lang="en-US" sz="1600" dirty="0">
                <a:solidFill>
                  <a:srgbClr val="00FF00"/>
                </a:solidFill>
                <a:latin typeface="Consolas"/>
                <a:ea typeface="Consolas"/>
                <a:cs typeface="Consolas"/>
                <a:sym typeface="Consolas"/>
              </a:rPr>
              <a:t>       for(int </a:t>
            </a:r>
            <a:r>
              <a:rPr lang="en-US" sz="1600" dirty="0">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=0; </a:t>
            </a:r>
            <a:r>
              <a:rPr lang="en-US" sz="1600" dirty="0">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&lt;n; ++</a:t>
            </a:r>
            <a:r>
              <a:rPr lang="en-US" sz="1600" dirty="0">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a:t>
            </a:r>
            <a:endParaRPr sz="1600" dirty="0">
              <a:solidFill>
                <a:srgbClr val="00FF00"/>
              </a:solidFill>
              <a:latin typeface="Consolas"/>
              <a:ea typeface="Consolas"/>
              <a:cs typeface="Consolas"/>
              <a:sym typeface="Consolas"/>
            </a:endParaRPr>
          </a:p>
          <a:p>
            <a:pPr marL="0" marR="0" lvl="0" indent="0" algn="l" rtl="0">
              <a:spcBef>
                <a:spcPts val="0"/>
              </a:spcBef>
              <a:spcAft>
                <a:spcPts val="0"/>
              </a:spcAft>
              <a:buSzPts val="1100"/>
              <a:buNone/>
            </a:pPr>
            <a:r>
              <a:rPr lang="en-US" sz="1600" dirty="0">
                <a:solidFill>
                  <a:srgbClr val="00FF00"/>
                </a:solidFill>
                <a:latin typeface="Consolas"/>
                <a:ea typeface="Consolas"/>
                <a:cs typeface="Consolas"/>
                <a:sym typeface="Consolas"/>
              </a:rPr>
              <a:t>          c[</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a:t>
            </a:r>
            <a:r>
              <a:rPr lang="en-US" sz="1600" dirty="0" err="1">
                <a:solidFill>
                  <a:srgbClr val="00FF00"/>
                </a:solidFill>
                <a:latin typeface="Consolas"/>
                <a:ea typeface="Consolas"/>
                <a:cs typeface="Consolas"/>
                <a:sym typeface="Consolas"/>
              </a:rPr>
              <a:t>n+</a:t>
            </a:r>
            <a:r>
              <a:rPr lang="en-US" sz="1600" dirty="0" err="1">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 += a[</a:t>
            </a:r>
            <a:r>
              <a:rPr lang="en-US" sz="1600" dirty="0" err="1">
                <a:solidFill>
                  <a:srgbClr val="00FF00"/>
                </a:solidFill>
                <a:latin typeface="Consolas"/>
                <a:ea typeface="Consolas"/>
                <a:cs typeface="Consolas"/>
                <a:sym typeface="Consolas"/>
              </a:rPr>
              <a:t>i</a:t>
            </a:r>
            <a:r>
              <a:rPr lang="en-US" sz="1600" dirty="0">
                <a:solidFill>
                  <a:srgbClr val="00FF00"/>
                </a:solidFill>
                <a:latin typeface="Consolas"/>
                <a:ea typeface="Consolas"/>
                <a:cs typeface="Consolas"/>
                <a:sym typeface="Consolas"/>
              </a:rPr>
              <a:t>*</a:t>
            </a:r>
            <a:r>
              <a:rPr lang="en-US" sz="1600" dirty="0" err="1">
                <a:solidFill>
                  <a:srgbClr val="00FF00"/>
                </a:solidFill>
                <a:latin typeface="Consolas"/>
                <a:ea typeface="Consolas"/>
                <a:cs typeface="Consolas"/>
                <a:sym typeface="Consolas"/>
              </a:rPr>
              <a:t>n+</a:t>
            </a:r>
            <a:r>
              <a:rPr lang="en-US" sz="1600" dirty="0" err="1">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 * b[</a:t>
            </a:r>
            <a:r>
              <a:rPr lang="en-US" sz="1600" dirty="0">
                <a:solidFill>
                  <a:srgbClr val="FF0000"/>
                </a:solidFill>
                <a:latin typeface="Consolas"/>
                <a:ea typeface="Consolas"/>
                <a:cs typeface="Consolas"/>
                <a:sym typeface="Consolas"/>
              </a:rPr>
              <a:t>k</a:t>
            </a:r>
            <a:r>
              <a:rPr lang="en-US" sz="1600" dirty="0">
                <a:solidFill>
                  <a:srgbClr val="00FF00"/>
                </a:solidFill>
                <a:latin typeface="Consolas"/>
                <a:ea typeface="Consolas"/>
                <a:cs typeface="Consolas"/>
                <a:sym typeface="Consolas"/>
              </a:rPr>
              <a:t>*</a:t>
            </a:r>
            <a:r>
              <a:rPr lang="en-US" sz="1600" dirty="0" err="1">
                <a:solidFill>
                  <a:srgbClr val="00FF00"/>
                </a:solidFill>
                <a:latin typeface="Consolas"/>
                <a:ea typeface="Consolas"/>
                <a:cs typeface="Consolas"/>
                <a:sym typeface="Consolas"/>
              </a:rPr>
              <a:t>n+</a:t>
            </a:r>
            <a:r>
              <a:rPr lang="en-US" sz="1600" dirty="0" err="1">
                <a:solidFill>
                  <a:srgbClr val="00FFFF"/>
                </a:solidFill>
                <a:latin typeface="Consolas"/>
                <a:ea typeface="Consolas"/>
                <a:cs typeface="Consolas"/>
                <a:sym typeface="Consolas"/>
              </a:rPr>
              <a:t>j</a:t>
            </a:r>
            <a:r>
              <a:rPr lang="en-US" sz="1600" dirty="0">
                <a:solidFill>
                  <a:srgbClr val="00FF00"/>
                </a:solidFill>
                <a:latin typeface="Consolas"/>
                <a:ea typeface="Consolas"/>
                <a:cs typeface="Consolas"/>
                <a:sym typeface="Consolas"/>
              </a:rPr>
              <a:t>];</a:t>
            </a:r>
            <a:endParaRPr sz="1600" dirty="0">
              <a:solidFill>
                <a:srgbClr val="00FF00"/>
              </a:solidFill>
              <a:latin typeface="Consolas"/>
              <a:ea typeface="Consolas"/>
              <a:cs typeface="Consolas"/>
              <a:sym typeface="Consolas"/>
            </a:endParaRPr>
          </a:p>
        </p:txBody>
      </p:sp>
      <p:sp>
        <p:nvSpPr>
          <p:cNvPr id="46" name="TextBox 45">
            <a:extLst>
              <a:ext uri="{FF2B5EF4-FFF2-40B4-BE49-F238E27FC236}">
                <a16:creationId xmlns:a16="http://schemas.microsoft.com/office/drawing/2014/main" id="{F0906879-F9F6-419A-95CF-871FE35DB4B1}"/>
              </a:ext>
            </a:extLst>
          </p:cNvPr>
          <p:cNvSpPr txBox="1"/>
          <p:nvPr/>
        </p:nvSpPr>
        <p:spPr>
          <a:xfrm>
            <a:off x="3745968" y="1261364"/>
            <a:ext cx="5411931" cy="369332"/>
          </a:xfrm>
          <a:prstGeom prst="rect">
            <a:avLst/>
          </a:prstGeom>
          <a:noFill/>
        </p:spPr>
        <p:txBody>
          <a:bodyPr wrap="square" rtlCol="0">
            <a:spAutoFit/>
          </a:bodyPr>
          <a:lstStyle/>
          <a:p>
            <a:r>
              <a:rPr lang="en-US" b="1" dirty="0"/>
              <a:t>Sub-optimal memory access will kill the performance…</a:t>
            </a:r>
            <a:endParaRPr lang="aa-ET" b="1" dirty="0"/>
          </a:p>
        </p:txBody>
      </p:sp>
      <p:graphicFrame>
        <p:nvGraphicFramePr>
          <p:cNvPr id="47" name="Table 3">
            <a:extLst>
              <a:ext uri="{FF2B5EF4-FFF2-40B4-BE49-F238E27FC236}">
                <a16:creationId xmlns:a16="http://schemas.microsoft.com/office/drawing/2014/main" id="{269198D3-FC06-47ED-AEB2-0E7CDDC099C8}"/>
              </a:ext>
            </a:extLst>
          </p:cNvPr>
          <p:cNvGraphicFramePr>
            <a:graphicFrameLocks noGrp="1"/>
          </p:cNvGraphicFramePr>
          <p:nvPr>
            <p:extLst>
              <p:ext uri="{D42A27DB-BD31-4B8C-83A1-F6EECF244321}">
                <p14:modId xmlns:p14="http://schemas.microsoft.com/office/powerpoint/2010/main" val="3898738505"/>
              </p:ext>
            </p:extLst>
          </p:nvPr>
        </p:nvGraphicFramePr>
        <p:xfrm>
          <a:off x="10049177" y="4354734"/>
          <a:ext cx="1717521" cy="1112520"/>
        </p:xfrm>
        <a:graphic>
          <a:graphicData uri="http://schemas.openxmlformats.org/drawingml/2006/table">
            <a:tbl>
              <a:tblPr bandRow="1">
                <a:tableStyleId>{5C22544A-7EE6-4342-B048-85BDC9FD1C3A}</a:tableStyleId>
              </a:tblPr>
              <a:tblGrid>
                <a:gridCol w="572507">
                  <a:extLst>
                    <a:ext uri="{9D8B030D-6E8A-4147-A177-3AD203B41FA5}">
                      <a16:colId xmlns:a16="http://schemas.microsoft.com/office/drawing/2014/main" val="1611206622"/>
                    </a:ext>
                  </a:extLst>
                </a:gridCol>
                <a:gridCol w="572507">
                  <a:extLst>
                    <a:ext uri="{9D8B030D-6E8A-4147-A177-3AD203B41FA5}">
                      <a16:colId xmlns:a16="http://schemas.microsoft.com/office/drawing/2014/main" val="2551004719"/>
                    </a:ext>
                  </a:extLst>
                </a:gridCol>
                <a:gridCol w="572507">
                  <a:extLst>
                    <a:ext uri="{9D8B030D-6E8A-4147-A177-3AD203B41FA5}">
                      <a16:colId xmlns:a16="http://schemas.microsoft.com/office/drawing/2014/main" val="3864733550"/>
                    </a:ext>
                  </a:extLst>
                </a:gridCol>
              </a:tblGrid>
              <a:tr h="370840">
                <a:tc>
                  <a:txBody>
                    <a:bodyPr/>
                    <a:lstStyle/>
                    <a:p>
                      <a:r>
                        <a:rPr lang="en-US" b="1" dirty="0">
                          <a:solidFill>
                            <a:schemeClr val="tx1"/>
                          </a:solidFill>
                        </a:rPr>
                        <a:t>b00</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b01</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b02</a:t>
                      </a:r>
                      <a:endParaRPr lang="aa-ET" b="1"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1821913598"/>
                  </a:ext>
                </a:extLst>
              </a:tr>
              <a:tr h="370840">
                <a:tc>
                  <a:txBody>
                    <a:bodyPr/>
                    <a:lstStyle/>
                    <a:p>
                      <a:r>
                        <a:rPr lang="en-US" b="1" dirty="0">
                          <a:solidFill>
                            <a:schemeClr val="tx1"/>
                          </a:solidFill>
                        </a:rPr>
                        <a:t>b10</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b11</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b12</a:t>
                      </a:r>
                      <a:endParaRPr lang="aa-ET" b="1"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3969973064"/>
                  </a:ext>
                </a:extLst>
              </a:tr>
              <a:tr h="370840">
                <a:tc>
                  <a:txBody>
                    <a:bodyPr/>
                    <a:lstStyle/>
                    <a:p>
                      <a:r>
                        <a:rPr lang="en-US" b="1" dirty="0">
                          <a:solidFill>
                            <a:schemeClr val="tx1"/>
                          </a:solidFill>
                        </a:rPr>
                        <a:t>b20</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b21</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b22</a:t>
                      </a:r>
                      <a:endParaRPr lang="aa-ET" b="1"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2902889075"/>
                  </a:ext>
                </a:extLst>
              </a:tr>
            </a:tbl>
          </a:graphicData>
        </a:graphic>
      </p:graphicFrame>
      <p:cxnSp>
        <p:nvCxnSpPr>
          <p:cNvPr id="48" name="Straight Arrow Connector 21">
            <a:extLst>
              <a:ext uri="{FF2B5EF4-FFF2-40B4-BE49-F238E27FC236}">
                <a16:creationId xmlns:a16="http://schemas.microsoft.com/office/drawing/2014/main" id="{6BC317EB-C4B8-4563-9C13-9466227BF552}"/>
              </a:ext>
            </a:extLst>
          </p:cNvPr>
          <p:cNvCxnSpPr>
            <a:cxnSpLocks/>
          </p:cNvCxnSpPr>
          <p:nvPr/>
        </p:nvCxnSpPr>
        <p:spPr>
          <a:xfrm>
            <a:off x="10380024" y="4524658"/>
            <a:ext cx="1084133" cy="0"/>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23">
            <a:extLst>
              <a:ext uri="{FF2B5EF4-FFF2-40B4-BE49-F238E27FC236}">
                <a16:creationId xmlns:a16="http://schemas.microsoft.com/office/drawing/2014/main" id="{5CAACDC5-263D-42C8-A44F-BD705AE8753F}"/>
              </a:ext>
            </a:extLst>
          </p:cNvPr>
          <p:cNvCxnSpPr>
            <a:cxnSpLocks/>
          </p:cNvCxnSpPr>
          <p:nvPr/>
        </p:nvCxnSpPr>
        <p:spPr>
          <a:xfrm flipH="1">
            <a:off x="10363326" y="4524658"/>
            <a:ext cx="1100831" cy="346046"/>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26">
            <a:extLst>
              <a:ext uri="{FF2B5EF4-FFF2-40B4-BE49-F238E27FC236}">
                <a16:creationId xmlns:a16="http://schemas.microsoft.com/office/drawing/2014/main" id="{EDC77C29-B32D-4743-8096-9F05AECE6E0D}"/>
              </a:ext>
            </a:extLst>
          </p:cNvPr>
          <p:cNvCxnSpPr>
            <a:cxnSpLocks/>
          </p:cNvCxnSpPr>
          <p:nvPr/>
        </p:nvCxnSpPr>
        <p:spPr>
          <a:xfrm>
            <a:off x="10363326" y="4870704"/>
            <a:ext cx="1100831" cy="0"/>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33">
            <a:extLst>
              <a:ext uri="{FF2B5EF4-FFF2-40B4-BE49-F238E27FC236}">
                <a16:creationId xmlns:a16="http://schemas.microsoft.com/office/drawing/2014/main" id="{E6994D47-00EB-4422-B2A1-225E1F7D3304}"/>
              </a:ext>
            </a:extLst>
          </p:cNvPr>
          <p:cNvCxnSpPr>
            <a:cxnSpLocks/>
          </p:cNvCxnSpPr>
          <p:nvPr/>
        </p:nvCxnSpPr>
        <p:spPr>
          <a:xfrm flipH="1">
            <a:off x="10363326" y="4870704"/>
            <a:ext cx="1002708" cy="427010"/>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36">
            <a:extLst>
              <a:ext uri="{FF2B5EF4-FFF2-40B4-BE49-F238E27FC236}">
                <a16:creationId xmlns:a16="http://schemas.microsoft.com/office/drawing/2014/main" id="{1C0360EB-F865-47A9-B5B9-60AB098FE441}"/>
              </a:ext>
            </a:extLst>
          </p:cNvPr>
          <p:cNvCxnSpPr>
            <a:cxnSpLocks/>
          </p:cNvCxnSpPr>
          <p:nvPr/>
        </p:nvCxnSpPr>
        <p:spPr>
          <a:xfrm>
            <a:off x="10363326" y="5297714"/>
            <a:ext cx="1100831" cy="0"/>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Table 3">
            <a:extLst>
              <a:ext uri="{FF2B5EF4-FFF2-40B4-BE49-F238E27FC236}">
                <a16:creationId xmlns:a16="http://schemas.microsoft.com/office/drawing/2014/main" id="{E7CE3535-EE39-427B-A178-08A3A48031D2}"/>
              </a:ext>
            </a:extLst>
          </p:cNvPr>
          <p:cNvGraphicFramePr>
            <a:graphicFrameLocks noGrp="1"/>
          </p:cNvGraphicFramePr>
          <p:nvPr>
            <p:extLst>
              <p:ext uri="{D42A27DB-BD31-4B8C-83A1-F6EECF244321}">
                <p14:modId xmlns:p14="http://schemas.microsoft.com/office/powerpoint/2010/main" val="636793837"/>
              </p:ext>
            </p:extLst>
          </p:nvPr>
        </p:nvGraphicFramePr>
        <p:xfrm>
          <a:off x="10033197" y="2198954"/>
          <a:ext cx="1717521" cy="1112520"/>
        </p:xfrm>
        <a:graphic>
          <a:graphicData uri="http://schemas.openxmlformats.org/drawingml/2006/table">
            <a:tbl>
              <a:tblPr bandRow="1">
                <a:tableStyleId>{5C22544A-7EE6-4342-B048-85BDC9FD1C3A}</a:tableStyleId>
              </a:tblPr>
              <a:tblGrid>
                <a:gridCol w="572507">
                  <a:extLst>
                    <a:ext uri="{9D8B030D-6E8A-4147-A177-3AD203B41FA5}">
                      <a16:colId xmlns:a16="http://schemas.microsoft.com/office/drawing/2014/main" val="1611206622"/>
                    </a:ext>
                  </a:extLst>
                </a:gridCol>
                <a:gridCol w="572507">
                  <a:extLst>
                    <a:ext uri="{9D8B030D-6E8A-4147-A177-3AD203B41FA5}">
                      <a16:colId xmlns:a16="http://schemas.microsoft.com/office/drawing/2014/main" val="2551004719"/>
                    </a:ext>
                  </a:extLst>
                </a:gridCol>
                <a:gridCol w="572507">
                  <a:extLst>
                    <a:ext uri="{9D8B030D-6E8A-4147-A177-3AD203B41FA5}">
                      <a16:colId xmlns:a16="http://schemas.microsoft.com/office/drawing/2014/main" val="3864733550"/>
                    </a:ext>
                  </a:extLst>
                </a:gridCol>
              </a:tblGrid>
              <a:tr h="370840">
                <a:tc>
                  <a:txBody>
                    <a:bodyPr/>
                    <a:lstStyle/>
                    <a:p>
                      <a:r>
                        <a:rPr lang="en-US" b="1" dirty="0">
                          <a:solidFill>
                            <a:schemeClr val="tx1"/>
                          </a:solidFill>
                        </a:rPr>
                        <a:t>b00</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b01</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b02</a:t>
                      </a:r>
                      <a:endParaRPr lang="aa-ET" b="1"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1821913598"/>
                  </a:ext>
                </a:extLst>
              </a:tr>
              <a:tr h="370840">
                <a:tc>
                  <a:txBody>
                    <a:bodyPr/>
                    <a:lstStyle/>
                    <a:p>
                      <a:r>
                        <a:rPr lang="en-US" b="1" dirty="0">
                          <a:solidFill>
                            <a:schemeClr val="tx1"/>
                          </a:solidFill>
                        </a:rPr>
                        <a:t>b10</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b11</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b12</a:t>
                      </a:r>
                      <a:endParaRPr lang="aa-ET" b="1"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3969973064"/>
                  </a:ext>
                </a:extLst>
              </a:tr>
              <a:tr h="370840">
                <a:tc>
                  <a:txBody>
                    <a:bodyPr/>
                    <a:lstStyle/>
                    <a:p>
                      <a:r>
                        <a:rPr lang="en-US" b="1" dirty="0">
                          <a:solidFill>
                            <a:schemeClr val="tx1"/>
                          </a:solidFill>
                        </a:rPr>
                        <a:t>b20</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b21</a:t>
                      </a:r>
                      <a:endParaRPr lang="aa-ET" b="1" dirty="0">
                        <a:solidFill>
                          <a:schemeClr val="tx1"/>
                        </a:solidFill>
                      </a:endParaRPr>
                    </a:p>
                  </a:txBody>
                  <a:tcPr>
                    <a:solidFill>
                      <a:schemeClr val="accent1">
                        <a:lumMod val="20000"/>
                        <a:lumOff val="80000"/>
                      </a:schemeClr>
                    </a:solidFill>
                  </a:tcPr>
                </a:tc>
                <a:tc>
                  <a:txBody>
                    <a:bodyPr/>
                    <a:lstStyle/>
                    <a:p>
                      <a:r>
                        <a:rPr lang="en-US" b="1" dirty="0">
                          <a:solidFill>
                            <a:schemeClr val="tx1"/>
                          </a:solidFill>
                        </a:rPr>
                        <a:t>b22</a:t>
                      </a:r>
                      <a:endParaRPr lang="aa-ET" b="1"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2902889075"/>
                  </a:ext>
                </a:extLst>
              </a:tr>
            </a:tbl>
          </a:graphicData>
        </a:graphic>
      </p:graphicFrame>
      <p:cxnSp>
        <p:nvCxnSpPr>
          <p:cNvPr id="54" name="Straight Arrow Connector 7">
            <a:extLst>
              <a:ext uri="{FF2B5EF4-FFF2-40B4-BE49-F238E27FC236}">
                <a16:creationId xmlns:a16="http://schemas.microsoft.com/office/drawing/2014/main" id="{AB69783D-BEFA-43D1-9374-A363B878AA9C}"/>
              </a:ext>
            </a:extLst>
          </p:cNvPr>
          <p:cNvCxnSpPr>
            <a:cxnSpLocks/>
          </p:cNvCxnSpPr>
          <p:nvPr/>
        </p:nvCxnSpPr>
        <p:spPr>
          <a:xfrm>
            <a:off x="10364044" y="2293110"/>
            <a:ext cx="0" cy="852256"/>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19">
            <a:extLst>
              <a:ext uri="{FF2B5EF4-FFF2-40B4-BE49-F238E27FC236}">
                <a16:creationId xmlns:a16="http://schemas.microsoft.com/office/drawing/2014/main" id="{39096FB9-C78B-4078-93C6-8AAC3FC17379}"/>
              </a:ext>
            </a:extLst>
          </p:cNvPr>
          <p:cNvCxnSpPr>
            <a:cxnSpLocks/>
          </p:cNvCxnSpPr>
          <p:nvPr/>
        </p:nvCxnSpPr>
        <p:spPr>
          <a:xfrm flipV="1">
            <a:off x="10364043" y="2373010"/>
            <a:ext cx="569928" cy="772356"/>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25">
            <a:extLst>
              <a:ext uri="{FF2B5EF4-FFF2-40B4-BE49-F238E27FC236}">
                <a16:creationId xmlns:a16="http://schemas.microsoft.com/office/drawing/2014/main" id="{3909645C-4428-49DB-AE90-AC271D916481}"/>
              </a:ext>
            </a:extLst>
          </p:cNvPr>
          <p:cNvCxnSpPr>
            <a:cxnSpLocks/>
          </p:cNvCxnSpPr>
          <p:nvPr/>
        </p:nvCxnSpPr>
        <p:spPr>
          <a:xfrm>
            <a:off x="10933969" y="2373010"/>
            <a:ext cx="1" cy="772356"/>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29">
            <a:extLst>
              <a:ext uri="{FF2B5EF4-FFF2-40B4-BE49-F238E27FC236}">
                <a16:creationId xmlns:a16="http://schemas.microsoft.com/office/drawing/2014/main" id="{EB118A38-B8C5-421E-9F6A-0D11A5585C58}"/>
              </a:ext>
            </a:extLst>
          </p:cNvPr>
          <p:cNvCxnSpPr>
            <a:cxnSpLocks/>
          </p:cNvCxnSpPr>
          <p:nvPr/>
        </p:nvCxnSpPr>
        <p:spPr>
          <a:xfrm flipV="1">
            <a:off x="10933969" y="2293110"/>
            <a:ext cx="550419" cy="852256"/>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32">
            <a:extLst>
              <a:ext uri="{FF2B5EF4-FFF2-40B4-BE49-F238E27FC236}">
                <a16:creationId xmlns:a16="http://schemas.microsoft.com/office/drawing/2014/main" id="{6738BD45-AE6E-447D-A807-E2A0849DA989}"/>
              </a:ext>
            </a:extLst>
          </p:cNvPr>
          <p:cNvCxnSpPr>
            <a:cxnSpLocks/>
          </p:cNvCxnSpPr>
          <p:nvPr/>
        </p:nvCxnSpPr>
        <p:spPr>
          <a:xfrm>
            <a:off x="11484388" y="2357564"/>
            <a:ext cx="0" cy="787802"/>
          </a:xfrm>
          <a:prstGeom prst="straightConnector1">
            <a:avLst/>
          </a:prstGeom>
          <a:ln w="412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8C33AD10-A510-49E3-87F2-51039E5769CF}"/>
              </a:ext>
            </a:extLst>
          </p:cNvPr>
          <p:cNvSpPr txBox="1"/>
          <p:nvPr/>
        </p:nvSpPr>
        <p:spPr>
          <a:xfrm>
            <a:off x="195310" y="4374384"/>
            <a:ext cx="3210883" cy="923330"/>
          </a:xfrm>
          <a:prstGeom prst="rect">
            <a:avLst/>
          </a:prstGeom>
          <a:noFill/>
        </p:spPr>
        <p:txBody>
          <a:bodyPr wrap="square">
            <a:spAutoFit/>
          </a:bodyPr>
          <a:lstStyle/>
          <a:p>
            <a:r>
              <a:rPr lang="en-US" b="1" dirty="0"/>
              <a:t>Here, the most inner loop can be executed in parallel </a:t>
            </a:r>
            <a:r>
              <a:rPr lang="en-US" dirty="0"/>
              <a:t>(without write conflicts on matrix c)</a:t>
            </a:r>
          </a:p>
        </p:txBody>
      </p:sp>
    </p:spTree>
    <p:extLst>
      <p:ext uri="{BB962C8B-B14F-4D97-AF65-F5344CB8AC3E}">
        <p14:creationId xmlns:p14="http://schemas.microsoft.com/office/powerpoint/2010/main" val="1454716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51"/>
        <p:cNvGrpSpPr/>
        <p:nvPr/>
      </p:nvGrpSpPr>
      <p:grpSpPr>
        <a:xfrm>
          <a:off x="0" y="0"/>
          <a:ext cx="0" cy="0"/>
          <a:chOff x="0" y="0"/>
          <a:chExt cx="0" cy="0"/>
        </a:xfrm>
      </p:grpSpPr>
      <p:sp>
        <p:nvSpPr>
          <p:cNvPr id="2254" name="Google Shape;2254;g770d93b87d_2_65"/>
          <p:cNvSpPr txBox="1"/>
          <p:nvPr/>
        </p:nvSpPr>
        <p:spPr>
          <a:xfrm>
            <a:off x="10719536" y="2097982"/>
            <a:ext cx="5486400" cy="381000"/>
          </a:xfrm>
          <a:prstGeom prst="rect">
            <a:avLst/>
          </a:prstGeom>
          <a:noFill/>
          <a:ln>
            <a:noFill/>
          </a:ln>
        </p:spPr>
        <p:txBody>
          <a:bodyPr spcFirstLastPara="1" wrap="square" lIns="91425" tIns="91425" rIns="91425" bIns="91425" anchor="t" anchorCtr="0">
            <a:noAutofit/>
          </a:bodyPr>
          <a:lstStyle/>
          <a:p>
            <a:r>
              <a:rPr lang="en-US" b="1" dirty="0">
                <a:solidFill>
                  <a:srgbClr val="FF0000"/>
                </a:solidFill>
                <a:latin typeface="Calibri"/>
                <a:ea typeface="Calibri"/>
                <a:cs typeface="Calibri"/>
                <a:sym typeface="Calibri"/>
              </a:rPr>
              <a:t>CUDA Kernel</a:t>
            </a:r>
            <a:endParaRPr b="1" dirty="0">
              <a:solidFill>
                <a:srgbClr val="FF0000"/>
              </a:solidFill>
              <a:latin typeface="Calibri"/>
              <a:ea typeface="Calibri"/>
              <a:cs typeface="Calibri"/>
              <a:sym typeface="Calibri"/>
            </a:endParaRPr>
          </a:p>
          <a:p>
            <a:endParaRPr dirty="0">
              <a:latin typeface="Calibri"/>
              <a:ea typeface="Calibri"/>
              <a:cs typeface="Calibri"/>
              <a:sym typeface="Calibri"/>
            </a:endParaRPr>
          </a:p>
        </p:txBody>
      </p:sp>
      <p:sp>
        <p:nvSpPr>
          <p:cNvPr id="2255" name="Google Shape;2255;g770d93b87d_2_65"/>
          <p:cNvSpPr/>
          <p:nvPr/>
        </p:nvSpPr>
        <p:spPr>
          <a:xfrm>
            <a:off x="3728936" y="1519045"/>
            <a:ext cx="6866400" cy="1597200"/>
          </a:xfrm>
          <a:prstGeom prst="roundRect">
            <a:avLst>
              <a:gd name="adj" fmla="val 10241"/>
            </a:avLst>
          </a:prstGeom>
          <a:solidFill>
            <a:schemeClr val="dk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a:buSzPts val="1100"/>
            </a:pPr>
            <a:r>
              <a:rPr lang="en-US" sz="1400" dirty="0">
                <a:solidFill>
                  <a:srgbClr val="FF0000"/>
                </a:solidFill>
                <a:latin typeface="Consolas"/>
                <a:ea typeface="Consolas"/>
                <a:cs typeface="Consolas"/>
                <a:sym typeface="Consolas"/>
              </a:rPr>
              <a:t>__global__</a:t>
            </a:r>
            <a:r>
              <a:rPr lang="en-US" sz="1400" dirty="0">
                <a:solidFill>
                  <a:srgbClr val="00FF00"/>
                </a:solidFill>
                <a:latin typeface="Consolas"/>
                <a:ea typeface="Consolas"/>
                <a:cs typeface="Consolas"/>
                <a:sym typeface="Consolas"/>
              </a:rPr>
              <a:t> void </a:t>
            </a:r>
            <a:r>
              <a:rPr lang="en-US" sz="1400" dirty="0" err="1">
                <a:solidFill>
                  <a:srgbClr val="00FF00"/>
                </a:solidFill>
                <a:latin typeface="Consolas"/>
                <a:ea typeface="Consolas"/>
                <a:cs typeface="Consolas"/>
                <a:sym typeface="Consolas"/>
              </a:rPr>
              <a:t>cuda_mul</a:t>
            </a:r>
            <a:r>
              <a:rPr lang="en-US" sz="1400" dirty="0">
                <a:solidFill>
                  <a:srgbClr val="00FF00"/>
                </a:solidFill>
                <a:latin typeface="Consolas"/>
                <a:ea typeface="Consolas"/>
                <a:cs typeface="Consolas"/>
                <a:sym typeface="Consolas"/>
              </a:rPr>
              <a:t>(float* a, float* b, float* c, </a:t>
            </a:r>
            <a:r>
              <a:rPr lang="en-US" sz="1400" dirty="0" err="1">
                <a:solidFill>
                  <a:srgbClr val="00FF00"/>
                </a:solidFill>
                <a:latin typeface="Consolas"/>
                <a:ea typeface="Consolas"/>
                <a:cs typeface="Consolas"/>
                <a:sym typeface="Consolas"/>
              </a:rPr>
              <a:t>int</a:t>
            </a:r>
            <a:r>
              <a:rPr lang="en-US" sz="1400" dirty="0">
                <a:solidFill>
                  <a:srgbClr val="00FF00"/>
                </a:solidFill>
                <a:latin typeface="Consolas"/>
                <a:ea typeface="Consolas"/>
                <a:cs typeface="Consolas"/>
                <a:sym typeface="Consolas"/>
              </a:rPr>
              <a:t> size) {</a:t>
            </a:r>
            <a:endParaRPr sz="1400" dirty="0">
              <a:solidFill>
                <a:srgbClr val="00FF00"/>
              </a:solidFill>
              <a:latin typeface="Consolas"/>
              <a:ea typeface="Consolas"/>
              <a:cs typeface="Consolas"/>
              <a:sym typeface="Consolas"/>
            </a:endParaRPr>
          </a:p>
          <a:p>
            <a:pPr>
              <a:buSzPts val="1100"/>
            </a:pPr>
            <a:r>
              <a:rPr lang="en-US" sz="1400" dirty="0">
                <a:solidFill>
                  <a:srgbClr val="00FFFF"/>
                </a:solidFill>
                <a:latin typeface="Consolas"/>
                <a:ea typeface="Consolas"/>
                <a:cs typeface="Consolas"/>
                <a:sym typeface="Consolas"/>
              </a:rPr>
              <a:t>    int row = </a:t>
            </a:r>
            <a:r>
              <a:rPr lang="en-US" sz="1400" dirty="0" err="1">
                <a:solidFill>
                  <a:srgbClr val="00FFFF"/>
                </a:solidFill>
                <a:latin typeface="Consolas"/>
                <a:ea typeface="Consolas"/>
                <a:cs typeface="Consolas"/>
                <a:sym typeface="Consolas"/>
              </a:rPr>
              <a:t>blockIdx.y</a:t>
            </a:r>
            <a:r>
              <a:rPr lang="en-US" sz="1400" dirty="0">
                <a:solidFill>
                  <a:srgbClr val="00FFFF"/>
                </a:solidFill>
                <a:latin typeface="Consolas"/>
                <a:ea typeface="Consolas"/>
                <a:cs typeface="Consolas"/>
                <a:sym typeface="Consolas"/>
              </a:rPr>
              <a:t>*</a:t>
            </a:r>
            <a:r>
              <a:rPr lang="en-US" sz="1400" dirty="0" err="1">
                <a:solidFill>
                  <a:srgbClr val="00FFFF"/>
                </a:solidFill>
                <a:latin typeface="Consolas"/>
                <a:ea typeface="Consolas"/>
                <a:cs typeface="Consolas"/>
                <a:sym typeface="Consolas"/>
              </a:rPr>
              <a:t>blockDim.y+threadIdx.y</a:t>
            </a:r>
            <a:r>
              <a:rPr lang="en-US" sz="1400" dirty="0">
                <a:solidFill>
                  <a:srgbClr val="00FFFF"/>
                </a:solidFill>
                <a:latin typeface="Consolas"/>
                <a:ea typeface="Consolas"/>
                <a:cs typeface="Consolas"/>
                <a:sym typeface="Consolas"/>
              </a:rPr>
              <a:t>;</a:t>
            </a:r>
            <a:endParaRPr sz="1400" dirty="0">
              <a:solidFill>
                <a:srgbClr val="00FFFF"/>
              </a:solidFill>
              <a:latin typeface="Consolas"/>
              <a:ea typeface="Consolas"/>
              <a:cs typeface="Consolas"/>
              <a:sym typeface="Consolas"/>
            </a:endParaRPr>
          </a:p>
          <a:p>
            <a:pPr>
              <a:buSzPts val="1100"/>
            </a:pPr>
            <a:r>
              <a:rPr lang="en-US" sz="1400" dirty="0">
                <a:solidFill>
                  <a:srgbClr val="00FFFF"/>
                </a:solidFill>
                <a:latin typeface="Consolas"/>
                <a:ea typeface="Consolas"/>
                <a:cs typeface="Consolas"/>
                <a:sym typeface="Consolas"/>
              </a:rPr>
              <a:t>    int col = </a:t>
            </a:r>
            <a:r>
              <a:rPr lang="en-US" sz="1400" dirty="0" err="1">
                <a:solidFill>
                  <a:srgbClr val="00FFFF"/>
                </a:solidFill>
                <a:latin typeface="Consolas"/>
                <a:ea typeface="Consolas"/>
                <a:cs typeface="Consolas"/>
                <a:sym typeface="Consolas"/>
              </a:rPr>
              <a:t>blockIdx.x</a:t>
            </a:r>
            <a:r>
              <a:rPr lang="en-US" sz="1400" dirty="0">
                <a:solidFill>
                  <a:srgbClr val="00FFFF"/>
                </a:solidFill>
                <a:latin typeface="Consolas"/>
                <a:ea typeface="Consolas"/>
                <a:cs typeface="Consolas"/>
                <a:sym typeface="Consolas"/>
              </a:rPr>
              <a:t>*</a:t>
            </a:r>
            <a:r>
              <a:rPr lang="en-US" sz="1400" dirty="0" err="1">
                <a:solidFill>
                  <a:srgbClr val="00FFFF"/>
                </a:solidFill>
                <a:latin typeface="Consolas"/>
                <a:ea typeface="Consolas"/>
                <a:cs typeface="Consolas"/>
                <a:sym typeface="Consolas"/>
              </a:rPr>
              <a:t>blockDim.x+threadIdx.x</a:t>
            </a:r>
            <a:r>
              <a:rPr lang="en-US" sz="1400" dirty="0">
                <a:solidFill>
                  <a:srgbClr val="00FFFF"/>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    for (int </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 = 0; </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 &lt; size; </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        c[row*</a:t>
            </a:r>
            <a:r>
              <a:rPr lang="en-US" sz="1400" dirty="0" err="1">
                <a:solidFill>
                  <a:srgbClr val="00FF00"/>
                </a:solidFill>
                <a:latin typeface="Consolas"/>
                <a:ea typeface="Consolas"/>
                <a:cs typeface="Consolas"/>
                <a:sym typeface="Consolas"/>
              </a:rPr>
              <a:t>size+col</a:t>
            </a:r>
            <a:r>
              <a:rPr lang="en-US" sz="1400" dirty="0">
                <a:solidFill>
                  <a:srgbClr val="00FF00"/>
                </a:solidFill>
                <a:latin typeface="Consolas"/>
                <a:ea typeface="Consolas"/>
                <a:cs typeface="Consolas"/>
                <a:sym typeface="Consolas"/>
              </a:rPr>
              <a:t>] += a[row*</a:t>
            </a:r>
            <a:r>
              <a:rPr lang="en-US" sz="1400" dirty="0" err="1">
                <a:solidFill>
                  <a:srgbClr val="00FF00"/>
                </a:solidFill>
                <a:latin typeface="Consolas"/>
                <a:ea typeface="Consolas"/>
                <a:cs typeface="Consolas"/>
                <a:sym typeface="Consolas"/>
              </a:rPr>
              <a:t>size+i</a:t>
            </a:r>
            <a:r>
              <a:rPr lang="en-US" sz="1400" dirty="0">
                <a:solidFill>
                  <a:srgbClr val="00FF00"/>
                </a:solidFill>
                <a:latin typeface="Consolas"/>
                <a:ea typeface="Consolas"/>
                <a:cs typeface="Consolas"/>
                <a:sym typeface="Consolas"/>
              </a:rPr>
              <a:t>] * b[</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a:t>
            </a:r>
            <a:r>
              <a:rPr lang="en-US" sz="1400" dirty="0" err="1">
                <a:solidFill>
                  <a:srgbClr val="00FF00"/>
                </a:solidFill>
                <a:latin typeface="Consolas"/>
                <a:ea typeface="Consolas"/>
                <a:cs typeface="Consolas"/>
                <a:sym typeface="Consolas"/>
              </a:rPr>
              <a:t>size+col</a:t>
            </a: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endParaRPr sz="1400" dirty="0">
              <a:solidFill>
                <a:srgbClr val="FF0000"/>
              </a:solidFill>
              <a:latin typeface="Consolas"/>
              <a:ea typeface="Consolas"/>
              <a:cs typeface="Consolas"/>
              <a:sym typeface="Consolas"/>
            </a:endParaRPr>
          </a:p>
        </p:txBody>
      </p:sp>
      <p:sp>
        <p:nvSpPr>
          <p:cNvPr id="2256" name="Google Shape;2256;g770d93b87d_2_65"/>
          <p:cNvSpPr txBox="1"/>
          <p:nvPr/>
        </p:nvSpPr>
        <p:spPr>
          <a:xfrm>
            <a:off x="10833821" y="4226179"/>
            <a:ext cx="5486400" cy="381000"/>
          </a:xfrm>
          <a:prstGeom prst="rect">
            <a:avLst/>
          </a:prstGeom>
          <a:noFill/>
          <a:ln>
            <a:noFill/>
          </a:ln>
        </p:spPr>
        <p:txBody>
          <a:bodyPr spcFirstLastPara="1" wrap="square" lIns="91425" tIns="91425" rIns="91425" bIns="91425" anchor="t" anchorCtr="0">
            <a:noAutofit/>
          </a:bodyPr>
          <a:lstStyle/>
          <a:p>
            <a:r>
              <a:rPr lang="en-US" b="1" dirty="0">
                <a:solidFill>
                  <a:srgbClr val="FF0000"/>
                </a:solidFill>
                <a:latin typeface="Calibri"/>
                <a:ea typeface="Calibri"/>
                <a:cs typeface="Calibri"/>
                <a:sym typeface="Calibri"/>
              </a:rPr>
              <a:t>Kernel Call</a:t>
            </a:r>
            <a:endParaRPr b="1" dirty="0">
              <a:solidFill>
                <a:srgbClr val="FF0000"/>
              </a:solidFill>
              <a:latin typeface="Calibri"/>
              <a:ea typeface="Calibri"/>
              <a:cs typeface="Calibri"/>
              <a:sym typeface="Calibri"/>
            </a:endParaRPr>
          </a:p>
          <a:p>
            <a:endParaRPr dirty="0">
              <a:latin typeface="Calibri"/>
              <a:ea typeface="Calibri"/>
              <a:cs typeface="Calibri"/>
              <a:sym typeface="Calibri"/>
            </a:endParaRPr>
          </a:p>
        </p:txBody>
      </p:sp>
      <p:sp>
        <p:nvSpPr>
          <p:cNvPr id="2257" name="Google Shape;2257;g770d93b87d_2_65"/>
          <p:cNvSpPr/>
          <p:nvPr/>
        </p:nvSpPr>
        <p:spPr>
          <a:xfrm>
            <a:off x="3728935" y="3278929"/>
            <a:ext cx="7104886" cy="2275500"/>
          </a:xfrm>
          <a:prstGeom prst="roundRect">
            <a:avLst>
              <a:gd name="adj" fmla="val 10241"/>
            </a:avLst>
          </a:prstGeom>
          <a:solidFill>
            <a:schemeClr val="dk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a:buSzPts val="1100"/>
            </a:pPr>
            <a:r>
              <a:rPr lang="en-US" sz="1400" dirty="0" err="1">
                <a:solidFill>
                  <a:srgbClr val="00FFFF"/>
                </a:solidFill>
                <a:latin typeface="Consolas"/>
                <a:ea typeface="Consolas"/>
                <a:cs typeface="Consolas"/>
                <a:sym typeface="Consolas"/>
              </a:rPr>
              <a:t>cudaMemcpy</a:t>
            </a:r>
            <a:r>
              <a:rPr lang="en-US" sz="1400" dirty="0">
                <a:solidFill>
                  <a:srgbClr val="00FFFF"/>
                </a:solidFill>
                <a:latin typeface="Consolas"/>
                <a:ea typeface="Consolas"/>
                <a:cs typeface="Consolas"/>
                <a:sym typeface="Consolas"/>
              </a:rPr>
              <a:t>(dm1, a, </a:t>
            </a:r>
            <a:r>
              <a:rPr lang="en-US" sz="1400" dirty="0" err="1">
                <a:solidFill>
                  <a:srgbClr val="00FFFF"/>
                </a:solidFill>
                <a:latin typeface="Consolas"/>
                <a:ea typeface="Consolas"/>
                <a:cs typeface="Consolas"/>
                <a:sym typeface="Consolas"/>
              </a:rPr>
              <a:t>sizeof</a:t>
            </a:r>
            <a:r>
              <a:rPr lang="en-US" sz="1400" dirty="0">
                <a:solidFill>
                  <a:srgbClr val="00FFFF"/>
                </a:solidFill>
                <a:latin typeface="Consolas"/>
                <a:ea typeface="Consolas"/>
                <a:cs typeface="Consolas"/>
                <a:sym typeface="Consolas"/>
              </a:rPr>
              <a:t>(float)*size*size, </a:t>
            </a:r>
            <a:r>
              <a:rPr lang="en-US" sz="1400" dirty="0" err="1">
                <a:solidFill>
                  <a:srgbClr val="00FFFF"/>
                </a:solidFill>
                <a:latin typeface="Consolas"/>
                <a:ea typeface="Consolas"/>
                <a:cs typeface="Consolas"/>
                <a:sym typeface="Consolas"/>
              </a:rPr>
              <a:t>cudaMemcpyHostToDevice</a:t>
            </a:r>
            <a:r>
              <a:rPr lang="en-US" sz="1400" dirty="0">
                <a:solidFill>
                  <a:srgbClr val="00FFFF"/>
                </a:solidFill>
                <a:latin typeface="Consolas"/>
                <a:ea typeface="Consolas"/>
                <a:cs typeface="Consolas"/>
                <a:sym typeface="Consolas"/>
              </a:rPr>
              <a:t>);</a:t>
            </a:r>
            <a:endParaRPr sz="1400" dirty="0">
              <a:solidFill>
                <a:srgbClr val="00FFFF"/>
              </a:solidFill>
              <a:latin typeface="Consolas"/>
              <a:ea typeface="Consolas"/>
              <a:cs typeface="Consolas"/>
              <a:sym typeface="Consolas"/>
            </a:endParaRPr>
          </a:p>
          <a:p>
            <a:pPr lvl="0">
              <a:buSzPts val="1100"/>
            </a:pPr>
            <a:r>
              <a:rPr lang="en-US" sz="1400" dirty="0" err="1">
                <a:solidFill>
                  <a:srgbClr val="00FFFF"/>
                </a:solidFill>
                <a:latin typeface="Consolas"/>
                <a:ea typeface="Consolas"/>
                <a:cs typeface="Consolas"/>
                <a:sym typeface="Consolas"/>
              </a:rPr>
              <a:t>cudaMemcpy</a:t>
            </a:r>
            <a:r>
              <a:rPr lang="en-US" sz="1400" dirty="0">
                <a:solidFill>
                  <a:srgbClr val="00FFFF"/>
                </a:solidFill>
                <a:latin typeface="Consolas"/>
                <a:ea typeface="Consolas"/>
                <a:cs typeface="Consolas"/>
                <a:sym typeface="Consolas"/>
              </a:rPr>
              <a:t>(dm2, b, </a:t>
            </a:r>
            <a:r>
              <a:rPr lang="en-US" sz="1400" dirty="0" err="1">
                <a:solidFill>
                  <a:srgbClr val="00FFFF"/>
                </a:solidFill>
                <a:latin typeface="Consolas"/>
                <a:ea typeface="Consolas"/>
                <a:cs typeface="Consolas"/>
                <a:sym typeface="Consolas"/>
              </a:rPr>
              <a:t>sizeof</a:t>
            </a:r>
            <a:r>
              <a:rPr lang="en-US" sz="1400" dirty="0">
                <a:solidFill>
                  <a:srgbClr val="00FFFF"/>
                </a:solidFill>
                <a:latin typeface="Consolas"/>
                <a:ea typeface="Consolas"/>
                <a:cs typeface="Consolas"/>
                <a:sym typeface="Consolas"/>
              </a:rPr>
              <a:t>(float)*size*size, </a:t>
            </a:r>
            <a:r>
              <a:rPr lang="en-US" sz="1400" dirty="0" err="1">
                <a:solidFill>
                  <a:srgbClr val="00FFFF"/>
                </a:solidFill>
                <a:latin typeface="Consolas"/>
                <a:ea typeface="Consolas"/>
                <a:cs typeface="Consolas"/>
                <a:sym typeface="Consolas"/>
              </a:rPr>
              <a:t>cudaMemcpyHostToDevice</a:t>
            </a:r>
            <a:r>
              <a:rPr lang="en-US" sz="1400" dirty="0">
                <a:solidFill>
                  <a:srgbClr val="00FFFF"/>
                </a:solidFill>
                <a:latin typeface="Consolas"/>
                <a:ea typeface="Consolas"/>
                <a:cs typeface="Consolas"/>
                <a:sym typeface="Consolas"/>
              </a:rPr>
              <a:t>);</a:t>
            </a:r>
            <a:endParaRPr sz="1400" dirty="0">
              <a:solidFill>
                <a:srgbClr val="00FFFF"/>
              </a:solidFill>
              <a:latin typeface="Consolas"/>
              <a:ea typeface="Consolas"/>
              <a:cs typeface="Consolas"/>
              <a:sym typeface="Consolas"/>
            </a:endParaRPr>
          </a:p>
          <a:p>
            <a:pPr lvl="0">
              <a:buSzPts val="1100"/>
            </a:pPr>
            <a:r>
              <a:rPr lang="en-US" sz="1400" dirty="0" err="1">
                <a:solidFill>
                  <a:srgbClr val="00FFFF"/>
                </a:solidFill>
                <a:latin typeface="Consolas"/>
                <a:ea typeface="Consolas"/>
                <a:cs typeface="Consolas"/>
                <a:sym typeface="Consolas"/>
              </a:rPr>
              <a:t>cudaMemcpy</a:t>
            </a:r>
            <a:r>
              <a:rPr lang="en-US" sz="1400" dirty="0">
                <a:solidFill>
                  <a:srgbClr val="00FFFF"/>
                </a:solidFill>
                <a:latin typeface="Consolas"/>
                <a:ea typeface="Consolas"/>
                <a:cs typeface="Consolas"/>
                <a:sym typeface="Consolas"/>
              </a:rPr>
              <a:t>(dm3, c, </a:t>
            </a:r>
            <a:r>
              <a:rPr lang="en-US" sz="1400" dirty="0" err="1">
                <a:solidFill>
                  <a:srgbClr val="00FFFF"/>
                </a:solidFill>
                <a:latin typeface="Consolas"/>
                <a:ea typeface="Consolas"/>
                <a:cs typeface="Consolas"/>
                <a:sym typeface="Consolas"/>
              </a:rPr>
              <a:t>sizeof</a:t>
            </a:r>
            <a:r>
              <a:rPr lang="en-US" sz="1400" dirty="0">
                <a:solidFill>
                  <a:srgbClr val="00FFFF"/>
                </a:solidFill>
                <a:latin typeface="Consolas"/>
                <a:ea typeface="Consolas"/>
                <a:cs typeface="Consolas"/>
                <a:sym typeface="Consolas"/>
              </a:rPr>
              <a:t>(float)*size*size, </a:t>
            </a:r>
            <a:r>
              <a:rPr lang="en-US" sz="1400" dirty="0" err="1">
                <a:solidFill>
                  <a:srgbClr val="00FFFF"/>
                </a:solidFill>
                <a:latin typeface="Consolas"/>
                <a:ea typeface="Consolas"/>
                <a:cs typeface="Consolas"/>
                <a:sym typeface="Consolas"/>
              </a:rPr>
              <a:t>cudaMemcpyHostToDevice</a:t>
            </a:r>
            <a:r>
              <a:rPr lang="en-US" sz="1400" dirty="0">
                <a:solidFill>
                  <a:srgbClr val="00FFFF"/>
                </a:solidFill>
                <a:latin typeface="Consolas"/>
                <a:ea typeface="Consolas"/>
                <a:cs typeface="Consolas"/>
                <a:sym typeface="Consolas"/>
              </a:rPr>
              <a:t>);</a:t>
            </a:r>
            <a:endParaRPr sz="1400" dirty="0">
              <a:solidFill>
                <a:srgbClr val="00FFFF"/>
              </a:solidFill>
              <a:latin typeface="Consolas"/>
              <a:ea typeface="Consolas"/>
              <a:cs typeface="Consolas"/>
              <a:sym typeface="Consolas"/>
            </a:endParaRPr>
          </a:p>
          <a:p>
            <a:pPr>
              <a:buSzPts val="1100"/>
            </a:pP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dim3 </a:t>
            </a:r>
            <a:r>
              <a:rPr lang="en-US" sz="1400" dirty="0" err="1">
                <a:solidFill>
                  <a:srgbClr val="00FF00"/>
                </a:solidFill>
                <a:latin typeface="Consolas"/>
                <a:ea typeface="Consolas"/>
                <a:cs typeface="Consolas"/>
                <a:sym typeface="Consolas"/>
              </a:rPr>
              <a:t>blockSize</a:t>
            </a:r>
            <a:r>
              <a:rPr lang="en-US" sz="1400" dirty="0">
                <a:solidFill>
                  <a:srgbClr val="00FF00"/>
                </a:solidFill>
                <a:latin typeface="Consolas"/>
                <a:ea typeface="Consolas"/>
                <a:cs typeface="Consolas"/>
                <a:sym typeface="Consolas"/>
              </a:rPr>
              <a:t> = dim3(16, 16);</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dim3 </a:t>
            </a:r>
            <a:r>
              <a:rPr lang="en-US" sz="1400" dirty="0" err="1">
                <a:solidFill>
                  <a:srgbClr val="00FF00"/>
                </a:solidFill>
                <a:latin typeface="Consolas"/>
                <a:ea typeface="Consolas"/>
                <a:cs typeface="Consolas"/>
                <a:sym typeface="Consolas"/>
              </a:rPr>
              <a:t>gridSize</a:t>
            </a:r>
            <a:r>
              <a:rPr lang="en-US" sz="1400" dirty="0">
                <a:solidFill>
                  <a:srgbClr val="00FF00"/>
                </a:solidFill>
                <a:latin typeface="Consolas"/>
                <a:ea typeface="Consolas"/>
                <a:cs typeface="Consolas"/>
                <a:sym typeface="Consolas"/>
              </a:rPr>
              <a:t> = dim3(size / </a:t>
            </a:r>
            <a:r>
              <a:rPr lang="en-US" sz="1400" dirty="0" err="1">
                <a:solidFill>
                  <a:srgbClr val="00FF00"/>
                </a:solidFill>
                <a:latin typeface="Consolas"/>
                <a:ea typeface="Consolas"/>
                <a:cs typeface="Consolas"/>
                <a:sym typeface="Consolas"/>
              </a:rPr>
              <a:t>blockSize.x</a:t>
            </a:r>
            <a:r>
              <a:rPr lang="en-US" sz="1400" dirty="0">
                <a:solidFill>
                  <a:srgbClr val="00FF00"/>
                </a:solidFill>
                <a:latin typeface="Consolas"/>
                <a:ea typeface="Consolas"/>
                <a:cs typeface="Consolas"/>
                <a:sym typeface="Consolas"/>
              </a:rPr>
              <a:t>, size/ </a:t>
            </a:r>
            <a:r>
              <a:rPr lang="en-US" sz="1400" dirty="0" err="1">
                <a:solidFill>
                  <a:srgbClr val="00FF00"/>
                </a:solidFill>
                <a:latin typeface="Consolas"/>
                <a:ea typeface="Consolas"/>
                <a:cs typeface="Consolas"/>
                <a:sym typeface="Consolas"/>
              </a:rPr>
              <a:t>blockSize.y</a:t>
            </a: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	</a:t>
            </a:r>
            <a:endParaRPr sz="1400" dirty="0">
              <a:solidFill>
                <a:srgbClr val="00FF00"/>
              </a:solidFill>
              <a:latin typeface="Consolas"/>
              <a:ea typeface="Consolas"/>
              <a:cs typeface="Consolas"/>
              <a:sym typeface="Consolas"/>
            </a:endParaRPr>
          </a:p>
          <a:p>
            <a:pPr>
              <a:buSzPts val="1100"/>
            </a:pPr>
            <a:r>
              <a:rPr lang="en-US" sz="1400" dirty="0" err="1">
                <a:solidFill>
                  <a:srgbClr val="FF0000"/>
                </a:solidFill>
                <a:latin typeface="Consolas"/>
                <a:ea typeface="Consolas"/>
                <a:cs typeface="Consolas"/>
                <a:sym typeface="Consolas"/>
              </a:rPr>
              <a:t>cuda_mul</a:t>
            </a:r>
            <a:r>
              <a:rPr lang="en-US" sz="1400" dirty="0">
                <a:solidFill>
                  <a:srgbClr val="FF0000"/>
                </a:solidFill>
                <a:latin typeface="Consolas"/>
                <a:ea typeface="Consolas"/>
                <a:cs typeface="Consolas"/>
                <a:sym typeface="Consolas"/>
              </a:rPr>
              <a:t>&lt;&lt;&lt;</a:t>
            </a:r>
            <a:r>
              <a:rPr lang="en-US" sz="1400" dirty="0" err="1">
                <a:solidFill>
                  <a:srgbClr val="FF0000"/>
                </a:solidFill>
                <a:latin typeface="Consolas"/>
                <a:ea typeface="Consolas"/>
                <a:cs typeface="Consolas"/>
                <a:sym typeface="Consolas"/>
              </a:rPr>
              <a:t>gridSize</a:t>
            </a:r>
            <a:r>
              <a:rPr lang="en-US" sz="1400" dirty="0">
                <a:solidFill>
                  <a:srgbClr val="FF0000"/>
                </a:solidFill>
                <a:latin typeface="Consolas"/>
                <a:ea typeface="Consolas"/>
                <a:cs typeface="Consolas"/>
                <a:sym typeface="Consolas"/>
              </a:rPr>
              <a:t>, </a:t>
            </a:r>
            <a:r>
              <a:rPr lang="en-US" sz="1400" dirty="0" err="1">
                <a:solidFill>
                  <a:srgbClr val="FF0000"/>
                </a:solidFill>
                <a:latin typeface="Consolas"/>
                <a:ea typeface="Consolas"/>
                <a:cs typeface="Consolas"/>
                <a:sym typeface="Consolas"/>
              </a:rPr>
              <a:t>blockSize</a:t>
            </a:r>
            <a:r>
              <a:rPr lang="en-US" sz="1400" dirty="0">
                <a:solidFill>
                  <a:srgbClr val="FF0000"/>
                </a:solidFill>
                <a:latin typeface="Consolas"/>
                <a:ea typeface="Consolas"/>
                <a:cs typeface="Consolas"/>
                <a:sym typeface="Consolas"/>
              </a:rPr>
              <a:t>&gt;&gt;&gt;(dm1, dm2, dm3, size);</a:t>
            </a:r>
            <a:endParaRPr sz="1400" dirty="0">
              <a:solidFill>
                <a:srgbClr val="FF0000"/>
              </a:solidFill>
              <a:latin typeface="Consolas"/>
              <a:ea typeface="Consolas"/>
              <a:cs typeface="Consolas"/>
              <a:sym typeface="Consolas"/>
            </a:endParaRPr>
          </a:p>
          <a:p>
            <a:pPr>
              <a:buSzPts val="1100"/>
            </a:pPr>
            <a:endParaRPr sz="1400" dirty="0">
              <a:solidFill>
                <a:srgbClr val="00FF00"/>
              </a:solidFill>
              <a:latin typeface="Consolas"/>
              <a:ea typeface="Consolas"/>
              <a:cs typeface="Consolas"/>
              <a:sym typeface="Consolas"/>
            </a:endParaRPr>
          </a:p>
          <a:p>
            <a:pPr lvl="0">
              <a:buSzPts val="1100"/>
            </a:pPr>
            <a:r>
              <a:rPr lang="en-US" sz="1400" dirty="0" err="1">
                <a:solidFill>
                  <a:srgbClr val="00FFFF"/>
                </a:solidFill>
                <a:latin typeface="Consolas"/>
                <a:ea typeface="Consolas"/>
                <a:cs typeface="Consolas"/>
                <a:sym typeface="Consolas"/>
              </a:rPr>
              <a:t>cudaMemcpy</a:t>
            </a:r>
            <a:r>
              <a:rPr lang="en-US" sz="1400" dirty="0">
                <a:solidFill>
                  <a:srgbClr val="00FFFF"/>
                </a:solidFill>
                <a:latin typeface="Consolas"/>
                <a:ea typeface="Consolas"/>
                <a:cs typeface="Consolas"/>
                <a:sym typeface="Consolas"/>
              </a:rPr>
              <a:t>(c, dm3, </a:t>
            </a:r>
            <a:r>
              <a:rPr lang="en-US" sz="1400" dirty="0" err="1">
                <a:solidFill>
                  <a:srgbClr val="00FFFF"/>
                </a:solidFill>
                <a:latin typeface="Consolas"/>
                <a:ea typeface="Consolas"/>
                <a:cs typeface="Consolas"/>
                <a:sym typeface="Consolas"/>
              </a:rPr>
              <a:t>sizeof</a:t>
            </a:r>
            <a:r>
              <a:rPr lang="en-US" sz="1400" dirty="0">
                <a:solidFill>
                  <a:srgbClr val="00FFFF"/>
                </a:solidFill>
                <a:latin typeface="Consolas"/>
                <a:ea typeface="Consolas"/>
                <a:cs typeface="Consolas"/>
                <a:sym typeface="Consolas"/>
              </a:rPr>
              <a:t>(float)*size*size, </a:t>
            </a:r>
            <a:r>
              <a:rPr lang="en-US" sz="1400" dirty="0" err="1">
                <a:solidFill>
                  <a:srgbClr val="00FFFF"/>
                </a:solidFill>
                <a:latin typeface="Consolas"/>
                <a:ea typeface="Consolas"/>
                <a:cs typeface="Consolas"/>
                <a:sym typeface="Consolas"/>
              </a:rPr>
              <a:t>cudaMemcpyDeviceToHost</a:t>
            </a:r>
            <a:r>
              <a:rPr lang="en-US" sz="1400" dirty="0">
                <a:solidFill>
                  <a:srgbClr val="00FFFF"/>
                </a:solidFill>
                <a:latin typeface="Consolas"/>
                <a:ea typeface="Consolas"/>
                <a:cs typeface="Consolas"/>
                <a:sym typeface="Consolas"/>
              </a:rPr>
              <a:t>);</a:t>
            </a:r>
            <a:endParaRPr sz="1400" dirty="0">
              <a:solidFill>
                <a:srgbClr val="00FFFF"/>
              </a:solidFill>
              <a:latin typeface="Consolas"/>
              <a:ea typeface="Consolas"/>
              <a:cs typeface="Consolas"/>
              <a:sym typeface="Consolas"/>
            </a:endParaRPr>
          </a:p>
        </p:txBody>
      </p:sp>
      <p:sp>
        <p:nvSpPr>
          <p:cNvPr id="2" name="Rectangle 1">
            <a:extLst>
              <a:ext uri="{FF2B5EF4-FFF2-40B4-BE49-F238E27FC236}">
                <a16:creationId xmlns:a16="http://schemas.microsoft.com/office/drawing/2014/main" id="{4DD3209B-64AC-4812-BE26-6AF0A7382A06}"/>
              </a:ext>
            </a:extLst>
          </p:cNvPr>
          <p:cNvSpPr/>
          <p:nvPr/>
        </p:nvSpPr>
        <p:spPr>
          <a:xfrm>
            <a:off x="3728936" y="987029"/>
            <a:ext cx="7210850" cy="369332"/>
          </a:xfrm>
          <a:prstGeom prst="rect">
            <a:avLst/>
          </a:prstGeom>
        </p:spPr>
        <p:txBody>
          <a:bodyPr wrap="square">
            <a:spAutoFit/>
          </a:bodyPr>
          <a:lstStyle/>
          <a:p>
            <a:pPr lvl="0"/>
            <a:r>
              <a:rPr lang="en-US" b="1" dirty="0">
                <a:solidFill>
                  <a:srgbClr val="FF0000"/>
                </a:solidFill>
                <a:ea typeface="Calibri"/>
                <a:cs typeface="Calibri"/>
                <a:sym typeface="Calibri"/>
              </a:rPr>
              <a:t>Example</a:t>
            </a:r>
            <a:r>
              <a:rPr lang="en-US" dirty="0">
                <a:solidFill>
                  <a:schemeClr val="dk1"/>
                </a:solidFill>
                <a:ea typeface="Calibri"/>
                <a:cs typeface="Calibri"/>
                <a:sym typeface="Calibri"/>
              </a:rPr>
              <a:t>: matrix multiplication with CUDA</a:t>
            </a:r>
          </a:p>
        </p:txBody>
      </p:sp>
      <p:sp>
        <p:nvSpPr>
          <p:cNvPr id="3" name="TextBox 2">
            <a:extLst>
              <a:ext uri="{FF2B5EF4-FFF2-40B4-BE49-F238E27FC236}">
                <a16:creationId xmlns:a16="http://schemas.microsoft.com/office/drawing/2014/main" id="{8B11243C-0F52-4A79-BDE5-D7F35569CA3C}"/>
              </a:ext>
            </a:extLst>
          </p:cNvPr>
          <p:cNvSpPr txBox="1"/>
          <p:nvPr/>
        </p:nvSpPr>
        <p:spPr>
          <a:xfrm>
            <a:off x="180844" y="2219625"/>
            <a:ext cx="3331527" cy="3139321"/>
          </a:xfrm>
          <a:prstGeom prst="rect">
            <a:avLst/>
          </a:prstGeom>
          <a:noFill/>
        </p:spPr>
        <p:txBody>
          <a:bodyPr wrap="square" rtlCol="0">
            <a:spAutoFit/>
          </a:bodyPr>
          <a:lstStyle/>
          <a:p>
            <a:pPr marL="285750" indent="-285750">
              <a:buFont typeface="Arial" panose="020B0604020202020204" pitchFamily="34" charset="0"/>
              <a:buChar char="•"/>
            </a:pPr>
            <a:r>
              <a:rPr lang="en-US" dirty="0"/>
              <a:t>We create as many kernel instances as we need!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this case, we divide the problems into 2D blocks of 16*16 threads each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grid of blocks is large enough to accommodate all the blocks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1"/>
        <p:cNvGrpSpPr/>
        <p:nvPr/>
      </p:nvGrpSpPr>
      <p:grpSpPr>
        <a:xfrm>
          <a:off x="0" y="0"/>
          <a:ext cx="0" cy="0"/>
          <a:chOff x="0" y="0"/>
          <a:chExt cx="0" cy="0"/>
        </a:xfrm>
      </p:grpSpPr>
      <p:sp>
        <p:nvSpPr>
          <p:cNvPr id="2254" name="Google Shape;2254;g770d93b87d_2_65"/>
          <p:cNvSpPr txBox="1"/>
          <p:nvPr/>
        </p:nvSpPr>
        <p:spPr>
          <a:xfrm>
            <a:off x="10756481" y="1479146"/>
            <a:ext cx="5486400" cy="381000"/>
          </a:xfrm>
          <a:prstGeom prst="rect">
            <a:avLst/>
          </a:prstGeom>
          <a:noFill/>
          <a:ln>
            <a:noFill/>
          </a:ln>
        </p:spPr>
        <p:txBody>
          <a:bodyPr spcFirstLastPara="1" wrap="square" lIns="91425" tIns="91425" rIns="91425" bIns="91425" anchor="t" anchorCtr="0">
            <a:noAutofit/>
          </a:bodyPr>
          <a:lstStyle/>
          <a:p>
            <a:r>
              <a:rPr lang="en-US" b="1" dirty="0">
                <a:solidFill>
                  <a:srgbClr val="FF0000"/>
                </a:solidFill>
                <a:latin typeface="Calibri"/>
                <a:ea typeface="Calibri"/>
                <a:cs typeface="Calibri"/>
                <a:sym typeface="Calibri"/>
              </a:rPr>
              <a:t>CUDA Kernel</a:t>
            </a:r>
            <a:endParaRPr b="1" dirty="0">
              <a:solidFill>
                <a:srgbClr val="FF0000"/>
              </a:solidFill>
              <a:latin typeface="Calibri"/>
              <a:ea typeface="Calibri"/>
              <a:cs typeface="Calibri"/>
              <a:sym typeface="Calibri"/>
            </a:endParaRPr>
          </a:p>
          <a:p>
            <a:endParaRPr dirty="0">
              <a:latin typeface="Calibri"/>
              <a:ea typeface="Calibri"/>
              <a:cs typeface="Calibri"/>
              <a:sym typeface="Calibri"/>
            </a:endParaRPr>
          </a:p>
        </p:txBody>
      </p:sp>
      <p:sp>
        <p:nvSpPr>
          <p:cNvPr id="2" name="Rectangle 1">
            <a:extLst>
              <a:ext uri="{FF2B5EF4-FFF2-40B4-BE49-F238E27FC236}">
                <a16:creationId xmlns:a16="http://schemas.microsoft.com/office/drawing/2014/main" id="{4DD3209B-64AC-4812-BE26-6AF0A7382A06}"/>
              </a:ext>
            </a:extLst>
          </p:cNvPr>
          <p:cNvSpPr/>
          <p:nvPr/>
        </p:nvSpPr>
        <p:spPr>
          <a:xfrm>
            <a:off x="3765881" y="368193"/>
            <a:ext cx="7210850" cy="369332"/>
          </a:xfrm>
          <a:prstGeom prst="rect">
            <a:avLst/>
          </a:prstGeom>
        </p:spPr>
        <p:txBody>
          <a:bodyPr wrap="square">
            <a:spAutoFit/>
          </a:bodyPr>
          <a:lstStyle/>
          <a:p>
            <a:pPr lvl="0"/>
            <a:r>
              <a:rPr lang="en-US" b="1" dirty="0">
                <a:solidFill>
                  <a:srgbClr val="FF0000"/>
                </a:solidFill>
                <a:ea typeface="Calibri"/>
                <a:cs typeface="Calibri"/>
                <a:sym typeface="Calibri"/>
              </a:rPr>
              <a:t>Full example</a:t>
            </a:r>
            <a:r>
              <a:rPr lang="en-US" dirty="0">
                <a:solidFill>
                  <a:schemeClr val="dk1"/>
                </a:solidFill>
                <a:ea typeface="Calibri"/>
                <a:cs typeface="Calibri"/>
                <a:sym typeface="Calibri"/>
              </a:rPr>
              <a:t>: matrix multiplication with CUDA</a:t>
            </a:r>
          </a:p>
        </p:txBody>
      </p:sp>
      <p:pic>
        <p:nvPicPr>
          <p:cNvPr id="8" name="Google Shape;2266;g770d93b87d_2_86">
            <a:extLst>
              <a:ext uri="{FF2B5EF4-FFF2-40B4-BE49-F238E27FC236}">
                <a16:creationId xmlns:a16="http://schemas.microsoft.com/office/drawing/2014/main" id="{C07D7644-2AE2-466D-9147-C1235D3DD5B9}"/>
              </a:ext>
            </a:extLst>
          </p:cNvPr>
          <p:cNvPicPr preferRelativeResize="0"/>
          <p:nvPr/>
        </p:nvPicPr>
        <p:blipFill rotWithShape="1">
          <a:blip r:embed="rId3">
            <a:alphaModFix/>
          </a:blip>
          <a:srcRect/>
          <a:stretch/>
        </p:blipFill>
        <p:spPr>
          <a:xfrm>
            <a:off x="3703781" y="2598609"/>
            <a:ext cx="7462364" cy="3999050"/>
          </a:xfrm>
          <a:prstGeom prst="rect">
            <a:avLst/>
          </a:prstGeom>
          <a:noFill/>
          <a:ln>
            <a:noFill/>
          </a:ln>
        </p:spPr>
      </p:pic>
      <p:sp>
        <p:nvSpPr>
          <p:cNvPr id="9" name="Google Shape;2129;p92">
            <a:extLst>
              <a:ext uri="{FF2B5EF4-FFF2-40B4-BE49-F238E27FC236}">
                <a16:creationId xmlns:a16="http://schemas.microsoft.com/office/drawing/2014/main" id="{66D33662-D02F-44A8-8A60-9DB75BB76BCA}"/>
              </a:ext>
            </a:extLst>
          </p:cNvPr>
          <p:cNvSpPr/>
          <p:nvPr/>
        </p:nvSpPr>
        <p:spPr>
          <a:xfrm>
            <a:off x="6775924" y="3481658"/>
            <a:ext cx="90534" cy="45719"/>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cxnSp>
        <p:nvCxnSpPr>
          <p:cNvPr id="10" name="Straight Connector 9">
            <a:extLst>
              <a:ext uri="{FF2B5EF4-FFF2-40B4-BE49-F238E27FC236}">
                <a16:creationId xmlns:a16="http://schemas.microsoft.com/office/drawing/2014/main" id="{C8B18E82-479F-4A7F-AEDF-D847E80BB7EA}"/>
              </a:ext>
            </a:extLst>
          </p:cNvPr>
          <p:cNvCxnSpPr>
            <a:cxnSpLocks/>
          </p:cNvCxnSpPr>
          <p:nvPr/>
        </p:nvCxnSpPr>
        <p:spPr>
          <a:xfrm>
            <a:off x="3924082" y="2497410"/>
            <a:ext cx="2851842" cy="102996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B0BDCFD-716C-438D-97EA-095FF3C0C489}"/>
              </a:ext>
            </a:extLst>
          </p:cNvPr>
          <p:cNvCxnSpPr>
            <a:cxnSpLocks/>
          </p:cNvCxnSpPr>
          <p:nvPr/>
        </p:nvCxnSpPr>
        <p:spPr>
          <a:xfrm flipH="1">
            <a:off x="6866460" y="2497410"/>
            <a:ext cx="3621385" cy="102996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Google Shape;2255;g770d93b87d_2_65"/>
          <p:cNvSpPr/>
          <p:nvPr/>
        </p:nvSpPr>
        <p:spPr>
          <a:xfrm>
            <a:off x="3765881" y="900209"/>
            <a:ext cx="6866400" cy="1597200"/>
          </a:xfrm>
          <a:prstGeom prst="roundRect">
            <a:avLst>
              <a:gd name="adj" fmla="val 10241"/>
            </a:avLst>
          </a:prstGeom>
          <a:solidFill>
            <a:schemeClr val="dk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a:buSzPts val="1100"/>
            </a:pPr>
            <a:r>
              <a:rPr lang="en-US" sz="1400" dirty="0">
                <a:solidFill>
                  <a:srgbClr val="FF0000"/>
                </a:solidFill>
                <a:latin typeface="Consolas"/>
                <a:ea typeface="Consolas"/>
                <a:cs typeface="Consolas"/>
                <a:sym typeface="Consolas"/>
              </a:rPr>
              <a:t>__global__</a:t>
            </a:r>
            <a:r>
              <a:rPr lang="en-US" sz="1400" dirty="0">
                <a:solidFill>
                  <a:srgbClr val="00FF00"/>
                </a:solidFill>
                <a:latin typeface="Consolas"/>
                <a:ea typeface="Consolas"/>
                <a:cs typeface="Consolas"/>
                <a:sym typeface="Consolas"/>
              </a:rPr>
              <a:t> void </a:t>
            </a:r>
            <a:r>
              <a:rPr lang="en-US" sz="1400" dirty="0" err="1">
                <a:solidFill>
                  <a:srgbClr val="00FF00"/>
                </a:solidFill>
                <a:latin typeface="Consolas"/>
                <a:ea typeface="Consolas"/>
                <a:cs typeface="Consolas"/>
                <a:sym typeface="Consolas"/>
              </a:rPr>
              <a:t>cuda_mul</a:t>
            </a:r>
            <a:r>
              <a:rPr lang="en-US" sz="1400" dirty="0">
                <a:solidFill>
                  <a:srgbClr val="00FF00"/>
                </a:solidFill>
                <a:latin typeface="Consolas"/>
                <a:ea typeface="Consolas"/>
                <a:cs typeface="Consolas"/>
                <a:sym typeface="Consolas"/>
              </a:rPr>
              <a:t>(float* a, float* b, float* c, </a:t>
            </a:r>
            <a:r>
              <a:rPr lang="en-US" sz="1400" dirty="0" err="1">
                <a:solidFill>
                  <a:srgbClr val="00FF00"/>
                </a:solidFill>
                <a:latin typeface="Consolas"/>
                <a:ea typeface="Consolas"/>
                <a:cs typeface="Consolas"/>
                <a:sym typeface="Consolas"/>
              </a:rPr>
              <a:t>int</a:t>
            </a:r>
            <a:r>
              <a:rPr lang="en-US" sz="1400" dirty="0">
                <a:solidFill>
                  <a:srgbClr val="00FF00"/>
                </a:solidFill>
                <a:latin typeface="Consolas"/>
                <a:ea typeface="Consolas"/>
                <a:cs typeface="Consolas"/>
                <a:sym typeface="Consolas"/>
              </a:rPr>
              <a:t> size) {</a:t>
            </a:r>
            <a:endParaRPr sz="1400" dirty="0">
              <a:solidFill>
                <a:srgbClr val="00FF00"/>
              </a:solidFill>
              <a:latin typeface="Consolas"/>
              <a:ea typeface="Consolas"/>
              <a:cs typeface="Consolas"/>
              <a:sym typeface="Consolas"/>
            </a:endParaRPr>
          </a:p>
          <a:p>
            <a:pPr>
              <a:buSzPts val="1100"/>
            </a:pPr>
            <a:r>
              <a:rPr lang="en-US" sz="1400" dirty="0">
                <a:solidFill>
                  <a:srgbClr val="00FFFF"/>
                </a:solidFill>
                <a:latin typeface="Consolas"/>
                <a:ea typeface="Consolas"/>
                <a:cs typeface="Consolas"/>
                <a:sym typeface="Consolas"/>
              </a:rPr>
              <a:t>    int row = </a:t>
            </a:r>
            <a:r>
              <a:rPr lang="en-US" sz="1400" dirty="0" err="1">
                <a:solidFill>
                  <a:srgbClr val="00FFFF"/>
                </a:solidFill>
                <a:latin typeface="Consolas"/>
                <a:ea typeface="Consolas"/>
                <a:cs typeface="Consolas"/>
                <a:sym typeface="Consolas"/>
              </a:rPr>
              <a:t>blockIdx.y</a:t>
            </a:r>
            <a:r>
              <a:rPr lang="en-US" sz="1400" dirty="0">
                <a:solidFill>
                  <a:srgbClr val="00FFFF"/>
                </a:solidFill>
                <a:latin typeface="Consolas"/>
                <a:ea typeface="Consolas"/>
                <a:cs typeface="Consolas"/>
                <a:sym typeface="Consolas"/>
              </a:rPr>
              <a:t>*</a:t>
            </a:r>
            <a:r>
              <a:rPr lang="en-US" sz="1400" dirty="0" err="1">
                <a:solidFill>
                  <a:srgbClr val="00FFFF"/>
                </a:solidFill>
                <a:latin typeface="Consolas"/>
                <a:ea typeface="Consolas"/>
                <a:cs typeface="Consolas"/>
                <a:sym typeface="Consolas"/>
              </a:rPr>
              <a:t>blockDim.y+threadIdx.y</a:t>
            </a:r>
            <a:r>
              <a:rPr lang="en-US" sz="1400" dirty="0">
                <a:solidFill>
                  <a:srgbClr val="00FFFF"/>
                </a:solidFill>
                <a:latin typeface="Consolas"/>
                <a:ea typeface="Consolas"/>
                <a:cs typeface="Consolas"/>
                <a:sym typeface="Consolas"/>
              </a:rPr>
              <a:t>;</a:t>
            </a:r>
            <a:endParaRPr sz="1400" dirty="0">
              <a:solidFill>
                <a:srgbClr val="00FFFF"/>
              </a:solidFill>
              <a:latin typeface="Consolas"/>
              <a:ea typeface="Consolas"/>
              <a:cs typeface="Consolas"/>
              <a:sym typeface="Consolas"/>
            </a:endParaRPr>
          </a:p>
          <a:p>
            <a:pPr>
              <a:buSzPts val="1100"/>
            </a:pPr>
            <a:r>
              <a:rPr lang="en-US" sz="1400" dirty="0">
                <a:solidFill>
                  <a:srgbClr val="00FFFF"/>
                </a:solidFill>
                <a:latin typeface="Consolas"/>
                <a:ea typeface="Consolas"/>
                <a:cs typeface="Consolas"/>
                <a:sym typeface="Consolas"/>
              </a:rPr>
              <a:t>    int col = </a:t>
            </a:r>
            <a:r>
              <a:rPr lang="en-US" sz="1400" dirty="0" err="1">
                <a:solidFill>
                  <a:srgbClr val="00FFFF"/>
                </a:solidFill>
                <a:latin typeface="Consolas"/>
                <a:ea typeface="Consolas"/>
                <a:cs typeface="Consolas"/>
                <a:sym typeface="Consolas"/>
              </a:rPr>
              <a:t>blockIdx.x</a:t>
            </a:r>
            <a:r>
              <a:rPr lang="en-US" sz="1400" dirty="0">
                <a:solidFill>
                  <a:srgbClr val="00FFFF"/>
                </a:solidFill>
                <a:latin typeface="Consolas"/>
                <a:ea typeface="Consolas"/>
                <a:cs typeface="Consolas"/>
                <a:sym typeface="Consolas"/>
              </a:rPr>
              <a:t>*</a:t>
            </a:r>
            <a:r>
              <a:rPr lang="en-US" sz="1400" dirty="0" err="1">
                <a:solidFill>
                  <a:srgbClr val="00FFFF"/>
                </a:solidFill>
                <a:latin typeface="Consolas"/>
                <a:ea typeface="Consolas"/>
                <a:cs typeface="Consolas"/>
                <a:sym typeface="Consolas"/>
              </a:rPr>
              <a:t>blockDim.x+threadIdx.x</a:t>
            </a:r>
            <a:r>
              <a:rPr lang="en-US" sz="1400" dirty="0">
                <a:solidFill>
                  <a:srgbClr val="00FFFF"/>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    for (int </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 = 0; </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 &lt; size; </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        c[row*</a:t>
            </a:r>
            <a:r>
              <a:rPr lang="en-US" sz="1400" dirty="0" err="1">
                <a:solidFill>
                  <a:srgbClr val="00FF00"/>
                </a:solidFill>
                <a:latin typeface="Consolas"/>
                <a:ea typeface="Consolas"/>
                <a:cs typeface="Consolas"/>
                <a:sym typeface="Consolas"/>
              </a:rPr>
              <a:t>size+col</a:t>
            </a:r>
            <a:r>
              <a:rPr lang="en-US" sz="1400" dirty="0">
                <a:solidFill>
                  <a:srgbClr val="00FF00"/>
                </a:solidFill>
                <a:latin typeface="Consolas"/>
                <a:ea typeface="Consolas"/>
                <a:cs typeface="Consolas"/>
                <a:sym typeface="Consolas"/>
              </a:rPr>
              <a:t>] += a[row*</a:t>
            </a:r>
            <a:r>
              <a:rPr lang="en-US" sz="1400" dirty="0" err="1">
                <a:solidFill>
                  <a:srgbClr val="00FF00"/>
                </a:solidFill>
                <a:latin typeface="Consolas"/>
                <a:ea typeface="Consolas"/>
                <a:cs typeface="Consolas"/>
                <a:sym typeface="Consolas"/>
              </a:rPr>
              <a:t>size+i</a:t>
            </a:r>
            <a:r>
              <a:rPr lang="en-US" sz="1400" dirty="0">
                <a:solidFill>
                  <a:srgbClr val="00FF00"/>
                </a:solidFill>
                <a:latin typeface="Consolas"/>
                <a:ea typeface="Consolas"/>
                <a:cs typeface="Consolas"/>
                <a:sym typeface="Consolas"/>
              </a:rPr>
              <a:t>] * b[</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a:t>
            </a:r>
            <a:r>
              <a:rPr lang="en-US" sz="1400" dirty="0" err="1">
                <a:solidFill>
                  <a:srgbClr val="00FF00"/>
                </a:solidFill>
                <a:latin typeface="Consolas"/>
                <a:ea typeface="Consolas"/>
                <a:cs typeface="Consolas"/>
                <a:sym typeface="Consolas"/>
              </a:rPr>
              <a:t>size+col</a:t>
            </a: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endParaRPr sz="1400" dirty="0">
              <a:solidFill>
                <a:srgbClr val="FF0000"/>
              </a:solidFill>
              <a:latin typeface="Consolas"/>
              <a:ea typeface="Consolas"/>
              <a:cs typeface="Consolas"/>
              <a:sym typeface="Consolas"/>
            </a:endParaRPr>
          </a:p>
        </p:txBody>
      </p:sp>
      <p:sp>
        <p:nvSpPr>
          <p:cNvPr id="3" name="TextBox 2">
            <a:extLst>
              <a:ext uri="{FF2B5EF4-FFF2-40B4-BE49-F238E27FC236}">
                <a16:creationId xmlns:a16="http://schemas.microsoft.com/office/drawing/2014/main" id="{55C30AB6-87A0-4F59-A8A4-56802D75EF9F}"/>
              </a:ext>
            </a:extLst>
          </p:cNvPr>
          <p:cNvSpPr txBox="1"/>
          <p:nvPr/>
        </p:nvSpPr>
        <p:spPr>
          <a:xfrm>
            <a:off x="134662" y="737525"/>
            <a:ext cx="3331527" cy="6186309"/>
          </a:xfrm>
          <a:prstGeom prst="rect">
            <a:avLst/>
          </a:prstGeom>
          <a:noFill/>
        </p:spPr>
        <p:txBody>
          <a:bodyPr wrap="square" rtlCol="0">
            <a:spAutoFit/>
          </a:bodyPr>
          <a:lstStyle/>
          <a:p>
            <a:r>
              <a:rPr lang="en-US" dirty="0"/>
              <a:t>Each thread inside a 2D block receives:</a:t>
            </a:r>
          </a:p>
          <a:p>
            <a:pPr marL="742950" lvl="1" indent="-285750">
              <a:buFont typeface="Arial" panose="020B0604020202020204" pitchFamily="34" charset="0"/>
              <a:buChar char="•"/>
            </a:pPr>
            <a:r>
              <a:rPr lang="en-US" dirty="0" err="1"/>
              <a:t>blockidx.x</a:t>
            </a:r>
            <a:r>
              <a:rPr lang="en-US" dirty="0"/>
              <a:t>, </a:t>
            </a:r>
            <a:r>
              <a:rPr lang="en-US" dirty="0" err="1"/>
              <a:t>blockidx.y</a:t>
            </a:r>
            <a:endParaRPr lang="en-US" dirty="0"/>
          </a:p>
          <a:p>
            <a:pPr marL="742950" lvl="1" indent="-285750">
              <a:buFont typeface="Arial" panose="020B0604020202020204" pitchFamily="34" charset="0"/>
              <a:buChar char="•"/>
            </a:pPr>
            <a:r>
              <a:rPr lang="en-US" dirty="0" err="1"/>
              <a:t>threadidx.x</a:t>
            </a:r>
            <a:r>
              <a:rPr lang="en-US" dirty="0"/>
              <a:t>, </a:t>
            </a:r>
            <a:r>
              <a:rPr lang="en-US" dirty="0" err="1"/>
              <a:t>threadidx.y</a:t>
            </a:r>
            <a:endParaRPr lang="en-US" dirty="0"/>
          </a:p>
          <a:p>
            <a:pPr marL="742950" lvl="1" indent="-285750">
              <a:buFont typeface="Arial" panose="020B0604020202020204" pitchFamily="34" charset="0"/>
              <a:buChar char="•"/>
            </a:pPr>
            <a:endParaRPr lang="en-US" dirty="0"/>
          </a:p>
          <a:p>
            <a:r>
              <a:rPr lang="en-US" dirty="0"/>
              <a:t>This information is used to retrieve the row and col indices (formerly I and j).</a:t>
            </a:r>
          </a:p>
          <a:p>
            <a:endParaRPr lang="en-US" dirty="0"/>
          </a:p>
          <a:p>
            <a:r>
              <a:rPr lang="en-US" dirty="0"/>
              <a:t>This is the only information that differs between threads!</a:t>
            </a:r>
          </a:p>
          <a:p>
            <a:endParaRPr lang="en-US" dirty="0"/>
          </a:p>
          <a:p>
            <a:r>
              <a:rPr lang="en-US" dirty="0"/>
              <a:t>Remember, the data is not sent to individual threads</a:t>
            </a:r>
          </a:p>
          <a:p>
            <a:endParaRPr lang="en-US" dirty="0"/>
          </a:p>
          <a:p>
            <a:r>
              <a:rPr lang="en-US" dirty="0"/>
              <a:t>Instead, the data is mapped onto the grid of blocks</a:t>
            </a:r>
          </a:p>
          <a:p>
            <a:endParaRPr lang="en-US" dirty="0"/>
          </a:p>
          <a:p>
            <a:r>
              <a:rPr lang="en-US" dirty="0"/>
              <a:t>And threads know which data to access thanks to the block and thread ids.</a:t>
            </a:r>
          </a:p>
          <a:p>
            <a:pPr lvl="1"/>
            <a:endParaRPr lang="en-US" dirty="0"/>
          </a:p>
        </p:txBody>
      </p:sp>
    </p:spTree>
    <p:extLst>
      <p:ext uri="{BB962C8B-B14F-4D97-AF65-F5344CB8AC3E}">
        <p14:creationId xmlns:p14="http://schemas.microsoft.com/office/powerpoint/2010/main" val="593526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51"/>
        <p:cNvGrpSpPr/>
        <p:nvPr/>
      </p:nvGrpSpPr>
      <p:grpSpPr>
        <a:xfrm>
          <a:off x="0" y="0"/>
          <a:ext cx="0" cy="0"/>
          <a:chOff x="0" y="0"/>
          <a:chExt cx="0" cy="0"/>
        </a:xfrm>
      </p:grpSpPr>
      <p:sp>
        <p:nvSpPr>
          <p:cNvPr id="2254" name="Google Shape;2254;g770d93b87d_2_65"/>
          <p:cNvSpPr txBox="1"/>
          <p:nvPr/>
        </p:nvSpPr>
        <p:spPr>
          <a:xfrm>
            <a:off x="8881500" y="1654637"/>
            <a:ext cx="5486400" cy="381000"/>
          </a:xfrm>
          <a:prstGeom prst="rect">
            <a:avLst/>
          </a:prstGeom>
          <a:noFill/>
          <a:ln>
            <a:noFill/>
          </a:ln>
        </p:spPr>
        <p:txBody>
          <a:bodyPr spcFirstLastPara="1" wrap="square" lIns="91425" tIns="91425" rIns="91425" bIns="91425" anchor="t" anchorCtr="0">
            <a:noAutofit/>
          </a:bodyPr>
          <a:lstStyle/>
          <a:p>
            <a:r>
              <a:rPr lang="en-US" b="1" dirty="0">
                <a:solidFill>
                  <a:srgbClr val="FF0000"/>
                </a:solidFill>
                <a:latin typeface="Calibri"/>
                <a:ea typeface="Calibri"/>
                <a:cs typeface="Calibri"/>
                <a:sym typeface="Calibri"/>
              </a:rPr>
              <a:t>CUDA Kernel</a:t>
            </a:r>
            <a:endParaRPr b="1" dirty="0">
              <a:solidFill>
                <a:srgbClr val="FF0000"/>
              </a:solidFill>
              <a:latin typeface="Calibri"/>
              <a:ea typeface="Calibri"/>
              <a:cs typeface="Calibri"/>
              <a:sym typeface="Calibri"/>
            </a:endParaRPr>
          </a:p>
          <a:p>
            <a:endParaRPr dirty="0">
              <a:latin typeface="Calibri"/>
              <a:ea typeface="Calibri"/>
              <a:cs typeface="Calibri"/>
              <a:sym typeface="Calibri"/>
            </a:endParaRPr>
          </a:p>
        </p:txBody>
      </p:sp>
      <p:sp>
        <p:nvSpPr>
          <p:cNvPr id="2" name="Rectangle 1">
            <a:extLst>
              <a:ext uri="{FF2B5EF4-FFF2-40B4-BE49-F238E27FC236}">
                <a16:creationId xmlns:a16="http://schemas.microsoft.com/office/drawing/2014/main" id="{4DD3209B-64AC-4812-BE26-6AF0A7382A06}"/>
              </a:ext>
            </a:extLst>
          </p:cNvPr>
          <p:cNvSpPr/>
          <p:nvPr/>
        </p:nvSpPr>
        <p:spPr>
          <a:xfrm>
            <a:off x="1890900" y="543684"/>
            <a:ext cx="7210850" cy="369332"/>
          </a:xfrm>
          <a:prstGeom prst="rect">
            <a:avLst/>
          </a:prstGeom>
        </p:spPr>
        <p:txBody>
          <a:bodyPr wrap="square">
            <a:spAutoFit/>
          </a:bodyPr>
          <a:lstStyle/>
          <a:p>
            <a:pPr lvl="0"/>
            <a:r>
              <a:rPr lang="en-US" b="1" dirty="0">
                <a:solidFill>
                  <a:srgbClr val="FF0000"/>
                </a:solidFill>
                <a:ea typeface="Calibri"/>
                <a:cs typeface="Calibri"/>
                <a:sym typeface="Calibri"/>
              </a:rPr>
              <a:t>Full example</a:t>
            </a:r>
            <a:r>
              <a:rPr lang="en-US" dirty="0">
                <a:solidFill>
                  <a:schemeClr val="dk1"/>
                </a:solidFill>
                <a:ea typeface="Calibri"/>
                <a:cs typeface="Calibri"/>
                <a:sym typeface="Calibri"/>
              </a:rPr>
              <a:t>: matrix multiplication with CUDA</a:t>
            </a:r>
          </a:p>
        </p:txBody>
      </p:sp>
      <p:pic>
        <p:nvPicPr>
          <p:cNvPr id="8" name="Google Shape;2266;g770d93b87d_2_86">
            <a:extLst>
              <a:ext uri="{FF2B5EF4-FFF2-40B4-BE49-F238E27FC236}">
                <a16:creationId xmlns:a16="http://schemas.microsoft.com/office/drawing/2014/main" id="{C07D7644-2AE2-466D-9147-C1235D3DD5B9}"/>
              </a:ext>
            </a:extLst>
          </p:cNvPr>
          <p:cNvPicPr preferRelativeResize="0"/>
          <p:nvPr/>
        </p:nvPicPr>
        <p:blipFill rotWithShape="1">
          <a:blip r:embed="rId3">
            <a:alphaModFix/>
          </a:blip>
          <a:srcRect/>
          <a:stretch/>
        </p:blipFill>
        <p:spPr>
          <a:xfrm>
            <a:off x="1828800" y="2774100"/>
            <a:ext cx="7462364" cy="3999050"/>
          </a:xfrm>
          <a:prstGeom prst="rect">
            <a:avLst/>
          </a:prstGeom>
          <a:noFill/>
          <a:ln>
            <a:noFill/>
          </a:ln>
        </p:spPr>
      </p:pic>
      <p:sp>
        <p:nvSpPr>
          <p:cNvPr id="9" name="Google Shape;2129;p92">
            <a:extLst>
              <a:ext uri="{FF2B5EF4-FFF2-40B4-BE49-F238E27FC236}">
                <a16:creationId xmlns:a16="http://schemas.microsoft.com/office/drawing/2014/main" id="{66D33662-D02F-44A8-8A60-9DB75BB76BCA}"/>
              </a:ext>
            </a:extLst>
          </p:cNvPr>
          <p:cNvSpPr/>
          <p:nvPr/>
        </p:nvSpPr>
        <p:spPr>
          <a:xfrm>
            <a:off x="4900943" y="3657149"/>
            <a:ext cx="90534" cy="45719"/>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cxnSp>
        <p:nvCxnSpPr>
          <p:cNvPr id="10" name="Straight Connector 9">
            <a:extLst>
              <a:ext uri="{FF2B5EF4-FFF2-40B4-BE49-F238E27FC236}">
                <a16:creationId xmlns:a16="http://schemas.microsoft.com/office/drawing/2014/main" id="{C8B18E82-479F-4A7F-AEDF-D847E80BB7EA}"/>
              </a:ext>
            </a:extLst>
          </p:cNvPr>
          <p:cNvCxnSpPr>
            <a:cxnSpLocks/>
          </p:cNvCxnSpPr>
          <p:nvPr/>
        </p:nvCxnSpPr>
        <p:spPr>
          <a:xfrm>
            <a:off x="2049101" y="2672901"/>
            <a:ext cx="2851842" cy="102996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B0BDCFD-716C-438D-97EA-095FF3C0C489}"/>
              </a:ext>
            </a:extLst>
          </p:cNvPr>
          <p:cNvCxnSpPr>
            <a:cxnSpLocks/>
          </p:cNvCxnSpPr>
          <p:nvPr/>
        </p:nvCxnSpPr>
        <p:spPr>
          <a:xfrm flipH="1">
            <a:off x="4991479" y="2672901"/>
            <a:ext cx="3621385" cy="102996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Google Shape;2132;p92">
            <a:extLst>
              <a:ext uri="{FF2B5EF4-FFF2-40B4-BE49-F238E27FC236}">
                <a16:creationId xmlns:a16="http://schemas.microsoft.com/office/drawing/2014/main" id="{ED1375A1-8802-4824-81AF-FD4FF369E762}"/>
              </a:ext>
            </a:extLst>
          </p:cNvPr>
          <p:cNvSpPr/>
          <p:nvPr/>
        </p:nvSpPr>
        <p:spPr>
          <a:xfrm>
            <a:off x="2680489" y="4163814"/>
            <a:ext cx="5742253" cy="1195387"/>
          </a:xfrm>
          <a:prstGeom prst="rect">
            <a:avLst/>
          </a:prstGeom>
          <a:solidFill>
            <a:schemeClr val="lt1"/>
          </a:solidFill>
          <a:ln w="127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285750" indent="-285750">
              <a:buFontTx/>
              <a:buChar char="-"/>
            </a:pPr>
            <a:r>
              <a:rPr lang="en-US" dirty="0">
                <a:ea typeface="Calibri"/>
                <a:cs typeface="Calibri"/>
                <a:sym typeface="Calibri"/>
              </a:rPr>
              <a:t>Map the </a:t>
            </a:r>
            <a:r>
              <a:rPr lang="en-US" dirty="0">
                <a:solidFill>
                  <a:srgbClr val="FF0000"/>
                </a:solidFill>
                <a:ea typeface="Calibri"/>
                <a:cs typeface="Calibri"/>
                <a:sym typeface="Calibri"/>
              </a:rPr>
              <a:t>data</a:t>
            </a:r>
            <a:r>
              <a:rPr lang="en-US" dirty="0">
                <a:ea typeface="Calibri"/>
                <a:cs typeface="Calibri"/>
                <a:sym typeface="Calibri"/>
              </a:rPr>
              <a:t> to </a:t>
            </a:r>
            <a:r>
              <a:rPr lang="en-US" strike="sngStrike" dirty="0">
                <a:ea typeface="Calibri"/>
                <a:cs typeface="Calibri"/>
                <a:sym typeface="Calibri"/>
              </a:rPr>
              <a:t>the GPU</a:t>
            </a:r>
            <a:r>
              <a:rPr lang="en-US" dirty="0">
                <a:ea typeface="Calibri"/>
                <a:cs typeface="Calibri"/>
                <a:sym typeface="Calibri"/>
              </a:rPr>
              <a:t> a </a:t>
            </a:r>
            <a:r>
              <a:rPr lang="en-US" dirty="0">
                <a:solidFill>
                  <a:srgbClr val="FF0000"/>
                </a:solidFill>
                <a:ea typeface="Calibri"/>
                <a:cs typeface="Calibri"/>
                <a:sym typeface="Calibri"/>
              </a:rPr>
              <a:t>grid of kernel functions</a:t>
            </a:r>
          </a:p>
          <a:p>
            <a:pPr marL="285750" indent="-285750">
              <a:buFontTx/>
              <a:buChar char="-"/>
            </a:pPr>
            <a:r>
              <a:rPr lang="en-US" dirty="0">
                <a:ea typeface="Calibri"/>
                <a:cs typeface="Calibri"/>
                <a:sym typeface="Calibri"/>
              </a:rPr>
              <a:t>Launch one kernel function per grid point</a:t>
            </a:r>
          </a:p>
          <a:p>
            <a:pPr marL="285750" indent="-285750">
              <a:buFontTx/>
              <a:buChar char="-"/>
            </a:pPr>
            <a:r>
              <a:rPr lang="en-US" dirty="0">
                <a:ea typeface="Calibri"/>
                <a:cs typeface="Calibri"/>
                <a:sym typeface="Calibri"/>
              </a:rPr>
              <a:t>You can have as many kernel functions as you need!</a:t>
            </a:r>
          </a:p>
        </p:txBody>
      </p:sp>
      <p:sp>
        <p:nvSpPr>
          <p:cNvPr id="12" name="Google Shape;2255;g770d93b87d_2_65"/>
          <p:cNvSpPr/>
          <p:nvPr/>
        </p:nvSpPr>
        <p:spPr>
          <a:xfrm>
            <a:off x="1890900" y="1075700"/>
            <a:ext cx="6866400" cy="1597200"/>
          </a:xfrm>
          <a:prstGeom prst="roundRect">
            <a:avLst>
              <a:gd name="adj" fmla="val 10241"/>
            </a:avLst>
          </a:prstGeom>
          <a:solidFill>
            <a:schemeClr val="dk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a:buSzPts val="1100"/>
            </a:pPr>
            <a:r>
              <a:rPr lang="en-US" sz="1400" dirty="0">
                <a:solidFill>
                  <a:srgbClr val="FF0000"/>
                </a:solidFill>
                <a:latin typeface="Consolas"/>
                <a:ea typeface="Consolas"/>
                <a:cs typeface="Consolas"/>
                <a:sym typeface="Consolas"/>
              </a:rPr>
              <a:t>__global__</a:t>
            </a:r>
            <a:r>
              <a:rPr lang="en-US" sz="1400" dirty="0">
                <a:solidFill>
                  <a:srgbClr val="00FF00"/>
                </a:solidFill>
                <a:latin typeface="Consolas"/>
                <a:ea typeface="Consolas"/>
                <a:cs typeface="Consolas"/>
                <a:sym typeface="Consolas"/>
              </a:rPr>
              <a:t> void </a:t>
            </a:r>
            <a:r>
              <a:rPr lang="en-US" sz="1400" dirty="0" err="1">
                <a:solidFill>
                  <a:srgbClr val="00FF00"/>
                </a:solidFill>
                <a:latin typeface="Consolas"/>
                <a:ea typeface="Consolas"/>
                <a:cs typeface="Consolas"/>
                <a:sym typeface="Consolas"/>
              </a:rPr>
              <a:t>cuda_mul</a:t>
            </a:r>
            <a:r>
              <a:rPr lang="en-US" sz="1400" dirty="0">
                <a:solidFill>
                  <a:srgbClr val="00FF00"/>
                </a:solidFill>
                <a:latin typeface="Consolas"/>
                <a:ea typeface="Consolas"/>
                <a:cs typeface="Consolas"/>
                <a:sym typeface="Consolas"/>
              </a:rPr>
              <a:t>(float* a, float* b, float* c, </a:t>
            </a:r>
            <a:r>
              <a:rPr lang="en-US" sz="1400" dirty="0" err="1">
                <a:solidFill>
                  <a:srgbClr val="00FF00"/>
                </a:solidFill>
                <a:latin typeface="Consolas"/>
                <a:ea typeface="Consolas"/>
                <a:cs typeface="Consolas"/>
                <a:sym typeface="Consolas"/>
              </a:rPr>
              <a:t>int</a:t>
            </a:r>
            <a:r>
              <a:rPr lang="en-US" sz="1400" dirty="0">
                <a:solidFill>
                  <a:srgbClr val="00FF00"/>
                </a:solidFill>
                <a:latin typeface="Consolas"/>
                <a:ea typeface="Consolas"/>
                <a:cs typeface="Consolas"/>
                <a:sym typeface="Consolas"/>
              </a:rPr>
              <a:t> size) {</a:t>
            </a:r>
            <a:endParaRPr sz="1400" dirty="0">
              <a:solidFill>
                <a:srgbClr val="00FF00"/>
              </a:solidFill>
              <a:latin typeface="Consolas"/>
              <a:ea typeface="Consolas"/>
              <a:cs typeface="Consolas"/>
              <a:sym typeface="Consolas"/>
            </a:endParaRPr>
          </a:p>
          <a:p>
            <a:pPr>
              <a:buSzPts val="1100"/>
            </a:pPr>
            <a:r>
              <a:rPr lang="en-US" sz="1400" dirty="0">
                <a:solidFill>
                  <a:srgbClr val="00FFFF"/>
                </a:solidFill>
                <a:latin typeface="Consolas"/>
                <a:ea typeface="Consolas"/>
                <a:cs typeface="Consolas"/>
                <a:sym typeface="Consolas"/>
              </a:rPr>
              <a:t>    int row = </a:t>
            </a:r>
            <a:r>
              <a:rPr lang="en-US" sz="1400" dirty="0" err="1">
                <a:solidFill>
                  <a:srgbClr val="00FFFF"/>
                </a:solidFill>
                <a:latin typeface="Consolas"/>
                <a:ea typeface="Consolas"/>
                <a:cs typeface="Consolas"/>
                <a:sym typeface="Consolas"/>
              </a:rPr>
              <a:t>blockIdx.y</a:t>
            </a:r>
            <a:r>
              <a:rPr lang="en-US" sz="1400" dirty="0">
                <a:solidFill>
                  <a:srgbClr val="00FFFF"/>
                </a:solidFill>
                <a:latin typeface="Consolas"/>
                <a:ea typeface="Consolas"/>
                <a:cs typeface="Consolas"/>
                <a:sym typeface="Consolas"/>
              </a:rPr>
              <a:t>*</a:t>
            </a:r>
            <a:r>
              <a:rPr lang="en-US" sz="1400" dirty="0" err="1">
                <a:solidFill>
                  <a:srgbClr val="00FFFF"/>
                </a:solidFill>
                <a:latin typeface="Consolas"/>
                <a:ea typeface="Consolas"/>
                <a:cs typeface="Consolas"/>
                <a:sym typeface="Consolas"/>
              </a:rPr>
              <a:t>blockDim.y+threadIdx.y</a:t>
            </a:r>
            <a:r>
              <a:rPr lang="en-US" sz="1400" dirty="0">
                <a:solidFill>
                  <a:srgbClr val="00FFFF"/>
                </a:solidFill>
                <a:latin typeface="Consolas"/>
                <a:ea typeface="Consolas"/>
                <a:cs typeface="Consolas"/>
                <a:sym typeface="Consolas"/>
              </a:rPr>
              <a:t>;</a:t>
            </a:r>
            <a:endParaRPr sz="1400" dirty="0">
              <a:solidFill>
                <a:srgbClr val="00FFFF"/>
              </a:solidFill>
              <a:latin typeface="Consolas"/>
              <a:ea typeface="Consolas"/>
              <a:cs typeface="Consolas"/>
              <a:sym typeface="Consolas"/>
            </a:endParaRPr>
          </a:p>
          <a:p>
            <a:pPr>
              <a:buSzPts val="1100"/>
            </a:pPr>
            <a:r>
              <a:rPr lang="en-US" sz="1400" dirty="0">
                <a:solidFill>
                  <a:srgbClr val="00FFFF"/>
                </a:solidFill>
                <a:latin typeface="Consolas"/>
                <a:ea typeface="Consolas"/>
                <a:cs typeface="Consolas"/>
                <a:sym typeface="Consolas"/>
              </a:rPr>
              <a:t>    int col = </a:t>
            </a:r>
            <a:r>
              <a:rPr lang="en-US" sz="1400" dirty="0" err="1">
                <a:solidFill>
                  <a:srgbClr val="00FFFF"/>
                </a:solidFill>
                <a:latin typeface="Consolas"/>
                <a:ea typeface="Consolas"/>
                <a:cs typeface="Consolas"/>
                <a:sym typeface="Consolas"/>
              </a:rPr>
              <a:t>blockIdx.x</a:t>
            </a:r>
            <a:r>
              <a:rPr lang="en-US" sz="1400" dirty="0">
                <a:solidFill>
                  <a:srgbClr val="00FFFF"/>
                </a:solidFill>
                <a:latin typeface="Consolas"/>
                <a:ea typeface="Consolas"/>
                <a:cs typeface="Consolas"/>
                <a:sym typeface="Consolas"/>
              </a:rPr>
              <a:t>*</a:t>
            </a:r>
            <a:r>
              <a:rPr lang="en-US" sz="1400" dirty="0" err="1">
                <a:solidFill>
                  <a:srgbClr val="00FFFF"/>
                </a:solidFill>
                <a:latin typeface="Consolas"/>
                <a:ea typeface="Consolas"/>
                <a:cs typeface="Consolas"/>
                <a:sym typeface="Consolas"/>
              </a:rPr>
              <a:t>blockDim.x+threadIdx.x</a:t>
            </a:r>
            <a:r>
              <a:rPr lang="en-US" sz="1400" dirty="0">
                <a:solidFill>
                  <a:srgbClr val="00FFFF"/>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    for (int </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 = 0; </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 &lt; size; </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        c[row*</a:t>
            </a:r>
            <a:r>
              <a:rPr lang="en-US" sz="1400" dirty="0" err="1">
                <a:solidFill>
                  <a:srgbClr val="00FF00"/>
                </a:solidFill>
                <a:latin typeface="Consolas"/>
                <a:ea typeface="Consolas"/>
                <a:cs typeface="Consolas"/>
                <a:sym typeface="Consolas"/>
              </a:rPr>
              <a:t>size+col</a:t>
            </a:r>
            <a:r>
              <a:rPr lang="en-US" sz="1400" dirty="0">
                <a:solidFill>
                  <a:srgbClr val="00FF00"/>
                </a:solidFill>
                <a:latin typeface="Consolas"/>
                <a:ea typeface="Consolas"/>
                <a:cs typeface="Consolas"/>
                <a:sym typeface="Consolas"/>
              </a:rPr>
              <a:t>] += a[row*</a:t>
            </a:r>
            <a:r>
              <a:rPr lang="en-US" sz="1400" dirty="0" err="1">
                <a:solidFill>
                  <a:srgbClr val="00FF00"/>
                </a:solidFill>
                <a:latin typeface="Consolas"/>
                <a:ea typeface="Consolas"/>
                <a:cs typeface="Consolas"/>
                <a:sym typeface="Consolas"/>
              </a:rPr>
              <a:t>size+i</a:t>
            </a:r>
            <a:r>
              <a:rPr lang="en-US" sz="1400" dirty="0">
                <a:solidFill>
                  <a:srgbClr val="00FF00"/>
                </a:solidFill>
                <a:latin typeface="Consolas"/>
                <a:ea typeface="Consolas"/>
                <a:cs typeface="Consolas"/>
                <a:sym typeface="Consolas"/>
              </a:rPr>
              <a:t>] * b[</a:t>
            </a:r>
            <a:r>
              <a:rPr lang="en-US" sz="1400" dirty="0" err="1">
                <a:solidFill>
                  <a:srgbClr val="00FF00"/>
                </a:solidFill>
                <a:latin typeface="Consolas"/>
                <a:ea typeface="Consolas"/>
                <a:cs typeface="Consolas"/>
                <a:sym typeface="Consolas"/>
              </a:rPr>
              <a:t>i</a:t>
            </a:r>
            <a:r>
              <a:rPr lang="en-US" sz="1400" dirty="0">
                <a:solidFill>
                  <a:srgbClr val="00FF00"/>
                </a:solidFill>
                <a:latin typeface="Consolas"/>
                <a:ea typeface="Consolas"/>
                <a:cs typeface="Consolas"/>
                <a:sym typeface="Consolas"/>
              </a:rPr>
              <a:t>*</a:t>
            </a:r>
            <a:r>
              <a:rPr lang="en-US" sz="1400" dirty="0" err="1">
                <a:solidFill>
                  <a:srgbClr val="00FF00"/>
                </a:solidFill>
                <a:latin typeface="Consolas"/>
                <a:ea typeface="Consolas"/>
                <a:cs typeface="Consolas"/>
                <a:sym typeface="Consolas"/>
              </a:rPr>
              <a:t>size+col</a:t>
            </a: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r>
              <a:rPr lang="en-US" sz="1400" dirty="0">
                <a:solidFill>
                  <a:srgbClr val="00FF00"/>
                </a:solidFill>
                <a:latin typeface="Consolas"/>
                <a:ea typeface="Consolas"/>
                <a:cs typeface="Consolas"/>
                <a:sym typeface="Consolas"/>
              </a:rPr>
              <a:t>}</a:t>
            </a:r>
            <a:endParaRPr sz="1400" dirty="0">
              <a:solidFill>
                <a:srgbClr val="00FF00"/>
              </a:solidFill>
              <a:latin typeface="Consolas"/>
              <a:ea typeface="Consolas"/>
              <a:cs typeface="Consolas"/>
              <a:sym typeface="Consolas"/>
            </a:endParaRPr>
          </a:p>
          <a:p>
            <a:pPr>
              <a:buSzPts val="1100"/>
            </a:pPr>
            <a:endParaRPr sz="1400" dirty="0">
              <a:solidFill>
                <a:srgbClr val="FF0000"/>
              </a:solidFill>
              <a:latin typeface="Consolas"/>
              <a:ea typeface="Consolas"/>
              <a:cs typeface="Consolas"/>
              <a:sym typeface="Consolas"/>
            </a:endParaRPr>
          </a:p>
        </p:txBody>
      </p:sp>
    </p:spTree>
    <p:extLst>
      <p:ext uri="{BB962C8B-B14F-4D97-AF65-F5344CB8AC3E}">
        <p14:creationId xmlns:p14="http://schemas.microsoft.com/office/powerpoint/2010/main" val="90083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F3D06-9FF2-478C-81B7-F68B1CDBC342}"/>
              </a:ext>
            </a:extLst>
          </p:cNvPr>
          <p:cNvSpPr>
            <a:spLocks noGrp="1"/>
          </p:cNvSpPr>
          <p:nvPr>
            <p:ph type="title"/>
          </p:nvPr>
        </p:nvSpPr>
        <p:spPr/>
        <p:txBody>
          <a:bodyPr/>
          <a:lstStyle/>
          <a:p>
            <a:r>
              <a:rPr lang="en-US" dirty="0"/>
              <a:t>Grids, blocks, threads and warps</a:t>
            </a:r>
          </a:p>
        </p:txBody>
      </p:sp>
      <p:sp>
        <p:nvSpPr>
          <p:cNvPr id="3" name="Content Placeholder 2">
            <a:extLst>
              <a:ext uri="{FF2B5EF4-FFF2-40B4-BE49-F238E27FC236}">
                <a16:creationId xmlns:a16="http://schemas.microsoft.com/office/drawing/2014/main" id="{E40BBB5F-B73F-4026-9F77-B9F2F20C7CC3}"/>
              </a:ext>
            </a:extLst>
          </p:cNvPr>
          <p:cNvSpPr>
            <a:spLocks noGrp="1"/>
          </p:cNvSpPr>
          <p:nvPr>
            <p:ph idx="1"/>
          </p:nvPr>
        </p:nvSpPr>
        <p:spPr>
          <a:xfrm>
            <a:off x="469315" y="2502738"/>
            <a:ext cx="6730475" cy="2220182"/>
          </a:xfrm>
        </p:spPr>
        <p:txBody>
          <a:bodyPr>
            <a:normAutofit/>
          </a:bodyPr>
          <a:lstStyle/>
          <a:p>
            <a:r>
              <a:rPr lang="en-US" sz="2100" dirty="0">
                <a:latin typeface="+mj-lt"/>
              </a:rPr>
              <a:t>Grid:  has 1 to as many blocks as you want in 1D, 2D, or 3D</a:t>
            </a:r>
          </a:p>
          <a:p>
            <a:r>
              <a:rPr lang="en-US" sz="2100" dirty="0">
                <a:latin typeface="+mj-lt"/>
              </a:rPr>
              <a:t>Block: has 1 to 1024 threads</a:t>
            </a:r>
          </a:p>
          <a:p>
            <a:r>
              <a:rPr lang="en-US" sz="2100" dirty="0">
                <a:latin typeface="+mj-lt"/>
              </a:rPr>
              <a:t>Blocks are mapped to 1 or more </a:t>
            </a:r>
            <a:r>
              <a:rPr lang="en-US" sz="2100" b="1" dirty="0">
                <a:latin typeface="+mj-lt"/>
              </a:rPr>
              <a:t>warps</a:t>
            </a:r>
            <a:r>
              <a:rPr lang="en-US" sz="2100" dirty="0">
                <a:latin typeface="+mj-lt"/>
              </a:rPr>
              <a:t>.</a:t>
            </a:r>
          </a:p>
          <a:p>
            <a:r>
              <a:rPr lang="en-US" sz="2100" dirty="0">
                <a:latin typeface="+mj-lt"/>
              </a:rPr>
              <a:t>Warps always execute 32 threads inside a SM.</a:t>
            </a:r>
          </a:p>
          <a:p>
            <a:r>
              <a:rPr lang="en-US" sz="2100" b="1" i="0" dirty="0">
                <a:solidFill>
                  <a:srgbClr val="202122"/>
                </a:solidFill>
                <a:effectLst/>
                <a:latin typeface="+mj-lt"/>
              </a:rPr>
              <a:t>All the 32 threads in a warp execute the same instruction</a:t>
            </a:r>
          </a:p>
        </p:txBody>
      </p:sp>
      <p:pic>
        <p:nvPicPr>
          <p:cNvPr id="5" name="Picture 4">
            <a:extLst>
              <a:ext uri="{FF2B5EF4-FFF2-40B4-BE49-F238E27FC236}">
                <a16:creationId xmlns:a16="http://schemas.microsoft.com/office/drawing/2014/main" id="{EFF572BE-286F-4468-A0D2-D3161AF562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6674" y="1114424"/>
            <a:ext cx="4637271" cy="5819775"/>
          </a:xfrm>
          <a:prstGeom prst="rect">
            <a:avLst/>
          </a:prstGeom>
        </p:spPr>
      </p:pic>
    </p:spTree>
    <p:extLst>
      <p:ext uri="{BB962C8B-B14F-4D97-AF65-F5344CB8AC3E}">
        <p14:creationId xmlns:p14="http://schemas.microsoft.com/office/powerpoint/2010/main" val="469717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2D2D78-C969-466D-B840-520B3A0A6C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06983" y="1172778"/>
            <a:ext cx="7573818" cy="4307610"/>
          </a:xfrm>
          <a:prstGeom prst="rect">
            <a:avLst/>
          </a:prstGeom>
        </p:spPr>
      </p:pic>
      <p:sp>
        <p:nvSpPr>
          <p:cNvPr id="5" name="Google Shape;2132;p92">
            <a:extLst>
              <a:ext uri="{FF2B5EF4-FFF2-40B4-BE49-F238E27FC236}">
                <a16:creationId xmlns:a16="http://schemas.microsoft.com/office/drawing/2014/main" id="{360B8B8B-84E7-43E2-82DE-24556FECF138}"/>
              </a:ext>
            </a:extLst>
          </p:cNvPr>
          <p:cNvSpPr/>
          <p:nvPr/>
        </p:nvSpPr>
        <p:spPr>
          <a:xfrm>
            <a:off x="5893448" y="1769483"/>
            <a:ext cx="3213606" cy="536911"/>
          </a:xfrm>
          <a:prstGeom prst="rect">
            <a:avLst/>
          </a:prstGeom>
          <a:solidFill>
            <a:schemeClr val="lt1"/>
          </a:solidFill>
          <a:ln w="127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gn="ctr" rtl="0"/>
            <a:r>
              <a:rPr lang="en-US" dirty="0"/>
              <a:t>84 Streaming Multiprocessors (SMs)</a:t>
            </a:r>
            <a:endParaRPr dirty="0"/>
          </a:p>
        </p:txBody>
      </p:sp>
      <p:sp>
        <p:nvSpPr>
          <p:cNvPr id="6" name="Google Shape;2129;p92">
            <a:extLst>
              <a:ext uri="{FF2B5EF4-FFF2-40B4-BE49-F238E27FC236}">
                <a16:creationId xmlns:a16="http://schemas.microsoft.com/office/drawing/2014/main" id="{6DA35D38-96F0-43FC-AD2B-7D9EDFA52DC8}"/>
              </a:ext>
            </a:extLst>
          </p:cNvPr>
          <p:cNvSpPr/>
          <p:nvPr/>
        </p:nvSpPr>
        <p:spPr>
          <a:xfrm>
            <a:off x="4791897" y="2325958"/>
            <a:ext cx="315074" cy="716522"/>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algn="ctr" rtl="0"/>
            <a:endParaRPr>
              <a:solidFill>
                <a:schemeClr val="lt1"/>
              </a:solidFill>
              <a:latin typeface="Calibri"/>
              <a:ea typeface="Calibri"/>
              <a:cs typeface="Calibri"/>
              <a:sym typeface="Calibri"/>
            </a:endParaRPr>
          </a:p>
        </p:txBody>
      </p:sp>
      <p:cxnSp>
        <p:nvCxnSpPr>
          <p:cNvPr id="7" name="Google Shape;2127;p92">
            <a:extLst>
              <a:ext uri="{FF2B5EF4-FFF2-40B4-BE49-F238E27FC236}">
                <a16:creationId xmlns:a16="http://schemas.microsoft.com/office/drawing/2014/main" id="{9EA8757B-B9DD-4E51-B9BD-D0AF5A58A57F}"/>
              </a:ext>
            </a:extLst>
          </p:cNvPr>
          <p:cNvCxnSpPr>
            <a:cxnSpLocks/>
            <a:stCxn id="6" idx="0"/>
            <a:endCxn id="5" idx="1"/>
          </p:cNvCxnSpPr>
          <p:nvPr/>
        </p:nvCxnSpPr>
        <p:spPr>
          <a:xfrm rot="5400000" flipH="1" flipV="1">
            <a:off x="5277432" y="1709942"/>
            <a:ext cx="288019" cy="944014"/>
          </a:xfrm>
          <a:prstGeom prst="bentConnector2">
            <a:avLst/>
          </a:prstGeom>
          <a:noFill/>
          <a:ln w="25400" cap="flat" cmpd="sng">
            <a:solidFill>
              <a:srgbClr val="FF0000"/>
            </a:solidFill>
            <a:prstDash val="solid"/>
            <a:round/>
            <a:headEnd type="none" w="sm" len="sm"/>
            <a:tailEnd type="triangle" w="med" len="med"/>
          </a:ln>
        </p:spPr>
      </p:cxnSp>
      <p:cxnSp>
        <p:nvCxnSpPr>
          <p:cNvPr id="8" name="Straight Connector 7">
            <a:extLst>
              <a:ext uri="{FF2B5EF4-FFF2-40B4-BE49-F238E27FC236}">
                <a16:creationId xmlns:a16="http://schemas.microsoft.com/office/drawing/2014/main" id="{008C154C-DA48-4028-9F2C-985367369F76}"/>
              </a:ext>
            </a:extLst>
          </p:cNvPr>
          <p:cNvCxnSpPr>
            <a:cxnSpLocks/>
          </p:cNvCxnSpPr>
          <p:nvPr/>
        </p:nvCxnSpPr>
        <p:spPr>
          <a:xfrm>
            <a:off x="5130409" y="2337371"/>
            <a:ext cx="1027349" cy="69120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2FE35FB-0A0F-4F12-8F9F-E6DE6AFB0498}"/>
              </a:ext>
            </a:extLst>
          </p:cNvPr>
          <p:cNvCxnSpPr>
            <a:cxnSpLocks/>
          </p:cNvCxnSpPr>
          <p:nvPr/>
        </p:nvCxnSpPr>
        <p:spPr>
          <a:xfrm>
            <a:off x="4791897" y="2344405"/>
            <a:ext cx="650777" cy="69392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F51E5AF-84F3-45F3-BBBB-26AD4590BBF4}"/>
              </a:ext>
            </a:extLst>
          </p:cNvPr>
          <p:cNvCxnSpPr>
            <a:cxnSpLocks/>
          </p:cNvCxnSpPr>
          <p:nvPr/>
        </p:nvCxnSpPr>
        <p:spPr>
          <a:xfrm>
            <a:off x="4778670" y="2999848"/>
            <a:ext cx="637374" cy="190064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2A5107A-F89C-4583-B9CA-C59508FCF672}"/>
              </a:ext>
            </a:extLst>
          </p:cNvPr>
          <p:cNvCxnSpPr>
            <a:cxnSpLocks/>
          </p:cNvCxnSpPr>
          <p:nvPr/>
        </p:nvCxnSpPr>
        <p:spPr>
          <a:xfrm>
            <a:off x="5106971" y="3042480"/>
            <a:ext cx="1050787" cy="185801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765901FF-C7C5-42D9-B2B5-EC4F4122E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2674" y="2999848"/>
            <a:ext cx="741714" cy="1900642"/>
          </a:xfrm>
          <a:prstGeom prst="rect">
            <a:avLst/>
          </a:prstGeom>
        </p:spPr>
      </p:pic>
      <p:sp>
        <p:nvSpPr>
          <p:cNvPr id="13" name="Google Shape;2129;p92">
            <a:extLst>
              <a:ext uri="{FF2B5EF4-FFF2-40B4-BE49-F238E27FC236}">
                <a16:creationId xmlns:a16="http://schemas.microsoft.com/office/drawing/2014/main" id="{4F69351B-FD75-4374-AFB8-9B44A842641B}"/>
              </a:ext>
            </a:extLst>
          </p:cNvPr>
          <p:cNvSpPr/>
          <p:nvPr/>
        </p:nvSpPr>
        <p:spPr>
          <a:xfrm>
            <a:off x="5829457" y="3495996"/>
            <a:ext cx="315074" cy="61952"/>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algn="ctr" rtl="0"/>
            <a:endParaRPr>
              <a:solidFill>
                <a:schemeClr val="lt1"/>
              </a:solidFill>
              <a:latin typeface="Calibri"/>
              <a:ea typeface="Calibri"/>
              <a:cs typeface="Calibri"/>
              <a:sym typeface="Calibri"/>
            </a:endParaRPr>
          </a:p>
        </p:txBody>
      </p:sp>
      <p:sp>
        <p:nvSpPr>
          <p:cNvPr id="14" name="Google Shape;2132;p92">
            <a:extLst>
              <a:ext uri="{FF2B5EF4-FFF2-40B4-BE49-F238E27FC236}">
                <a16:creationId xmlns:a16="http://schemas.microsoft.com/office/drawing/2014/main" id="{0AE6ED83-4584-4B71-8715-C31A257DF057}"/>
              </a:ext>
            </a:extLst>
          </p:cNvPr>
          <p:cNvSpPr/>
          <p:nvPr/>
        </p:nvSpPr>
        <p:spPr>
          <a:xfrm>
            <a:off x="7050734" y="2513668"/>
            <a:ext cx="3042110" cy="310118"/>
          </a:xfrm>
          <a:prstGeom prst="rect">
            <a:avLst/>
          </a:prstGeom>
          <a:solidFill>
            <a:schemeClr val="lt1"/>
          </a:solidFill>
          <a:ln w="127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gn="ctr" rtl="0"/>
            <a:r>
              <a:rPr lang="en-US" dirty="0"/>
              <a:t>64 CUDA cores per SM</a:t>
            </a:r>
            <a:endParaRPr dirty="0"/>
          </a:p>
        </p:txBody>
      </p:sp>
      <p:cxnSp>
        <p:nvCxnSpPr>
          <p:cNvPr id="15" name="Google Shape;2127;p92">
            <a:extLst>
              <a:ext uri="{FF2B5EF4-FFF2-40B4-BE49-F238E27FC236}">
                <a16:creationId xmlns:a16="http://schemas.microsoft.com/office/drawing/2014/main" id="{F0DC1DE4-316E-409E-BE56-F4FFC3A00B44}"/>
              </a:ext>
            </a:extLst>
          </p:cNvPr>
          <p:cNvCxnSpPr>
            <a:cxnSpLocks/>
            <a:stCxn id="13" idx="3"/>
            <a:endCxn id="14" idx="1"/>
          </p:cNvCxnSpPr>
          <p:nvPr/>
        </p:nvCxnSpPr>
        <p:spPr>
          <a:xfrm flipV="1">
            <a:off x="6144531" y="2668727"/>
            <a:ext cx="906203" cy="858245"/>
          </a:xfrm>
          <a:prstGeom prst="bentConnector3">
            <a:avLst>
              <a:gd name="adj1" fmla="val 50000"/>
            </a:avLst>
          </a:prstGeom>
          <a:noFill/>
          <a:ln w="25400" cap="flat" cmpd="sng">
            <a:solidFill>
              <a:srgbClr val="FF0000"/>
            </a:solidFill>
            <a:prstDash val="solid"/>
            <a:round/>
            <a:headEnd type="none" w="sm" len="sm"/>
            <a:tailEnd type="triangle" w="med" len="med"/>
          </a:ln>
        </p:spPr>
      </p:cxnSp>
      <p:sp>
        <p:nvSpPr>
          <p:cNvPr id="17" name="TextBox 16">
            <a:extLst>
              <a:ext uri="{FF2B5EF4-FFF2-40B4-BE49-F238E27FC236}">
                <a16:creationId xmlns:a16="http://schemas.microsoft.com/office/drawing/2014/main" id="{E8792FEE-8EFA-4008-A55A-546382B1E0A1}"/>
              </a:ext>
            </a:extLst>
          </p:cNvPr>
          <p:cNvSpPr txBox="1"/>
          <p:nvPr/>
        </p:nvSpPr>
        <p:spPr>
          <a:xfrm>
            <a:off x="133644" y="1000915"/>
            <a:ext cx="3451790" cy="5355312"/>
          </a:xfrm>
          <a:prstGeom prst="rect">
            <a:avLst/>
          </a:prstGeom>
          <a:noFill/>
        </p:spPr>
        <p:txBody>
          <a:bodyPr wrap="square">
            <a:spAutoFit/>
          </a:bodyPr>
          <a:lstStyle/>
          <a:p>
            <a:pPr marL="285750" indent="-285750">
              <a:buFont typeface="Arial" panose="020B0604020202020204" pitchFamily="34" charset="0"/>
              <a:buChar char="•"/>
            </a:pPr>
            <a:r>
              <a:rPr lang="en-US" sz="1800" b="1" i="0" dirty="0">
                <a:solidFill>
                  <a:srgbClr val="202122"/>
                </a:solidFill>
                <a:effectLst/>
                <a:latin typeface="+mj-lt"/>
              </a:rPr>
              <a:t>All the 32 threads in a warp execute the same instruction</a:t>
            </a:r>
          </a:p>
          <a:p>
            <a:pPr marL="285750" indent="-285750">
              <a:buFont typeface="Arial" panose="020B0604020202020204" pitchFamily="34" charset="0"/>
              <a:buChar char="•"/>
            </a:pPr>
            <a:endParaRPr lang="en-US" sz="1800" b="1" i="0" dirty="0">
              <a:solidFill>
                <a:srgbClr val="202122"/>
              </a:solidFill>
              <a:effectLst/>
              <a:latin typeface="+mj-lt"/>
            </a:endParaRPr>
          </a:p>
          <a:p>
            <a:pPr marL="285750" indent="-285750">
              <a:buFont typeface="Arial" panose="020B0604020202020204" pitchFamily="34" charset="0"/>
              <a:buChar char="•"/>
            </a:pPr>
            <a:r>
              <a:rPr lang="en-US" sz="1800" b="1" i="0" dirty="0">
                <a:solidFill>
                  <a:srgbClr val="202122"/>
                </a:solidFill>
                <a:effectLst/>
                <a:latin typeface="+mj-lt"/>
              </a:rPr>
              <a:t>All the warps inside </a:t>
            </a:r>
            <a:r>
              <a:rPr lang="en-US" b="1" dirty="0">
                <a:solidFill>
                  <a:srgbClr val="202122"/>
                </a:solidFill>
                <a:latin typeface="+mj-lt"/>
              </a:rPr>
              <a:t>a SM must execute the same instruction.</a:t>
            </a:r>
          </a:p>
          <a:p>
            <a:pPr marL="285750" indent="-285750">
              <a:buFont typeface="Arial" panose="020B0604020202020204" pitchFamily="34" charset="0"/>
              <a:buChar char="•"/>
            </a:pPr>
            <a:endParaRPr lang="en-US" sz="1800" b="1" i="0" dirty="0">
              <a:solidFill>
                <a:srgbClr val="202122"/>
              </a:solidFill>
              <a:effectLst/>
              <a:latin typeface="+mj-lt"/>
            </a:endParaRPr>
          </a:p>
          <a:p>
            <a:pPr marL="285750" indent="-285750">
              <a:buFont typeface="Arial" panose="020B0604020202020204" pitchFamily="34" charset="0"/>
              <a:buChar char="•"/>
            </a:pPr>
            <a:r>
              <a:rPr lang="en-US" b="1" dirty="0">
                <a:solidFill>
                  <a:srgbClr val="202122"/>
                </a:solidFill>
                <a:latin typeface="+mj-lt"/>
              </a:rPr>
              <a:t>Example 1: </a:t>
            </a:r>
            <a:r>
              <a:rPr lang="en-US" dirty="0">
                <a:solidFill>
                  <a:srgbClr val="202122"/>
                </a:solidFill>
                <a:latin typeface="+mj-lt"/>
              </a:rPr>
              <a:t>A block with 32 threads fits in a single warp. The SM can execute up to 64 CUDA cores. No other block/warp can execute inside that SM. Max occupancy is 50%.</a:t>
            </a:r>
          </a:p>
          <a:p>
            <a:pPr marL="285750" indent="-285750">
              <a:buFont typeface="Arial" panose="020B0604020202020204" pitchFamily="34" charset="0"/>
              <a:buChar char="•"/>
            </a:pPr>
            <a:endParaRPr lang="en-US" dirty="0">
              <a:solidFill>
                <a:srgbClr val="202122"/>
              </a:solidFill>
              <a:latin typeface="+mj-lt"/>
            </a:endParaRPr>
          </a:p>
          <a:p>
            <a:pPr marL="285750" indent="-285750">
              <a:buFont typeface="Arial" panose="020B0604020202020204" pitchFamily="34" charset="0"/>
              <a:buChar char="•"/>
            </a:pPr>
            <a:r>
              <a:rPr lang="en-US" b="1" dirty="0">
                <a:solidFill>
                  <a:srgbClr val="202122"/>
                </a:solidFill>
                <a:latin typeface="+mj-lt"/>
              </a:rPr>
              <a:t>Example 2</a:t>
            </a:r>
            <a:r>
              <a:rPr lang="en-US" dirty="0">
                <a:solidFill>
                  <a:srgbClr val="202122"/>
                </a:solidFill>
                <a:latin typeface="+mj-lt"/>
              </a:rPr>
              <a:t>: A block with 64 threads fits in a single warp. The SM can execute both warps simultaneously. Max occupancy is 100%!</a:t>
            </a:r>
          </a:p>
          <a:p>
            <a:pPr marL="285750" indent="-285750">
              <a:buFont typeface="Arial" panose="020B0604020202020204" pitchFamily="34" charset="0"/>
              <a:buChar char="•"/>
            </a:pPr>
            <a:endParaRPr lang="en-US" sz="1800" b="1" i="0" dirty="0">
              <a:solidFill>
                <a:srgbClr val="202122"/>
              </a:solidFill>
              <a:effectLst/>
              <a:latin typeface="+mj-lt"/>
            </a:endParaRPr>
          </a:p>
        </p:txBody>
      </p:sp>
    </p:spTree>
    <p:extLst>
      <p:ext uri="{BB962C8B-B14F-4D97-AF65-F5344CB8AC3E}">
        <p14:creationId xmlns:p14="http://schemas.microsoft.com/office/powerpoint/2010/main" val="900150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F3D06-9FF2-478C-81B7-F68B1CDBC342}"/>
              </a:ext>
            </a:extLst>
          </p:cNvPr>
          <p:cNvSpPr>
            <a:spLocks noGrp="1"/>
          </p:cNvSpPr>
          <p:nvPr>
            <p:ph type="title"/>
          </p:nvPr>
        </p:nvSpPr>
        <p:spPr/>
        <p:txBody>
          <a:bodyPr/>
          <a:lstStyle/>
          <a:p>
            <a:r>
              <a:rPr lang="en-US" dirty="0"/>
              <a:t>Grids, blocks, threads and warps</a:t>
            </a:r>
          </a:p>
        </p:txBody>
      </p:sp>
      <p:pic>
        <p:nvPicPr>
          <p:cNvPr id="5" name="Picture 4">
            <a:extLst>
              <a:ext uri="{FF2B5EF4-FFF2-40B4-BE49-F238E27FC236}">
                <a16:creationId xmlns:a16="http://schemas.microsoft.com/office/drawing/2014/main" id="{EFF572BE-286F-4468-A0D2-D3161AF562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6674" y="1114424"/>
            <a:ext cx="4637271" cy="5819775"/>
          </a:xfrm>
          <a:prstGeom prst="rect">
            <a:avLst/>
          </a:prstGeom>
        </p:spPr>
      </p:pic>
      <p:sp>
        <p:nvSpPr>
          <p:cNvPr id="7" name="TextBox 6">
            <a:extLst>
              <a:ext uri="{FF2B5EF4-FFF2-40B4-BE49-F238E27FC236}">
                <a16:creationId xmlns:a16="http://schemas.microsoft.com/office/drawing/2014/main" id="{C26C4902-6441-491E-BD03-2AD8FF9088B1}"/>
              </a:ext>
            </a:extLst>
          </p:cNvPr>
          <p:cNvSpPr txBox="1"/>
          <p:nvPr/>
        </p:nvSpPr>
        <p:spPr>
          <a:xfrm>
            <a:off x="426129" y="1492201"/>
            <a:ext cx="7190912" cy="4247317"/>
          </a:xfrm>
          <a:prstGeom prst="rect">
            <a:avLst/>
          </a:prstGeom>
          <a:noFill/>
        </p:spPr>
        <p:txBody>
          <a:bodyPr wrap="square">
            <a:spAutoFit/>
          </a:bodyPr>
          <a:lstStyle/>
          <a:p>
            <a:pPr marL="285750" indent="-285750">
              <a:buFont typeface="Arial" panose="020B0604020202020204" pitchFamily="34" charset="0"/>
              <a:buChar char="•"/>
            </a:pPr>
            <a:r>
              <a:rPr lang="en-US" sz="1800" i="0" dirty="0">
                <a:solidFill>
                  <a:srgbClr val="202122"/>
                </a:solidFill>
                <a:effectLst/>
                <a:latin typeface="+mj-lt"/>
              </a:rPr>
              <a:t>The threads inside a block are selected serially by the Streaming Multiprocessor.</a:t>
            </a:r>
          </a:p>
          <a:p>
            <a:pPr marL="285750" indent="-285750">
              <a:buFont typeface="Arial" panose="020B0604020202020204" pitchFamily="34" charset="0"/>
              <a:buChar char="•"/>
            </a:pPr>
            <a:endParaRPr lang="en-US" sz="1800" dirty="0">
              <a:latin typeface="+mj-lt"/>
            </a:endParaRPr>
          </a:p>
          <a:p>
            <a:pPr marL="285750" indent="-285750">
              <a:buFont typeface="Arial" panose="020B0604020202020204" pitchFamily="34" charset="0"/>
              <a:buChar char="•"/>
            </a:pPr>
            <a:r>
              <a:rPr lang="en-US" sz="1800" b="0" i="0" dirty="0">
                <a:solidFill>
                  <a:srgbClr val="242729"/>
                </a:solidFill>
                <a:effectLst/>
                <a:latin typeface="+mj-lt"/>
              </a:rPr>
              <a:t>When you launch a grid containing a single block with one thread, you launch 1 warp. This warp contains 31 "dummy" threads which are masked off, and a single live thread. If you launch a single block with two threads, you still launch 1 warp, but now the single warp contains 2 active threads.</a:t>
            </a:r>
          </a:p>
          <a:p>
            <a:pPr marL="285750" indent="-285750">
              <a:buFont typeface="Arial" panose="020B0604020202020204" pitchFamily="34" charset="0"/>
              <a:buChar char="•"/>
            </a:pPr>
            <a:endParaRPr lang="en-US" sz="1800" b="0" i="0" dirty="0">
              <a:solidFill>
                <a:srgbClr val="242729"/>
              </a:solidFill>
              <a:effectLst/>
              <a:latin typeface="+mj-lt"/>
            </a:endParaRPr>
          </a:p>
          <a:p>
            <a:pPr marL="285750" indent="-285750" algn="l" fontAlgn="base">
              <a:buFont typeface="Arial" panose="020B0604020202020204" pitchFamily="34" charset="0"/>
              <a:buChar char="•"/>
            </a:pPr>
            <a:r>
              <a:rPr lang="en-US" sz="1800" b="0" i="0" dirty="0">
                <a:solidFill>
                  <a:srgbClr val="242729"/>
                </a:solidFill>
                <a:effectLst/>
                <a:latin typeface="+mj-lt"/>
              </a:rPr>
              <a:t>When you launch two blocks containing a single thread each, it results in two warps, each of which contains 1 active thread. Because all scheduling and execution is done on a per warp basis, you now have two separate entities (warps) which the hardware can schedule and execute independently. This allows more latency hiding and less instruction pipeline stalls, and the code runs faster as a result.</a:t>
            </a:r>
          </a:p>
        </p:txBody>
      </p:sp>
    </p:spTree>
    <p:extLst>
      <p:ext uri="{BB962C8B-B14F-4D97-AF65-F5344CB8AC3E}">
        <p14:creationId xmlns:p14="http://schemas.microsoft.com/office/powerpoint/2010/main" val="690453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3A601-4052-4FC2-A89A-93E8493C25E3}"/>
              </a:ext>
            </a:extLst>
          </p:cNvPr>
          <p:cNvSpPr>
            <a:spLocks noGrp="1"/>
          </p:cNvSpPr>
          <p:nvPr>
            <p:ph type="title"/>
          </p:nvPr>
        </p:nvSpPr>
        <p:spPr/>
        <p:txBody>
          <a:bodyPr>
            <a:normAutofit/>
          </a:bodyPr>
          <a:lstStyle/>
          <a:p>
            <a:r>
              <a:rPr lang="en-US" dirty="0"/>
              <a:t>Warp Divergence </a:t>
            </a:r>
            <a:r>
              <a:rPr lang="en-US" b="0" dirty="0">
                <a:effectLst/>
              </a:rPr>
              <a:t>(Execution Divergence)</a:t>
            </a:r>
            <a:endParaRPr lang="en-US" dirty="0"/>
          </a:p>
        </p:txBody>
      </p:sp>
      <p:sp>
        <p:nvSpPr>
          <p:cNvPr id="6" name="Content Placeholder 5">
            <a:extLst>
              <a:ext uri="{FF2B5EF4-FFF2-40B4-BE49-F238E27FC236}">
                <a16:creationId xmlns:a16="http://schemas.microsoft.com/office/drawing/2014/main" id="{29E10E45-1536-415E-9E64-16BD35E895D4}"/>
              </a:ext>
            </a:extLst>
          </p:cNvPr>
          <p:cNvSpPr>
            <a:spLocks noGrp="1"/>
          </p:cNvSpPr>
          <p:nvPr>
            <p:ph idx="1"/>
          </p:nvPr>
        </p:nvSpPr>
        <p:spPr>
          <a:xfrm>
            <a:off x="634748" y="1806575"/>
            <a:ext cx="5270752" cy="4351338"/>
          </a:xfrm>
        </p:spPr>
        <p:txBody>
          <a:bodyPr>
            <a:normAutofit/>
          </a:bodyPr>
          <a:lstStyle/>
          <a:p>
            <a:pPr marL="0" indent="0">
              <a:buNone/>
            </a:pPr>
            <a:r>
              <a:rPr lang="en-US" sz="1800" b="0" dirty="0">
                <a:effectLst/>
                <a:latin typeface="+mj-lt"/>
              </a:rPr>
              <a:t>Threads are executed in warps of 32, with all threads in the warp executing the same instruction at the same time.</a:t>
            </a:r>
          </a:p>
          <a:p>
            <a:pPr marL="0" indent="0">
              <a:buNone/>
            </a:pPr>
            <a:r>
              <a:rPr lang="en-US" sz="1800" b="0" dirty="0">
                <a:effectLst/>
                <a:latin typeface="+mj-lt"/>
              </a:rPr>
              <a:t>What happens if different threads in a warp need to do different things? </a:t>
            </a:r>
          </a:p>
          <a:p>
            <a:pPr marL="0" indent="0">
              <a:buNone/>
            </a:pPr>
            <a:r>
              <a:rPr lang="en-US" sz="1800" b="0" dirty="0">
                <a:effectLst/>
                <a:latin typeface="+mj-lt"/>
              </a:rPr>
              <a:t>This is called</a:t>
            </a:r>
            <a:r>
              <a:rPr lang="en-US" sz="1800" b="1" dirty="0">
                <a:effectLst/>
                <a:latin typeface="+mj-lt"/>
              </a:rPr>
              <a:t> warp divergence</a:t>
            </a:r>
            <a:r>
              <a:rPr lang="en-US" sz="1800" b="0" dirty="0">
                <a:effectLst/>
                <a:latin typeface="+mj-lt"/>
              </a:rPr>
              <a:t>. CUDA will generate correct code to handle this, but to understand the performance you need to understand what CUDA does with it.</a:t>
            </a:r>
            <a:endParaRPr lang="en-US" sz="1800" dirty="0">
              <a:latin typeface="+mj-lt"/>
            </a:endParaRPr>
          </a:p>
          <a:p>
            <a:pPr marL="0" indent="0">
              <a:buNone/>
            </a:pPr>
            <a:r>
              <a:rPr lang="en-US" sz="1800" b="1" dirty="0">
                <a:latin typeface="+mj-lt"/>
              </a:rPr>
              <a:t>A</a:t>
            </a:r>
            <a:r>
              <a:rPr lang="en-US" sz="1800" b="1" dirty="0">
                <a:effectLst/>
                <a:latin typeface="+mj-lt"/>
              </a:rPr>
              <a:t>ll the threads in a warp execute both conditional branches</a:t>
            </a:r>
          </a:p>
          <a:p>
            <a:pPr marL="0" indent="0">
              <a:buNone/>
            </a:pPr>
            <a:r>
              <a:rPr lang="en-US" sz="1800" dirty="0">
                <a:effectLst/>
                <a:latin typeface="+mj-lt"/>
              </a:rPr>
              <a:t>If the condition evaluate to false for a given thread, it will </a:t>
            </a:r>
            <a:r>
              <a:rPr lang="en-US" sz="1800" b="1" dirty="0">
                <a:effectLst/>
                <a:latin typeface="+mj-lt"/>
              </a:rPr>
              <a:t>remain idle </a:t>
            </a:r>
            <a:r>
              <a:rPr lang="en-US" sz="1800" dirty="0">
                <a:effectLst/>
                <a:latin typeface="+mj-lt"/>
              </a:rPr>
              <a:t>and wait for the other threads to finish.</a:t>
            </a:r>
          </a:p>
          <a:p>
            <a:pPr marL="0" indent="0">
              <a:buNone/>
            </a:pPr>
            <a:r>
              <a:rPr lang="en-US" sz="1800" dirty="0">
                <a:latin typeface="+mj-lt"/>
              </a:rPr>
              <a:t>=&gt; </a:t>
            </a:r>
            <a:r>
              <a:rPr lang="en-US" sz="1800" b="1" dirty="0">
                <a:effectLst/>
                <a:latin typeface="+mj-lt"/>
              </a:rPr>
              <a:t>potentially large loss of performance.</a:t>
            </a:r>
          </a:p>
          <a:p>
            <a:pPr marL="0" indent="0">
              <a:buNone/>
            </a:pPr>
            <a:endParaRPr lang="en-US" sz="1800" b="0" dirty="0">
              <a:effectLst/>
              <a:latin typeface="+mj-lt"/>
            </a:endParaRPr>
          </a:p>
          <a:p>
            <a:endParaRPr lang="en-US" sz="1800" dirty="0">
              <a:latin typeface="+mj-lt"/>
            </a:endParaRPr>
          </a:p>
        </p:txBody>
      </p:sp>
      <p:pic>
        <p:nvPicPr>
          <p:cNvPr id="8" name="Picture 7" descr="A picture containing clock, meter, display&#10;&#10;Description automatically generated">
            <a:extLst>
              <a:ext uri="{FF2B5EF4-FFF2-40B4-BE49-F238E27FC236}">
                <a16:creationId xmlns:a16="http://schemas.microsoft.com/office/drawing/2014/main" id="{833E068B-E40F-406D-AE3E-B737A08A10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5824" y="2604070"/>
            <a:ext cx="3424236" cy="1649859"/>
          </a:xfrm>
          <a:prstGeom prst="rect">
            <a:avLst/>
          </a:prstGeom>
        </p:spPr>
      </p:pic>
    </p:spTree>
    <p:extLst>
      <p:ext uri="{BB962C8B-B14F-4D97-AF65-F5344CB8AC3E}">
        <p14:creationId xmlns:p14="http://schemas.microsoft.com/office/powerpoint/2010/main" val="751741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3A601-4052-4FC2-A89A-93E8493C25E3}"/>
              </a:ext>
            </a:extLst>
          </p:cNvPr>
          <p:cNvSpPr>
            <a:spLocks noGrp="1"/>
          </p:cNvSpPr>
          <p:nvPr>
            <p:ph type="title"/>
          </p:nvPr>
        </p:nvSpPr>
        <p:spPr/>
        <p:txBody>
          <a:bodyPr>
            <a:normAutofit/>
          </a:bodyPr>
          <a:lstStyle/>
          <a:p>
            <a:r>
              <a:rPr lang="en-US" dirty="0"/>
              <a:t>Deadlock</a:t>
            </a:r>
          </a:p>
        </p:txBody>
      </p:sp>
      <p:pic>
        <p:nvPicPr>
          <p:cNvPr id="7" name="Content Placeholder 6" descr="A screen shot of a computer&#10;&#10;Description automatically generated">
            <a:extLst>
              <a:ext uri="{FF2B5EF4-FFF2-40B4-BE49-F238E27FC236}">
                <a16:creationId xmlns:a16="http://schemas.microsoft.com/office/drawing/2014/main" id="{A7FF2587-807D-48C3-B82F-349D4A2E0E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63394" y="2002469"/>
            <a:ext cx="4365090" cy="3619500"/>
          </a:xfrm>
        </p:spPr>
      </p:pic>
      <p:sp>
        <p:nvSpPr>
          <p:cNvPr id="9" name="TextBox 8">
            <a:extLst>
              <a:ext uri="{FF2B5EF4-FFF2-40B4-BE49-F238E27FC236}">
                <a16:creationId xmlns:a16="http://schemas.microsoft.com/office/drawing/2014/main" id="{D654F221-40B5-4876-95D8-0384261C6CDE}"/>
              </a:ext>
            </a:extLst>
          </p:cNvPr>
          <p:cNvSpPr txBox="1"/>
          <p:nvPr/>
        </p:nvSpPr>
        <p:spPr>
          <a:xfrm>
            <a:off x="650959" y="1753959"/>
            <a:ext cx="4365089" cy="4247317"/>
          </a:xfrm>
          <a:prstGeom prst="rect">
            <a:avLst/>
          </a:prstGeom>
          <a:noFill/>
        </p:spPr>
        <p:txBody>
          <a:bodyPr wrap="square" rtlCol="0">
            <a:spAutoFit/>
          </a:bodyPr>
          <a:lstStyle/>
          <a:p>
            <a:r>
              <a:rPr lang="en-US" dirty="0">
                <a:latin typeface="+mj-lt"/>
              </a:rPr>
              <a:t>Again, all the threads in a warp execute both branches of the condition.</a:t>
            </a:r>
          </a:p>
          <a:p>
            <a:endParaRPr lang="en-US" dirty="0">
              <a:latin typeface="+mj-lt"/>
            </a:endParaRPr>
          </a:p>
          <a:p>
            <a:r>
              <a:rPr lang="en-US" b="1" dirty="0">
                <a:latin typeface="+mj-lt"/>
              </a:rPr>
              <a:t>Example</a:t>
            </a:r>
            <a:r>
              <a:rPr lang="en-US" dirty="0">
                <a:latin typeface="+mj-lt"/>
              </a:rPr>
              <a:t>: a single block of 32 threads is mapped to a single warp, where the 32 threads </a:t>
            </a:r>
            <a:r>
              <a:rPr lang="en-US" b="1" dirty="0">
                <a:latin typeface="+mj-lt"/>
              </a:rPr>
              <a:t>will execute the same instruction</a:t>
            </a:r>
            <a:r>
              <a:rPr lang="en-US" dirty="0">
                <a:latin typeface="+mj-lt"/>
              </a:rPr>
              <a:t>.</a:t>
            </a:r>
          </a:p>
          <a:p>
            <a:endParaRPr lang="en-US" dirty="0">
              <a:latin typeface="+mj-lt"/>
            </a:endParaRPr>
          </a:p>
          <a:p>
            <a:pPr marL="285750" indent="-285750">
              <a:buFont typeface="Arial" panose="020B0604020202020204" pitchFamily="34" charset="0"/>
              <a:buChar char="•"/>
            </a:pPr>
            <a:r>
              <a:rPr lang="en-US" dirty="0">
                <a:latin typeface="+mj-lt"/>
              </a:rPr>
              <a:t>50% of the threads (with </a:t>
            </a:r>
            <a:r>
              <a:rPr lang="en-US" dirty="0" err="1">
                <a:latin typeface="+mj-lt"/>
              </a:rPr>
              <a:t>threaded.x</a:t>
            </a:r>
            <a:r>
              <a:rPr lang="en-US" dirty="0">
                <a:latin typeface="+mj-lt"/>
              </a:rPr>
              <a:t> &lt; 16) execute the first branch, </a:t>
            </a:r>
            <a:r>
              <a:rPr lang="en-US" b="1" dirty="0">
                <a:latin typeface="+mj-lt"/>
              </a:rPr>
              <a:t>the other 50% are idle.</a:t>
            </a:r>
          </a:p>
          <a:p>
            <a:pPr marL="285750" indent="-285750">
              <a:buFont typeface="Arial" panose="020B0604020202020204" pitchFamily="34" charset="0"/>
              <a:buChar char="•"/>
            </a:pPr>
            <a:r>
              <a:rPr lang="en-US" dirty="0">
                <a:latin typeface="+mj-lt"/>
              </a:rPr>
              <a:t>The first 50% reach the __</a:t>
            </a:r>
            <a:r>
              <a:rPr lang="en-US" dirty="0" err="1">
                <a:latin typeface="+mj-lt"/>
              </a:rPr>
              <a:t>syncthread</a:t>
            </a:r>
            <a:r>
              <a:rPr lang="en-US" dirty="0">
                <a:latin typeface="+mj-lt"/>
              </a:rPr>
              <a:t>() instruction. It will never return because the other threads cannot execute the second branch yet.</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1855110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1312</Words>
  <Application>Microsoft Office PowerPoint</Application>
  <PresentationFormat>Panorámica</PresentationFormat>
  <Paragraphs>123</Paragraphs>
  <Slides>10</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Calibri Light</vt:lpstr>
      <vt:lpstr>Consolas</vt:lpstr>
      <vt:lpstr>Office Theme</vt:lpstr>
      <vt:lpstr>Execution and Divergence</vt:lpstr>
      <vt:lpstr>Presentación de PowerPoint</vt:lpstr>
      <vt:lpstr>Presentación de PowerPoint</vt:lpstr>
      <vt:lpstr>Presentación de PowerPoint</vt:lpstr>
      <vt:lpstr>Presentación de PowerPoint</vt:lpstr>
      <vt:lpstr>Grids, blocks, threads and warps</vt:lpstr>
      <vt:lpstr>Presentación de PowerPoint</vt:lpstr>
      <vt:lpstr>Grids, blocks, threads and warps</vt:lpstr>
      <vt:lpstr>Warp Divergence (Execution Divergence)</vt:lpstr>
      <vt:lpstr>Deadlock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Execution and DataDivergence</dc:title>
  <dc:creator>Aurélien Cavelan</dc:creator>
  <cp:lastModifiedBy>Rubén Martín</cp:lastModifiedBy>
  <cp:revision>8</cp:revision>
  <dcterms:created xsi:type="dcterms:W3CDTF">2020-09-15T16:42:24Z</dcterms:created>
  <dcterms:modified xsi:type="dcterms:W3CDTF">2020-09-24T11:46:01Z</dcterms:modified>
</cp:coreProperties>
</file>