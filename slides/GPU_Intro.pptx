
<file path=[Content_Types].xml><?xml version="1.0" encoding="utf-8"?>
<Types xmlns="http://schemas.openxmlformats.org/package/2006/content-types">
  <Default Extension="jpg" ContentType="image/jpeg"/>
  <Default Extension="wmf" ContentType="image/x-wmf"/>
  <Default Extension="png" ContentType="image/png"/>
  <Default Extension="xml" ContentType="application/xml"/>
  <Default Extension="jpeg" ContentType="image/jpeg"/>
  <Default Extension="rels" ContentType="application/vnd.openxmlformats-package.relationships+xml"/>
  <Default Extension="bin" ContentType="application/vnd.openxmlformats-officedocument.oleObject"/>
  <Override PartName="/ppt/comments/comment11.xml" ContentType="application/vnd.openxmlformats-officedocument.presentationml.comments+xml"/>
  <Override PartName="/ppt/comments/comment10.xml" ContentType="application/vnd.openxmlformats-officedocument.presentationml.comments+xml"/>
  <Override PartName="/ppt/comments/comment9.xml" ContentType="application/vnd.openxmlformats-officedocument.presentationml.comments+xml"/>
  <Override PartName="/ppt/comments/comment7.xml" ContentType="application/vnd.openxmlformats-officedocument.presentationml.comments+xml"/>
  <Override PartName="/ppt/comments/comment2.xml" ContentType="application/vnd.openxmlformats-officedocument.presentationml.comments+xml"/>
  <Override PartName="/ppt/comments/comment1.xml" ContentType="application/vnd.openxmlformats-officedocument.presentationml.comments+xml"/>
  <Override PartName="/ppt/notesSlides/notesSlide1.xml" ContentType="application/vnd.openxmlformats-officedocument.presentationml.notesSlide+xml"/>
  <Override PartName="/ppt/slides/slide17.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comments/comment3.xml" ContentType="application/vnd.openxmlformats-officedocument.presentationml.comments+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comments/comment5.xml" ContentType="application/vnd.openxmlformats-officedocument.presentationml.comments+xml"/>
  <Override PartName="/ppt/slideLayouts/slideLayout11.xml" ContentType="application/vnd.openxmlformats-officedocument.presentationml.slideLayout+xml"/>
  <Override PartName="/ppt/slides/slide10.xml" ContentType="application/vnd.openxmlformats-officedocument.presentationml.slide+xml"/>
  <Override PartName="/ppt/comments/comment4.xml" ContentType="application/vnd.openxmlformats-officedocument.presentationml.comments+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notesSlides/notesSlide6.xml" ContentType="application/vnd.openxmlformats-officedocument.presentationml.notesSlide+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s/slide7.xml" ContentType="application/vnd.openxmlformats-officedocument.presentationml.slide+xml"/>
  <Override PartName="/ppt/slides/slide16.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Slides/notesSlide9.xml" ContentType="application/vnd.openxmlformats-officedocument.presentationml.notesSlide+xml"/>
  <Override PartName="/ppt/theme/theme1.xml" ContentType="application/vnd.openxmlformats-officedocument.theme+xml"/>
  <Override PartName="/docProps/app.xml" ContentType="application/vnd.openxmlformats-officedocument.extended-properties+xml"/>
  <Override PartName="/ppt/comments/comment6.xml" ContentType="application/vnd.openxmlformats-officedocument.presentationml.comments+xml"/>
  <Override PartName="/ppt/notesSlides/notesSlide2.xml" ContentType="application/vnd.openxmlformats-officedocument.presentationml.notesSlide+xml"/>
  <Override PartName="/ppt/tableStyles.xml" ContentType="application/vnd.openxmlformats-officedocument.presentationml.tableStyles+xml"/>
  <Override PartName="/ppt/slideLayouts/slideLayout5.xml" ContentType="application/vnd.openxmlformats-officedocument.presentationml.slideLayout+xml"/>
  <Override PartName="/ppt/viewProps.xml" ContentType="application/vnd.openxmlformats-officedocument.presentationml.viewProps+xml"/>
  <Override PartName="/ppt/slideMasters/slideMaster1.xml" ContentType="application/vnd.openxmlformats-officedocument.presentationml.slideMaster+xml"/>
  <Override PartName="/ppt/presProps.xml" ContentType="application/vnd.openxmlformats-officedocument.presentationml.presProps+xml"/>
  <Override PartName="/ppt/slides/slide8.xml" ContentType="application/vnd.openxmlformats-officedocument.presentationml.slide+xml"/>
  <Override PartName="/ppt/comments/comment8.xml" ContentType="application/vnd.openxmlformats-officedocument.presentationml.comments+xml"/>
  <Override PartName="/ppt/notesSlides/notesSlide3.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notesSlides/notesSlide5.xml" ContentType="application/vnd.openxmlformats-officedocument.presentationml.notesSlide+xml"/>
  <Override PartName="/ppt/slideLayouts/slideLayout6.xml" ContentType="application/vnd.openxmlformats-officedocument.presentationml.slideLayout+xml"/>
  <Override PartName="/ppt/presentation.xml" ContentType="application/vnd.openxmlformats-officedocument.presentationml.presentation.main+xml"/>
  <Override PartName="/ppt/commentAuthors.xml" ContentType="application/vnd.openxmlformats-officedocument.presentationml.commentAuthors+xml"/>
  <Override PartName="/ppt/slides/slide11.xml" ContentType="application/vnd.openxmlformats-officedocument.presentationml.slide+xml"/>
  <Override PartName="/ppt/theme/theme2.xml" ContentType="application/vnd.openxmlformats-officedocument.theme+xml"/>
  <Override PartName="/ppt/slides/slide5.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drille Duchemin (unibas.ch)" initials="WD(" lastIdx="17" clrIdx="0"/>
  <p:cmAuthor id="2" name="Sébastien Boyer (unibas.ch)" initials="SB(" lastIdx="13" clrIdx="1"/>
</p:cmAuthorLst>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236" y="-90"/>
      </p:cViewPr>
      <p:guideLst>
        <p:guide pos="2160" orient="horz"/>
        <p:guide pos="2880"/>
      </p:guideLst>
    </p:cSldViewPr>
  </p:slideViewPr>
  <p:notesTextViewPr>
    <p:cViewPr>
      <p:scale>
        <a:sx n="100" d="100"/>
        <a:sy n="100" d="100"/>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 Id="rId25"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4:07:53Z" idx="1">
    <p:pos x="0" y="0"/>
    <p:text>Overall very nice. Good to directly focus on performance : gets people motivated on the end-goal.
Is target audience expected to already know (at least passingly) about cache/memory management in (C)PU?
-&gt; If not, we should have something explaining that : if people have a better mental model of how computations work in a computer, they can understand/memorize better how and when a parralelization paradigm works.
To add : GPU programmation technologies (cuda,roc,openMP,openACC,...) ?</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1T12:07:53Z;4;38;{8CB34A1C-E573-55CE-F19C-0D71B56E988A};" providerId="AD"/>
      </p:ext>
    </p:extLst>
  </p:cm>
  <p:cm authorId="2" dt="2020-06-12T11:56:18Z" idx="1">
    <p:pos x="0" y="3081"/>
    <p:text>Si on veut parler de gestion de memoire, je crains ne pas voir le niveau meme pour un slide d'intro. Donc si tu veux le rajouter ca m'aiderais si tu pouvais t'en occuper</p:text>
    <p:extLst>
      <p:ext uri="{C676402C-5697-4E1C-873F-D02D1690AC5C}">
        <p15:threadingInfo xmlns:p15="http://schemas.microsoft.com/office/powerpoint/2012/main" timeZoneBias="-120">
          <p15:parentCm authorId="1" idx="1"/>
        </p15:threadingInfo>
      </p:ext>
      <p:ext uri="{19B8F6BF-5375-455C-9EA6-DF929625EA0E}">
        <p15:presenceInfo xmlns:p15="http://schemas.microsoft.com/office/powerpoint/2012/main" userId="teamlab_data:0;38;oc641cdd42e0_sebastien.boyer@unibas.ch;1;27;Sébastien Boyer (unibas.ch);2;1;0;3;20;2020-06-12T09:56:18Z;4;38;{A52811F1-705A-04EC-B01A-75CBF9465847};" providerId="AD"/>
      </p:ext>
    </p:extLst>
  </p:cm>
</p:cmLst>
</file>

<file path=ppt/comments/comment2.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3:35:05Z" idx="2">
    <p:pos x="351" y="2669"/>
    <p:text>define ALU (Arithmetic logic unit) as the brick component of Processing Units ?</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1;3;20;2020-06-11T11:35:05Z;4;38;{6878EFA0-72CD-1751-459C-D34F19FFB038};" providerId="AD"/>
      </p:ext>
    </p:extLst>
  </p:cm>
</p:cmLst>
</file>

<file path=ppt/comments/comment3.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3:59:49Z" idx="3">
    <p:pos x="103" y="54"/>
    <p:text>Peut etre ajouter une deuxieme slide pour montrer les operations / modeles ou le GPU est plus lent.</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1;3;20;2020-06-11T11:59:49Z;4;38;{185805AF-3DFA-C4D1-78FA-4B49B599F2DB};" providerId="AD"/>
      </p:ext>
    </p:extLst>
  </p:cm>
  <p:cm authorId="2" dt="2020-06-12T10:38:30Z" idx="2">
    <p:pos x="103" y="3135"/>
    <p:text>Je pense que ces operations la sont pas adapte mais je suis pas 100 %</p:text>
    <p:extLst>
      <p:ext uri="{C676402C-5697-4E1C-873F-D02D1690AC5C}">
        <p15:threadingInfo xmlns:p15="http://schemas.microsoft.com/office/powerpoint/2012/main" timeZoneBias="-120">
          <p15:parentCm authorId="1" idx="3"/>
        </p15:threadingInfo>
      </p:ext>
      <p:ext uri="{19B8F6BF-5375-455C-9EA6-DF929625EA0E}">
        <p15:presenceInfo xmlns:p15="http://schemas.microsoft.com/office/powerpoint/2012/main" userId="teamlab_data:0;38;oc641cdd42e0_sebastien.boyer@unibas.ch;1;27;Sébastien Boyer (unibas.ch);2;1;0;3;20;2020-06-12T08:38:30Z;4;38;{051AAA9C-4746-59B8-E9CA-B5CA3B046299};" providerId="AD"/>
      </p:ext>
    </p:extLst>
  </p:cm>
  <p:cm authorId="1" dt="2020-06-12T13:40:28Z" idx="4">
    <p:pos x="103" y="6217"/>
    <p:text>A partir du moment ou c'est different ca passe.</p:text>
    <p:extLst>
      <p:ext uri="{C676402C-5697-4E1C-873F-D02D1690AC5C}">
        <p15:threadingInfo xmlns:p15="http://schemas.microsoft.com/office/powerpoint/2012/main" timeZoneBias="-120">
          <p15:parentCm authorId="1" idx="3"/>
        </p15:threadingInfo>
      </p:ext>
      <p:ext uri="{19B8F6BF-5375-455C-9EA6-DF929625EA0E}">
        <p15:presenceInfo xmlns:p15="http://schemas.microsoft.com/office/powerpoint/2012/main" userId="teamlab_data:0;41;oc641cdd42e0_wandrille.duchemin@unibas.ch;1;30;Wandrille Duchemin (unibas.ch);2;1;0;3;20;2020-06-12T11:40:28Z;4;38;{2BD08324-63B8-EFFD-9C76-ECF5512DA4DA};" providerId="AD"/>
      </p:ext>
    </p:extLst>
  </p:cm>
</p:cmLst>
</file>

<file path=ppt/comments/comment4.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3:52:55Z" idx="5">
    <p:pos x="18" y="53"/>
    <p:text>Sauf si je comprend mal la figure de gauche, les 2 images representent l'architecture du programme. 
Ca serait interessant de mettre en regard une image de l'architecture hardware, non?</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1T11:52:55Z;4;38;{4800787B-D208-3BAE-09C3-FAE5464928C7};" providerId="AD"/>
      </p:ext>
    </p:extLst>
  </p:cm>
  <p:cm authorId="2" dt="2020-06-12T10:49:04Z" idx="3">
    <p:pos x="18" y="3134"/>
    <p:text>Exactement c'est ce que j'ai essaye de faire maladroitement avec la slide d'avant. Si tu as une idee de comment faire ca proprement je suis tout ouie</p:text>
    <p:extLst>
      <p:ext uri="{C676402C-5697-4E1C-873F-D02D1690AC5C}">
        <p15:threadingInfo xmlns:p15="http://schemas.microsoft.com/office/powerpoint/2012/main" timeZoneBias="-120">
          <p15:parentCm authorId="1" idx="5"/>
        </p15:threadingInfo>
      </p:ext>
      <p:ext uri="{19B8F6BF-5375-455C-9EA6-DF929625EA0E}">
        <p15:presenceInfo xmlns:p15="http://schemas.microsoft.com/office/powerpoint/2012/main" userId="teamlab_data:0;38;oc641cdd42e0_sebastien.boyer@unibas.ch;1;27;Sébastien Boyer (unibas.ch);2;1;0;3;20;2020-06-12T08:49:04Z;4;38;{F6B5DB3F-437B-0681-3D97-B6749AA50F14};" providerId="AD"/>
      </p:ext>
    </p:extLst>
  </p:cm>
  <p:cm authorId="1" dt="2020-06-11T13:55:29Z" idx="6">
    <p:pos x="112" y="98"/>
    <p:text>j'ai essaye de reorganiser la slide... peut etre avec une image montrant de bas en haut : thread&gt;block&gt;grid ?</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1;3;20;2020-06-11T11:55:29Z;4;38;{5232ED33-D178-11E0-DB17-D14D0F7209A4};" providerId="AD"/>
      </p:ext>
    </p:extLst>
  </p:cm>
  <p:cm authorId="2" dt="2020-06-12T10:48:15Z" idx="4">
    <p:pos x="112" y="3179"/>
    <p:text>J'approuve very much</p:text>
    <p:extLst>
      <p:ext uri="{C676402C-5697-4E1C-873F-D02D1690AC5C}">
        <p15:threadingInfo xmlns:p15="http://schemas.microsoft.com/office/powerpoint/2012/main" timeZoneBias="-120">
          <p15:parentCm authorId="1" idx="6"/>
        </p15:threadingInfo>
      </p:ext>
      <p:ext uri="{19B8F6BF-5375-455C-9EA6-DF929625EA0E}">
        <p15:presenceInfo xmlns:p15="http://schemas.microsoft.com/office/powerpoint/2012/main" userId="teamlab_data:0;38;oc641cdd42e0_sebastien.boyer@unibas.ch;1;27;Sébastien Boyer (unibas.ch);2;1;0;3;20;2020-06-12T08:48:15Z;4;38;{363CB8D0-D1EA-7569-D12C-DF6EBFC72F26};" providerId="AD"/>
      </p:ext>
    </p:extLst>
  </p:cm>
  <p:cm authorId="1" dt="2020-06-12T17:39:08Z" idx="7">
    <p:pos x="112" y="6261"/>
    <p:text>refait l'image en top-down.</p:text>
    <p:extLst>
      <p:ext uri="{C676402C-5697-4E1C-873F-D02D1690AC5C}">
        <p15:threadingInfo xmlns:p15="http://schemas.microsoft.com/office/powerpoint/2012/main" timeZoneBias="-120">
          <p15:parentCm authorId="1" idx="6"/>
        </p15:threadingInfo>
      </p:ext>
      <p:ext uri="{19B8F6BF-5375-455C-9EA6-DF929625EA0E}">
        <p15:presenceInfo xmlns:p15="http://schemas.microsoft.com/office/powerpoint/2012/main" userId="teamlab_data:0;41;oc641cdd42e0_wandrille.duchemin@unibas.ch;1;30;Wandrille Duchemin (unibas.ch);2;1;0;3;20;2020-06-12T15:39:08Z;4;38;{99155341-CF40-145D-E983-F3F6F42BD310};" providerId="AD"/>
      </p:ext>
    </p:extLst>
  </p:cm>
</p:cmLst>
</file>

<file path=ppt/comments/comment5.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3:40:05Z" idx="8">
    <p:pos x="0" y="-5"/>
    <p:text>Qu'est ce que tu veux faire passer avec cette slide ?</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1T11:40:05Z;4;38;{AD2E0978-E9D7-37F2-B02B-16F35DA86451};" providerId="AD"/>
      </p:ext>
    </p:extLst>
  </p:cm>
  <p:cm authorId="2" dt="2020-06-12T10:47:48Z" idx="5">
    <p:pos x="0" y="3076"/>
    <p:text>Je voulais presenter un truc plus reel moins schematique qui pourrais rendre plus interpretable le mapping que je presente ensuite. Ce que je propose c'est d'enlever le CPU. OU carrement la slide, comme tu le sens</p:text>
    <p:extLst>
      <p:ext uri="{C676402C-5697-4E1C-873F-D02D1690AC5C}">
        <p15:threadingInfo xmlns:p15="http://schemas.microsoft.com/office/powerpoint/2012/main" timeZoneBias="-120">
          <p15:parentCm authorId="1" idx="8"/>
        </p15:threadingInfo>
      </p:ext>
      <p:ext uri="{19B8F6BF-5375-455C-9EA6-DF929625EA0E}">
        <p15:presenceInfo xmlns:p15="http://schemas.microsoft.com/office/powerpoint/2012/main" userId="teamlab_data:0;38;oc641cdd42e0_sebastien.boyer@unibas.ch;1;27;Sébastien Boyer (unibas.ch);2;1;0;3;20;2020-06-12T08:47:48Z;4;38;{A76596C7-0B8F-C0BE-DAC3-74CB836524E6};" providerId="AD"/>
      </p:ext>
    </p:extLst>
  </p:cm>
  <p:cm authorId="2" dt="2020-06-12T11:33:52Z" idx="6">
    <p:pos x="0" y="6158"/>
    <p:text>Voila ce que je propose en remplacement</p:text>
    <p:extLst>
      <p:ext uri="{C676402C-5697-4E1C-873F-D02D1690AC5C}">
        <p15:threadingInfo xmlns:p15="http://schemas.microsoft.com/office/powerpoint/2012/main" timeZoneBias="-120">
          <p15:parentCm authorId="1" idx="8"/>
        </p15:threadingInfo>
      </p:ext>
      <p:ext uri="{19B8F6BF-5375-455C-9EA6-DF929625EA0E}">
        <p15:presenceInfo xmlns:p15="http://schemas.microsoft.com/office/powerpoint/2012/main" userId="teamlab_data:0;38;oc641cdd42e0_sebastien.boyer@unibas.ch;1;27;Sébastien Boyer (unibas.ch);2;1;0;3;20;2020-06-12T09:33:52Z;4;38;{6D5585FE-B44E-83E0-9708-3C9505F938C4};" providerId="AD"/>
      </p:ext>
    </p:extLst>
  </p:cm>
  <p:cm authorId="1" dt="2020-06-12T17:40:36Z" idx="9">
    <p:pos x="0" y="9240"/>
    <p:text>c'est  cool cette suite de clides</p:text>
    <p:extLst>
      <p:ext uri="{C676402C-5697-4E1C-873F-D02D1690AC5C}">
        <p15:threadingInfo xmlns:p15="http://schemas.microsoft.com/office/powerpoint/2012/main" timeZoneBias="-120">
          <p15:parentCm authorId="1" idx="8"/>
        </p15:threadingInfo>
      </p:ext>
      <p:ext uri="{19B8F6BF-5375-455C-9EA6-DF929625EA0E}">
        <p15:presenceInfo xmlns:p15="http://schemas.microsoft.com/office/powerpoint/2012/main" userId="teamlab_data:0;41;oc641cdd42e0_wandrille.duchemin@unibas.ch;1;30;Wandrille Duchemin (unibas.ch);2;1;0;3;20;2020-06-12T15:40:36Z;4;38;{AF4A5464-7ED6-CAD1-4DA1-C044C2E7AD7C};" providerId="AD"/>
      </p:ext>
    </p:extLst>
  </p:cm>
</p:cmLst>
</file>

<file path=ppt/comments/comment6.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3:40:05Z" idx="10">
    <p:pos x="0" y="-5"/>
    <p:text>Qu'est ce que tu veux faire passer avec cette slide ?</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1T11:40:05Z;4;38;{AD2E0978-E9D7-37F2-B02B-16F35DA86451};" providerId="AD"/>
      </p:ext>
    </p:extLst>
  </p:cm>
  <p:cm authorId="2" dt="2020-06-12T10:47:48Z" idx="7">
    <p:pos x="0" y="3076"/>
    <p:text>Je voulais presenter un truc plus reel moins schematique qui pourrais rendre plus interpretable le mapping que je presente ensuite. Ce que je propose c'est d'enlever le CPU. OU carrement la slide, comme tu le sens</p:text>
    <p:extLst>
      <p:ext uri="{C676402C-5697-4E1C-873F-D02D1690AC5C}">
        <p15:threadingInfo xmlns:p15="http://schemas.microsoft.com/office/powerpoint/2012/main" timeZoneBias="-120">
          <p15:parentCm authorId="1" idx="10"/>
        </p15:threadingInfo>
      </p:ext>
      <p:ext uri="{19B8F6BF-5375-455C-9EA6-DF929625EA0E}">
        <p15:presenceInfo xmlns:p15="http://schemas.microsoft.com/office/powerpoint/2012/main" userId="teamlab_data:0;38;oc641cdd42e0_sebastien.boyer@unibas.ch;1;27;Sébastien Boyer (unibas.ch);2;1;0;3;20;2020-06-12T08:47:48Z;4;38;{DB39CDBD-901A-3F57-871D-6F804781A3EA};" providerId="AD"/>
      </p:ext>
    </p:extLst>
  </p:cm>
  <p:cm authorId="2" dt="2020-06-12T11:33:52Z" idx="8">
    <p:pos x="0" y="6158"/>
    <p:text>Voila ce que je propose en remplacement</p:text>
    <p:extLst>
      <p:ext uri="{C676402C-5697-4E1C-873F-D02D1690AC5C}">
        <p15:threadingInfo xmlns:p15="http://schemas.microsoft.com/office/powerpoint/2012/main" timeZoneBias="-120">
          <p15:parentCm authorId="1" idx="10"/>
        </p15:threadingInfo>
      </p:ext>
      <p:ext uri="{19B8F6BF-5375-455C-9EA6-DF929625EA0E}">
        <p15:presenceInfo xmlns:p15="http://schemas.microsoft.com/office/powerpoint/2012/main" userId="teamlab_data:0;38;oc641cdd42e0_sebastien.boyer@unibas.ch;1;27;Sébastien Boyer (unibas.ch);2;1;0;3;20;2020-06-12T09:33:52Z;4;38;{472C0ECC-539F-CC27-0F4D-B5D49D8F335A};" providerId="AD"/>
      </p:ext>
    </p:extLst>
  </p:cm>
</p:cmLst>
</file>

<file path=ppt/comments/comment7.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3:40:05Z" idx="11">
    <p:pos x="0" y="-5"/>
    <p:text>Qu'est ce que tu veux faire passer avec cette slide ?</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1T11:40:05Z;4;38;{AD2E0978-E9D7-37F2-B02B-16F35DA86451};" providerId="AD"/>
      </p:ext>
    </p:extLst>
  </p:cm>
  <p:cm authorId="2" dt="2020-06-12T10:47:48Z" idx="9">
    <p:pos x="0" y="3076"/>
    <p:text>Je voulais presenter un truc plus reel moins schematique qui pourrais rendre plus interpretable le mapping que je presente ensuite. Ce que je propose c'est d'enlever le CPU. OU carrement la slide, comme tu le sens</p:text>
    <p:extLst>
      <p:ext uri="{C676402C-5697-4E1C-873F-D02D1690AC5C}">
        <p15:threadingInfo xmlns:p15="http://schemas.microsoft.com/office/powerpoint/2012/main" timeZoneBias="-120">
          <p15:parentCm authorId="1" idx="11"/>
        </p15:threadingInfo>
      </p:ext>
      <p:ext uri="{19B8F6BF-5375-455C-9EA6-DF929625EA0E}">
        <p15:presenceInfo xmlns:p15="http://schemas.microsoft.com/office/powerpoint/2012/main" userId="teamlab_data:0;38;oc641cdd42e0_sebastien.boyer@unibas.ch;1;27;Sébastien Boyer (unibas.ch);2;1;0;3;20;2020-06-12T08:47:48Z;4;38;{DB39CDBD-901A-3F57-871D-6F804781A3EA};" providerId="AD"/>
      </p:ext>
    </p:extLst>
  </p:cm>
  <p:cm authorId="2" dt="2020-06-12T11:33:52Z" idx="10">
    <p:pos x="0" y="6158"/>
    <p:text>Voila ce que je propose en remplacement</p:text>
    <p:extLst>
      <p:ext uri="{C676402C-5697-4E1C-873F-D02D1690AC5C}">
        <p15:threadingInfo xmlns:p15="http://schemas.microsoft.com/office/powerpoint/2012/main" timeZoneBias="-120">
          <p15:parentCm authorId="1" idx="11"/>
        </p15:threadingInfo>
      </p:ext>
      <p:ext uri="{19B8F6BF-5375-455C-9EA6-DF929625EA0E}">
        <p15:presenceInfo xmlns:p15="http://schemas.microsoft.com/office/powerpoint/2012/main" userId="teamlab_data:0;38;oc641cdd42e0_sebastien.boyer@unibas.ch;1;27;Sébastien Boyer (unibas.ch);2;1;0;3;20;2020-06-12T09:33:52Z;4;38;{472C0ECC-539F-CC27-0F4D-B5D49D8F335A};" providerId="AD"/>
      </p:ext>
    </p:extLst>
  </p:cm>
</p:cmLst>
</file>

<file path=ppt/comments/comment8.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3:40:05Z" idx="12">
    <p:pos x="0" y="-5"/>
    <p:text>Qu'est ce que tu veux faire passer avec cette slide ?</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1T11:40:05Z;4;38;{AD2E0978-E9D7-37F2-B02B-16F35DA86451};" providerId="AD"/>
      </p:ext>
    </p:extLst>
  </p:cm>
  <p:cm authorId="2" dt="2020-06-12T10:47:48Z" idx="11">
    <p:pos x="0" y="3076"/>
    <p:text>Je voulais presenter un truc plus reel moins schematique qui pourrais rendre plus interpretable le mapping que je presente ensuite. Ce que je propose c'est d'enlever le CPU. OU carrement la slide, comme tu le sens</p:text>
    <p:extLst>
      <p:ext uri="{C676402C-5697-4E1C-873F-D02D1690AC5C}">
        <p15:threadingInfo xmlns:p15="http://schemas.microsoft.com/office/powerpoint/2012/main" timeZoneBias="-120">
          <p15:parentCm authorId="1" idx="12"/>
        </p15:threadingInfo>
      </p:ext>
      <p:ext uri="{19B8F6BF-5375-455C-9EA6-DF929625EA0E}">
        <p15:presenceInfo xmlns:p15="http://schemas.microsoft.com/office/powerpoint/2012/main" userId="teamlab_data:0;38;oc641cdd42e0_sebastien.boyer@unibas.ch;1;27;Sébastien Boyer (unibas.ch);2;1;0;3;20;2020-06-12T08:47:48Z;4;38;{DB39CDBD-901A-3F57-871D-6F804781A3EA};" providerId="AD"/>
      </p:ext>
    </p:extLst>
  </p:cm>
  <p:cm authorId="2" dt="2020-06-12T11:33:52Z" idx="12">
    <p:pos x="0" y="6158"/>
    <p:text>Voila ce que je propose en remplacement</p:text>
    <p:extLst>
      <p:ext uri="{C676402C-5697-4E1C-873F-D02D1690AC5C}">
        <p15:threadingInfo xmlns:p15="http://schemas.microsoft.com/office/powerpoint/2012/main" timeZoneBias="-120">
          <p15:parentCm authorId="1" idx="12"/>
        </p15:threadingInfo>
      </p:ext>
      <p:ext uri="{19B8F6BF-5375-455C-9EA6-DF929625EA0E}">
        <p15:presenceInfo xmlns:p15="http://schemas.microsoft.com/office/powerpoint/2012/main" userId="teamlab_data:0;38;oc641cdd42e0_sebastien.boyer@unibas.ch;1;27;Sébastien Boyer (unibas.ch);2;1;0;3;20;2020-06-12T09:33:52Z;4;38;{472C0ECC-539F-CC27-0F4D-B5D49D8F335A};" providerId="AD"/>
      </p:ext>
    </p:extLst>
  </p:cm>
</p:cmLst>
</file>

<file path=ppt/comments/comment9.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1T13:56:46Z" idx="13">
    <p:pos x="0" y="0"/>
    <p:text>partie 2 de la slide precedente ?</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1T11:56:46Z;4;38;{A4C8EC89-1585-E2EB-2B1C-F8350C5E512A};" providerId="AD"/>
      </p:ext>
    </p:extLst>
  </p:cm>
  <p:cm authorId="2" dt="2020-06-12T10:51:42Z" idx="13">
    <p:pos x="0" y="3081"/>
    <p:text>Oui et aussi d'introduire la slide que tu m'as demande de rajouter sur les differentes API. Le but etait de poser le voicabulaire et de voire que ce qu 'on allait faire (i.e le mapping hardware software) etait un etape au milieu du code. Encore une fois peut etre trouver un meilleur titre pour que la transisiton soit obvious?Je propose ce nouveau titre</p:text>
    <p:extLst>
      <p:ext uri="{C676402C-5697-4E1C-873F-D02D1690AC5C}">
        <p15:threadingInfo xmlns:p15="http://schemas.microsoft.com/office/powerpoint/2012/main" timeZoneBias="-120">
          <p15:parentCm authorId="1" idx="13"/>
        </p15:threadingInfo>
      </p:ext>
      <p:ext uri="{19B8F6BF-5375-455C-9EA6-DF929625EA0E}">
        <p15:presenceInfo xmlns:p15="http://schemas.microsoft.com/office/powerpoint/2012/main" userId="teamlab_data:0;38;oc641cdd42e0_sebastien.boyer@unibas.ch;1;27;Sébastien Boyer (unibas.ch);2;1;0;3;20;2020-06-12T08:51:42Z;4;38;{D7B46082-635B-8F73-D6F0-35B9AC69C453};" providerId="AD"/>
      </p:ext>
    </p:extLst>
  </p:cm>
</p:cmLst>
</file>

<file path=ppt/comments/comment10.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2T17:47:52Z" idx="14">
    <p:pos x="2217" y="3504"/>
    <p:text>My idea was only really to show names and logos, just to get the student acquainted with the names of existing technologies</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2T15:47:52Z;4;38;{570DEB97-F3E1-E9A2-B755-D894C4F4CC80};" providerId="AD"/>
      </p:ext>
    </p:extLst>
  </p:cm>
  <p:cm authorId="1" dt="2020-06-12T18:19:26Z" idx="15">
    <p:pos x="2390" y="3663"/>
    <p:text>C'est un peu ce que j'avais en tete...
Par contre les connecteurs/lignes/fleches me gonflent.</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2T16:19:26Z;4;38;{E98C875E-3737-B468-7DEB-9A69C5A8CCA2};" providerId="AD"/>
      </p:ext>
    </p:extLst>
  </p:cm>
</p:cmLst>
</file>

<file path=ppt/comments/comment11.xml><?xml version="1.0" encoding="utf-8"?>
<p:cmLs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m authorId="1" dt="2020-06-12T17:47:52Z" idx="16">
    <p:pos x="2217" y="3504"/>
    <p:text>My idea was only really to show names and logos, just to get the student acquainted with the names of existing technologies</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2T15:47:52Z;4;38;{570DEB97-F3E1-E9A2-B755-D894C4F4CC80};" providerId="AD"/>
      </p:ext>
    </p:extLst>
  </p:cm>
  <p:cm authorId="1" dt="2020-06-12T18:19:26Z" idx="17">
    <p:pos x="2390" y="3663"/>
    <p:text>C'est un peu ce que j'avais en tete...
Par contre les connecteurs/lignes/fleches me gonflent.</p:text>
    <p:extLst>
      <p:ext uri="{C676402C-5697-4E1C-873F-D02D1690AC5C}">
        <p15:threadingInfo xmlns:p15="http://schemas.microsoft.com/office/powerpoint/2012/main" timeZoneBias="-120"/>
      </p:ext>
      <p:ext uri="{19B8F6BF-5375-455C-9EA6-DF929625EA0E}">
        <p15:presenceInfo xmlns:p15="http://schemas.microsoft.com/office/powerpoint/2012/main" userId="teamlab_data:0;41;oc641cdd42e0_wandrille.duchemin@unibas.ch;1;30;Wandrille Duchemin (unibas.ch);2;1;0;3;20;2020-06-12T16:19:26Z;4;38;{E98C875E-3737-B468-7DEB-9A69C5A8CCA2};" providerId="AD"/>
      </p:ext>
    </p:extLst>
  </p:cm>
</p:cmLst>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hidden="0"/>
        <p:cNvGrpSpPr/>
        <p:nvPr isPhoto="0" userDrawn="0"/>
      </p:nvGrpSpPr>
      <p:grpSpPr bwMode="auto">
        <a:xfrm>
          <a:off x="0" y="0"/>
          <a:ext cx="0" cy="0"/>
          <a:chOff x="0" y="0"/>
          <a:chExt cx="0" cy="0"/>
        </a:xfrm>
      </p:grpSpPr>
      <p:sp>
        <p:nvSpPr>
          <p:cNvPr id="4" name="Header Placeholder 1" hidden="0"/>
          <p:cNvSpPr>
            <a:spLocks noGrp="1"/>
          </p:cNvSpPr>
          <p:nvPr isPhoto="0" userDrawn="0">
            <p:ph type="hdr" sz="quarter" hasCustomPrompt="0"/>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5" name="Date Placeholder 2" hidden="0"/>
          <p:cNvSpPr>
            <a:spLocks noGrp="1"/>
          </p:cNvSpPr>
          <p:nvPr isPhoto="0" userDrawn="0">
            <p:ph type="dt" idx="2" hasCustomPrompt="0"/>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6" name="Date Placeholder 2" hidden="0"/>
          <p:cNvSpPr>
            <a:spLocks noGrp="1"/>
          </p:cNvSpPr>
          <p:nvPr isPhoto="0" userDrawn="0">
            <p:ph type="dt" idx="3" hasCustomPrompt="0"/>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7" name="Notes Placeholder 4" hidden="0"/>
          <p:cNvSpPr>
            <a:spLocks noGrp="1"/>
          </p:cNvSpPr>
          <p:nvPr isPhoto="0" userDrawn="0">
            <p:ph type="body" sz="quarter" idx="1" hasCustomPrompt="0"/>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8" name="Footer Placeholder 5" hidden="0"/>
          <p:cNvSpPr>
            <a:spLocks noGrp="1"/>
          </p:cNvSpPr>
          <p:nvPr isPhoto="0" userDrawn="0">
            <p:ph type="ftr" sz="quarter" idx="4" hasCustomPrompt="0"/>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9" name="Slide Number Placeholder 6" hidden="0"/>
          <p:cNvSpPr>
            <a:spLocks noGrp="1"/>
          </p:cNvSpPr>
          <p:nvPr isPhoto="0" userDrawn="0">
            <p:ph type="sldNum" sz="quarter" idx="10" hasCustomPrompt="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accent1="accent1" accent2="accent2" accent3="accent3" accent4="accent4" accent5="accent5" accent6="accent6" bg1="lt1" bg2="lt2" folHlink="folHlink" hlink="hlink" tx1="dk1" tx2="dk2"/>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Performance of GPU is order of magnitude above CPU </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Data transfer rate is also significantly higher</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Nicely GPU optimized libraries already exist and can already outperform state of the art CPU optimized libraries on many basic/ day to day operations.</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Architecture is obviously different</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And that difference can be summarized by focus on raw computing power rather memory capacity and flow control  for GPU. This will have incidence on the type of operations and overall parallelization type that  really suit GPU rather than CPU.</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Could you guys help making the link with what I said before? Why this architecture with smaller memory and flow control is particularly adapted to SIMD. I have the intuition that if the same instruction is parralelly executed and different instructions are then run sequentially you would have less to do concerning the flow of memory and calcul within one shared memory. But Why the smaller memory?</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Understanding that the structure of the hardware is going to be directly translated into the way we are going to code</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Just gonna insist on the affirmation said before about how threads, block and grid can be distributed, but this time on a "real" architecture  rather than on a scheme. Could be remove since it is a bit redundant.</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4" name="Slide Image Placeholder 1" hidden="0"/>
          <p:cNvSpPr>
            <a:spLocks noChangeAspect="1" noGrp="1" noRot="1"/>
          </p:cNvSpPr>
          <p:nvPr isPhoto="0" userDrawn="0">
            <p:ph type="sldImg" hasCustomPrompt="0"/>
          </p:nvPr>
        </p:nvSpPr>
        <p:spPr bwMode="auto"/>
      </p:sp>
      <p:sp>
        <p:nvSpPr>
          <p:cNvPr id="5" name="Notes Placeholder 2" hidden="0"/>
          <p:cNvSpPr>
            <a:spLocks noGrp="1"/>
          </p:cNvSpPr>
          <p:nvPr isPhoto="0" userDrawn="0">
            <p:ph type="body" idx="1" hasCustomPrompt="0"/>
          </p:nvPr>
        </p:nvSpPr>
        <p:spPr bwMode="auto"/>
        <p:txBody>
          <a:bodyPr/>
          <a:lstStyle/>
          <a:p>
            <a:pPr>
              <a:defRPr/>
            </a:pPr>
            <a:r>
              <a:rPr/>
              <a:t>Realize that you still need to make the interface between the CPU and the GPU, understand  where what you are going to learn in this course sit in the writing of your program, introduce some vocabulary and open to next slides where technology allowing to write kernel are going to be presented.</a:t>
            </a:r>
            <a:endParaRPr/>
          </a:p>
        </p:txBody>
      </p:sp>
      <p:sp>
        <p:nvSpPr>
          <p:cNvPr id="6" name="Slide Number Placeholder 3" hidden="0"/>
          <p:cNvSpPr>
            <a:spLocks noGrp="1"/>
          </p:cNvSpPr>
          <p:nvPr isPhoto="0" userDrawn="0">
            <p:ph type="sldNum" sz="quarter" idx="10" hasCustomPrompt="0"/>
          </p:nvPr>
        </p:nvSpPr>
        <p:spPr bwMode="auto"/>
        <p:txBody>
          <a:bodyPr/>
          <a:lstStyle/>
          <a:p>
            <a:pPr>
              <a:defRPr/>
            </a:pPr>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Diapositive de titr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ctrTitle" hasCustomPrompt="0"/>
          </p:nvPr>
        </p:nvSpPr>
        <p:spPr bwMode="auto">
          <a:xfrm>
            <a:off x="1524000" y="1122363"/>
            <a:ext cx="9144000" cy="2387600"/>
          </a:xfrm>
        </p:spPr>
        <p:txBody>
          <a:bodyPr anchor="b"/>
          <a:lstStyle>
            <a:lvl1pPr algn="ctr">
              <a:defRPr sz="6000"/>
            </a:lvl1pPr>
          </a:lstStyle>
          <a:p>
            <a:pPr>
              <a:defRPr/>
            </a:pPr>
            <a:r>
              <a:rPr lang="fr-FR"/>
              <a:t>Modifiez le style du titre</a:t>
            </a:r>
            <a:endParaRPr lang="en-US"/>
          </a:p>
        </p:txBody>
      </p:sp>
      <p:sp>
        <p:nvSpPr>
          <p:cNvPr id="5" name="Sous-titre 2" hidden="0"/>
          <p:cNvSpPr>
            <a:spLocks noGrp="1"/>
          </p:cNvSpPr>
          <p:nvPr isPhoto="0" userDrawn="0">
            <p:ph type="subTitle" idx="1" hasCustomPrompt="0"/>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en-US"/>
          </a:p>
        </p:txBody>
      </p:sp>
      <p:sp>
        <p:nvSpPr>
          <p:cNvPr id="6" name="Espace réservé de la date 3"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7" name="Espace réservé du pied de page 4" hidden="0"/>
          <p:cNvSpPr>
            <a:spLocks noGrp="1"/>
          </p:cNvSpPr>
          <p:nvPr isPhoto="0" userDrawn="0">
            <p:ph type="ftr" sz="quarter" idx="11" hasCustomPrompt="0"/>
          </p:nvPr>
        </p:nvSpPr>
        <p:spPr bwMode="auto"/>
        <p:txBody>
          <a:bodyPr/>
          <a:lstStyle/>
          <a:p>
            <a:pPr>
              <a:defRPr/>
            </a:pPr>
            <a:endParaRPr lang="en-US"/>
          </a:p>
        </p:txBody>
      </p:sp>
      <p:sp>
        <p:nvSpPr>
          <p:cNvPr id="8" name="Espace réservé du numéro de diapositive 5"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Titre et contenu">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fr-FR"/>
              <a:t>Modifiez le style du titre</a:t>
            </a:r>
            <a:endParaRPr lang="en-US"/>
          </a:p>
        </p:txBody>
      </p:sp>
      <p:sp>
        <p:nvSpPr>
          <p:cNvPr id="5" name="Espace réservé du contenu 2" hidden="0"/>
          <p:cNvSpPr>
            <a:spLocks noGrp="1"/>
          </p:cNvSpPr>
          <p:nvPr isPhoto="0" userDrawn="0">
            <p:ph idx="1" hasCustomPrompt="0"/>
          </p:nvPr>
        </p:nvSpPr>
        <p:spPr bwMode="auto"/>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6" name="Espace réservé de la date 3"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7" name="Espace réservé du pied de page 4" hidden="0"/>
          <p:cNvSpPr>
            <a:spLocks noGrp="1"/>
          </p:cNvSpPr>
          <p:nvPr isPhoto="0" userDrawn="0">
            <p:ph type="ftr" sz="quarter" idx="11" hasCustomPrompt="0"/>
          </p:nvPr>
        </p:nvSpPr>
        <p:spPr bwMode="auto"/>
        <p:txBody>
          <a:bodyPr/>
          <a:lstStyle/>
          <a:p>
            <a:pPr>
              <a:defRPr/>
            </a:pPr>
            <a:endParaRPr lang="en-US"/>
          </a:p>
        </p:txBody>
      </p:sp>
      <p:sp>
        <p:nvSpPr>
          <p:cNvPr id="8" name="Espace réservé du numéro de diapositive 5"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Titre de section">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831850" y="1709738"/>
            <a:ext cx="10515600" cy="2852737"/>
          </a:xfrm>
        </p:spPr>
        <p:txBody>
          <a:bodyPr anchor="b"/>
          <a:lstStyle>
            <a:lvl1pPr>
              <a:defRPr sz="6000"/>
            </a:lvl1pPr>
          </a:lstStyle>
          <a:p>
            <a:pPr>
              <a:defRPr/>
            </a:pPr>
            <a:r>
              <a:rPr lang="fr-FR"/>
              <a:t>Modifiez le style du titre</a:t>
            </a:r>
            <a:endParaRPr lang="en-US"/>
          </a:p>
        </p:txBody>
      </p:sp>
      <p:sp>
        <p:nvSpPr>
          <p:cNvPr id="5" name="Espace réservé du texte 2" hidden="0"/>
          <p:cNvSpPr>
            <a:spLocks noGrp="1"/>
          </p:cNvSpPr>
          <p:nvPr isPhoto="0" userDrawn="0">
            <p:ph type="body" idx="1" hasCustomPrompt="0"/>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fr-FR"/>
              <a:t>Cliquez pour modifier les styles du texte du masque</a:t>
            </a:r>
            <a:endParaRPr/>
          </a:p>
        </p:txBody>
      </p:sp>
      <p:sp>
        <p:nvSpPr>
          <p:cNvPr id="6" name="Espace réservé de la date 3"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7" name="Espace réservé du pied de page 4" hidden="0"/>
          <p:cNvSpPr>
            <a:spLocks noGrp="1"/>
          </p:cNvSpPr>
          <p:nvPr isPhoto="0" userDrawn="0">
            <p:ph type="ftr" sz="quarter" idx="11" hasCustomPrompt="0"/>
          </p:nvPr>
        </p:nvSpPr>
        <p:spPr bwMode="auto"/>
        <p:txBody>
          <a:bodyPr/>
          <a:lstStyle/>
          <a:p>
            <a:pPr>
              <a:defRPr/>
            </a:pPr>
            <a:endParaRPr lang="en-US"/>
          </a:p>
        </p:txBody>
      </p:sp>
      <p:sp>
        <p:nvSpPr>
          <p:cNvPr id="8" name="Espace réservé du numéro de diapositive 5"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Deux contenus">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fr-FR"/>
              <a:t>Modifiez le style du titre</a:t>
            </a:r>
            <a:endParaRPr lang="en-US"/>
          </a:p>
        </p:txBody>
      </p:sp>
      <p:sp>
        <p:nvSpPr>
          <p:cNvPr id="5" name="Espace réservé du contenu 2" hidden="0"/>
          <p:cNvSpPr>
            <a:spLocks noGrp="1"/>
          </p:cNvSpPr>
          <p:nvPr isPhoto="0" userDrawn="0">
            <p:ph sz="half" idx="1" hasCustomPrompt="0"/>
          </p:nvPr>
        </p:nvSpPr>
        <p:spPr bwMode="auto">
          <a:xfrm>
            <a:off x="838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6" name="Espace réservé du contenu 3" hidden="0"/>
          <p:cNvSpPr>
            <a:spLocks noGrp="1"/>
          </p:cNvSpPr>
          <p:nvPr isPhoto="0" userDrawn="0">
            <p:ph sz="half" idx="2" hasCustomPrompt="0"/>
          </p:nvPr>
        </p:nvSpPr>
        <p:spPr bwMode="auto">
          <a:xfrm>
            <a:off x="6172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7" name="Espace réservé de la date 4"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8" name="Espace réservé du pied de page 5" hidden="0"/>
          <p:cNvSpPr>
            <a:spLocks noGrp="1"/>
          </p:cNvSpPr>
          <p:nvPr isPhoto="0" userDrawn="0">
            <p:ph type="ftr" sz="quarter" idx="11" hasCustomPrompt="0"/>
          </p:nvPr>
        </p:nvSpPr>
        <p:spPr bwMode="auto"/>
        <p:txBody>
          <a:bodyPr/>
          <a:lstStyle/>
          <a:p>
            <a:pPr>
              <a:defRPr/>
            </a:pPr>
            <a:endParaRPr lang="en-US"/>
          </a:p>
        </p:txBody>
      </p:sp>
      <p:sp>
        <p:nvSpPr>
          <p:cNvPr id="9" name="Espace réservé du numéro de diapositive 6"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Comparaison">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839788" y="365125"/>
            <a:ext cx="10515600" cy="1325563"/>
          </a:xfrm>
        </p:spPr>
        <p:txBody>
          <a:bodyPr/>
          <a:lstStyle/>
          <a:p>
            <a:pPr>
              <a:defRPr/>
            </a:pPr>
            <a:r>
              <a:rPr lang="fr-FR"/>
              <a:t>Modifiez le style du titre</a:t>
            </a:r>
            <a:endParaRPr lang="en-US"/>
          </a:p>
        </p:txBody>
      </p:sp>
      <p:sp>
        <p:nvSpPr>
          <p:cNvPr id="5" name="Espace réservé du texte 2" hidden="0"/>
          <p:cNvSpPr>
            <a:spLocks noGrp="1"/>
          </p:cNvSpPr>
          <p:nvPr isPhoto="0" userDrawn="0">
            <p:ph type="body" idx="1" hasCustomPrompt="0"/>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6" name="Espace réservé du contenu 3" hidden="0"/>
          <p:cNvSpPr>
            <a:spLocks noGrp="1"/>
          </p:cNvSpPr>
          <p:nvPr isPhoto="0" userDrawn="0">
            <p:ph sz="half" idx="2" hasCustomPrompt="0"/>
          </p:nvPr>
        </p:nvSpPr>
        <p:spPr bwMode="auto">
          <a:xfrm>
            <a:off x="839788" y="2505074"/>
            <a:ext cx="5157787" cy="368458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7" name="Espace réservé du texte 4" hidden="0"/>
          <p:cNvSpPr>
            <a:spLocks noGrp="1"/>
          </p:cNvSpPr>
          <p:nvPr isPhoto="0" userDrawn="0">
            <p:ph type="body" sz="quarter" idx="3" hasCustomPrompt="0"/>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8" name="Espace réservé du contenu 5" hidden="0"/>
          <p:cNvSpPr>
            <a:spLocks noGrp="1"/>
          </p:cNvSpPr>
          <p:nvPr isPhoto="0" userDrawn="0">
            <p:ph sz="quarter" idx="4" hasCustomPrompt="0"/>
          </p:nvPr>
        </p:nvSpPr>
        <p:spPr bwMode="auto">
          <a:xfrm>
            <a:off x="6172200" y="2505074"/>
            <a:ext cx="5183188" cy="368458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9" name="Espace réservé de la date 6"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10" name="Espace réservé du pied de page 7" hidden="0"/>
          <p:cNvSpPr>
            <a:spLocks noGrp="1"/>
          </p:cNvSpPr>
          <p:nvPr isPhoto="0" userDrawn="0">
            <p:ph type="ftr" sz="quarter" idx="11" hasCustomPrompt="0"/>
          </p:nvPr>
        </p:nvSpPr>
        <p:spPr bwMode="auto"/>
        <p:txBody>
          <a:bodyPr/>
          <a:lstStyle/>
          <a:p>
            <a:pPr>
              <a:defRPr/>
            </a:pPr>
            <a:endParaRPr lang="en-US"/>
          </a:p>
        </p:txBody>
      </p:sp>
      <p:sp>
        <p:nvSpPr>
          <p:cNvPr id="11" name="Espace réservé du numéro de diapositive 8"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Titre seul">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fr-FR"/>
              <a:t>Modifiez le style du titre</a:t>
            </a:r>
            <a:endParaRPr lang="en-US"/>
          </a:p>
        </p:txBody>
      </p:sp>
      <p:sp>
        <p:nvSpPr>
          <p:cNvPr id="5" name="Espace réservé de la date 2"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6" name="Espace réservé du pied de page 3" hidden="0"/>
          <p:cNvSpPr>
            <a:spLocks noGrp="1"/>
          </p:cNvSpPr>
          <p:nvPr isPhoto="0" userDrawn="0">
            <p:ph type="ftr" sz="quarter" idx="11" hasCustomPrompt="0"/>
          </p:nvPr>
        </p:nvSpPr>
        <p:spPr bwMode="auto"/>
        <p:txBody>
          <a:bodyPr/>
          <a:lstStyle/>
          <a:p>
            <a:pPr>
              <a:defRPr/>
            </a:pPr>
            <a:endParaRPr lang="en-US"/>
          </a:p>
        </p:txBody>
      </p:sp>
      <p:sp>
        <p:nvSpPr>
          <p:cNvPr id="7" name="Espace réservé du numéro de diapositive 4"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Vide">
    <p:spTree>
      <p:nvGrpSpPr>
        <p:cNvPr id="1" name="" hidden="0"/>
        <p:cNvGrpSpPr/>
        <p:nvPr isPhoto="0" userDrawn="0"/>
      </p:nvGrpSpPr>
      <p:grpSpPr bwMode="auto">
        <a:xfrm>
          <a:off x="0" y="0"/>
          <a:ext cx="0" cy="0"/>
          <a:chOff x="0" y="0"/>
          <a:chExt cx="0" cy="0"/>
        </a:xfrm>
      </p:grpSpPr>
      <p:sp>
        <p:nvSpPr>
          <p:cNvPr id="4" name="Espace réservé de la date 1"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5" name="Espace réservé du pied de page 2" hidden="0"/>
          <p:cNvSpPr>
            <a:spLocks noGrp="1"/>
          </p:cNvSpPr>
          <p:nvPr isPhoto="0" userDrawn="0">
            <p:ph type="ftr" sz="quarter" idx="11" hasCustomPrompt="0"/>
          </p:nvPr>
        </p:nvSpPr>
        <p:spPr bwMode="auto"/>
        <p:txBody>
          <a:bodyPr/>
          <a:lstStyle/>
          <a:p>
            <a:pPr>
              <a:defRPr/>
            </a:pPr>
            <a:endParaRPr lang="en-US"/>
          </a:p>
        </p:txBody>
      </p:sp>
      <p:sp>
        <p:nvSpPr>
          <p:cNvPr id="6" name="Espace réservé du numéro de diapositive 3"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Contenu avec légend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839788" y="457200"/>
            <a:ext cx="3932237" cy="1600200"/>
          </a:xfrm>
        </p:spPr>
        <p:txBody>
          <a:bodyPr anchor="b"/>
          <a:lstStyle>
            <a:lvl1pPr>
              <a:defRPr sz="3200"/>
            </a:lvl1pPr>
          </a:lstStyle>
          <a:p>
            <a:pPr>
              <a:defRPr/>
            </a:pPr>
            <a:r>
              <a:rPr lang="fr-FR"/>
              <a:t>Modifiez le style du titre</a:t>
            </a:r>
            <a:endParaRPr lang="en-US"/>
          </a:p>
        </p:txBody>
      </p:sp>
      <p:sp>
        <p:nvSpPr>
          <p:cNvPr id="5" name="Espace réservé du contenu 2" hidden="0"/>
          <p:cNvSpPr>
            <a:spLocks noGrp="1"/>
          </p:cNvSpPr>
          <p:nvPr isPhoto="0" userDrawn="0">
            <p:ph idx="1" hasCustomPrompt="0"/>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6" name="Espace réservé du texte 3" hidden="0"/>
          <p:cNvSpPr>
            <a:spLocks noGrp="1"/>
          </p:cNvSpPr>
          <p:nvPr isPhoto="0" userDrawn="0">
            <p:ph type="body" sz="half" idx="2" hasCustomPrompt="0"/>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Cliquez pour modifier les styles du texte du masque</a:t>
            </a:r>
            <a:endParaRPr/>
          </a:p>
        </p:txBody>
      </p:sp>
      <p:sp>
        <p:nvSpPr>
          <p:cNvPr id="7" name="Espace réservé de la date 4"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8" name="Espace réservé du pied de page 5" hidden="0"/>
          <p:cNvSpPr>
            <a:spLocks noGrp="1"/>
          </p:cNvSpPr>
          <p:nvPr isPhoto="0" userDrawn="0">
            <p:ph type="ftr" sz="quarter" idx="11" hasCustomPrompt="0"/>
          </p:nvPr>
        </p:nvSpPr>
        <p:spPr bwMode="auto"/>
        <p:txBody>
          <a:bodyPr/>
          <a:lstStyle/>
          <a:p>
            <a:pPr>
              <a:defRPr/>
            </a:pPr>
            <a:endParaRPr lang="en-US"/>
          </a:p>
        </p:txBody>
      </p:sp>
      <p:sp>
        <p:nvSpPr>
          <p:cNvPr id="9" name="Espace réservé du numéro de diapositive 6"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picTx" userDrawn="1">
  <p:cSld name="Image avec légend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839788" y="457200"/>
            <a:ext cx="3932237" cy="1600200"/>
          </a:xfrm>
        </p:spPr>
        <p:txBody>
          <a:bodyPr anchor="b"/>
          <a:lstStyle>
            <a:lvl1pPr>
              <a:defRPr sz="3200"/>
            </a:lvl1pPr>
          </a:lstStyle>
          <a:p>
            <a:pPr>
              <a:defRPr/>
            </a:pPr>
            <a:r>
              <a:rPr lang="fr-FR"/>
              <a:t>Modifiez le style du titre</a:t>
            </a:r>
            <a:endParaRPr lang="en-US"/>
          </a:p>
        </p:txBody>
      </p:sp>
      <p:sp>
        <p:nvSpPr>
          <p:cNvPr id="5" name="Espace réservé pour une image  2" hidden="0"/>
          <p:cNvSpPr>
            <a:spLocks noGrp="1"/>
          </p:cNvSpPr>
          <p:nvPr isPhoto="0" userDrawn="0">
            <p:ph type="pic" idx="1" hasCustomPrompt="0"/>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6" name="Espace réservé du texte 3" hidden="0"/>
          <p:cNvSpPr>
            <a:spLocks noGrp="1"/>
          </p:cNvSpPr>
          <p:nvPr isPhoto="0" userDrawn="0">
            <p:ph type="body" sz="half" idx="2" hasCustomPrompt="0"/>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Cliquez pour modifier les styles du texte du masque</a:t>
            </a:r>
            <a:endParaRPr/>
          </a:p>
        </p:txBody>
      </p:sp>
      <p:sp>
        <p:nvSpPr>
          <p:cNvPr id="7" name="Espace réservé de la date 4"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8" name="Espace réservé du pied de page 5" hidden="0"/>
          <p:cNvSpPr>
            <a:spLocks noGrp="1"/>
          </p:cNvSpPr>
          <p:nvPr isPhoto="0" userDrawn="0">
            <p:ph type="ftr" sz="quarter" idx="11" hasCustomPrompt="0"/>
          </p:nvPr>
        </p:nvSpPr>
        <p:spPr bwMode="auto"/>
        <p:txBody>
          <a:bodyPr/>
          <a:lstStyle/>
          <a:p>
            <a:pPr>
              <a:defRPr/>
            </a:pPr>
            <a:endParaRPr lang="en-US"/>
          </a:p>
        </p:txBody>
      </p:sp>
      <p:sp>
        <p:nvSpPr>
          <p:cNvPr id="9" name="Espace réservé du numéro de diapositive 6"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x" userDrawn="1">
  <p:cSld name="Titre et texte vertical">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fr-FR"/>
              <a:t>Modifiez le style du titre</a:t>
            </a:r>
            <a:endParaRPr lang="en-US"/>
          </a:p>
        </p:txBody>
      </p:sp>
      <p:sp>
        <p:nvSpPr>
          <p:cNvPr id="5" name="Espace réservé du texte vertical 2" hidden="0"/>
          <p:cNvSpPr>
            <a:spLocks noGrp="1"/>
          </p:cNvSpPr>
          <p:nvPr isPhoto="0" userDrawn="0">
            <p:ph type="body" orient="vert" idx="1" hasCustomPrompt="0"/>
          </p:nvPr>
        </p:nvSpPr>
        <p:spPr bwMode="auto"/>
        <p:txBody>
          <a:bodyPr vert="eaVert"/>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6" name="Espace réservé de la date 3"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7" name="Espace réservé du pied de page 4" hidden="0"/>
          <p:cNvSpPr>
            <a:spLocks noGrp="1"/>
          </p:cNvSpPr>
          <p:nvPr isPhoto="0" userDrawn="0">
            <p:ph type="ftr" sz="quarter" idx="11" hasCustomPrompt="0"/>
          </p:nvPr>
        </p:nvSpPr>
        <p:spPr bwMode="auto"/>
        <p:txBody>
          <a:bodyPr/>
          <a:lstStyle/>
          <a:p>
            <a:pPr>
              <a:defRPr/>
            </a:pPr>
            <a:endParaRPr lang="en-US"/>
          </a:p>
        </p:txBody>
      </p:sp>
      <p:sp>
        <p:nvSpPr>
          <p:cNvPr id="8" name="Espace réservé du numéro de diapositive 5"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itleAndTx" userDrawn="1">
  <p:cSld name="Titre vertical et texte">
    <p:spTree>
      <p:nvGrpSpPr>
        <p:cNvPr id="1" name="" hidden="0"/>
        <p:cNvGrpSpPr/>
        <p:nvPr isPhoto="0" userDrawn="0"/>
      </p:nvGrpSpPr>
      <p:grpSpPr bwMode="auto">
        <a:xfrm>
          <a:off x="0" y="0"/>
          <a:ext cx="0" cy="0"/>
          <a:chOff x="0" y="0"/>
          <a:chExt cx="0" cy="0"/>
        </a:xfrm>
      </p:grpSpPr>
      <p:sp>
        <p:nvSpPr>
          <p:cNvPr id="4" name="Titre vertical 1" hidden="0"/>
          <p:cNvSpPr>
            <a:spLocks noGrp="1"/>
          </p:cNvSpPr>
          <p:nvPr isPhoto="0" userDrawn="0">
            <p:ph type="title" orient="vert" hasCustomPrompt="0"/>
          </p:nvPr>
        </p:nvSpPr>
        <p:spPr bwMode="auto">
          <a:xfrm>
            <a:off x="8724900" y="365125"/>
            <a:ext cx="2628900" cy="5811838"/>
          </a:xfrm>
        </p:spPr>
        <p:txBody>
          <a:bodyPr vert="eaVert"/>
          <a:lstStyle/>
          <a:p>
            <a:pPr>
              <a:defRPr/>
            </a:pPr>
            <a:r>
              <a:rPr lang="fr-FR"/>
              <a:t>Modifiez le style du titre</a:t>
            </a:r>
            <a:endParaRPr lang="en-US"/>
          </a:p>
        </p:txBody>
      </p:sp>
      <p:sp>
        <p:nvSpPr>
          <p:cNvPr id="5" name="Espace réservé du texte vertical 2" hidden="0"/>
          <p:cNvSpPr>
            <a:spLocks noGrp="1"/>
          </p:cNvSpPr>
          <p:nvPr isPhoto="0" userDrawn="0">
            <p:ph type="body" orient="vert" idx="1" hasCustomPrompt="0"/>
          </p:nvPr>
        </p:nvSpPr>
        <p:spPr bwMode="auto">
          <a:xfrm>
            <a:off x="838200" y="365125"/>
            <a:ext cx="7734300" cy="5811838"/>
          </a:xfrm>
        </p:spPr>
        <p:txBody>
          <a:bodyPr vert="eaVert"/>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6" name="Espace réservé de la date 3" hidden="0"/>
          <p:cNvSpPr>
            <a:spLocks noGrp="1"/>
          </p:cNvSpPr>
          <p:nvPr isPhoto="0" userDrawn="0">
            <p:ph type="dt" sz="half" idx="10" hasCustomPrompt="0"/>
          </p:nvPr>
        </p:nvSpPr>
        <p:spPr bwMode="auto"/>
        <p:txBody>
          <a:bodyPr/>
          <a:lstStyle/>
          <a:p>
            <a:pPr>
              <a:defRPr/>
            </a:pPr>
            <a:fld id="{C8124DC0-0521-4211-BEB8-05A6DAB65D73}" type="datetimeFigureOut">
              <a:rPr lang="en-US"/>
              <a:t/>
            </a:fld>
            <a:endParaRPr lang="en-US"/>
          </a:p>
        </p:txBody>
      </p:sp>
      <p:sp>
        <p:nvSpPr>
          <p:cNvPr id="7" name="Espace réservé du pied de page 4" hidden="0"/>
          <p:cNvSpPr>
            <a:spLocks noGrp="1"/>
          </p:cNvSpPr>
          <p:nvPr isPhoto="0" userDrawn="0">
            <p:ph type="ftr" sz="quarter" idx="11" hasCustomPrompt="0"/>
          </p:nvPr>
        </p:nvSpPr>
        <p:spPr bwMode="auto"/>
        <p:txBody>
          <a:bodyPr/>
          <a:lstStyle/>
          <a:p>
            <a:pPr>
              <a:defRPr/>
            </a:pPr>
            <a:endParaRPr lang="en-US"/>
          </a:p>
        </p:txBody>
      </p:sp>
      <p:sp>
        <p:nvSpPr>
          <p:cNvPr id="8" name="Espace réservé du numéro de diapositive 5" hidden="0"/>
          <p:cNvSpPr>
            <a:spLocks noGrp="1"/>
          </p:cNvSpPr>
          <p:nvPr isPhoto="0" userDrawn="0">
            <p:ph type="sldNum" sz="quarter" idx="12" hasCustomPrompt="0"/>
          </p:nvPr>
        </p:nvSpPr>
        <p:spPr bwMode="auto"/>
        <p:txBody>
          <a:bodyPr/>
          <a:lstStyle/>
          <a:p>
            <a:pPr>
              <a:defRPr/>
            </a:pPr>
            <a:fld id="{DA189323-8714-416F-BA52-6FB4715ED065}" type="slidenum">
              <a:rPr lang="en-US"/>
              <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hidden="0"/>
        <p:cNvGrpSpPr/>
        <p:nvPr isPhoto="0" userDrawn="0"/>
      </p:nvGrpSpPr>
      <p:grpSpPr bwMode="auto">
        <a:xfrm>
          <a:off x="0" y="0"/>
          <a:ext cx="0" cy="0"/>
          <a:chOff x="0" y="0"/>
          <a:chExt cx="0" cy="0"/>
        </a:xfrm>
      </p:grpSpPr>
      <p:sp>
        <p:nvSpPr>
          <p:cNvPr id="4" name="Espace réservé du titre 1" hidden="0"/>
          <p:cNvSpPr>
            <a:spLocks noGrp="1"/>
          </p:cNvSpPr>
          <p:nvPr isPhoto="0" userDrawn="0">
            <p:ph type="title" hasCustomPrompt="0"/>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lang="en-US"/>
          </a:p>
        </p:txBody>
      </p:sp>
      <p:sp>
        <p:nvSpPr>
          <p:cNvPr id="5" name="Espace réservé du texte 2" hidden="0"/>
          <p:cNvSpPr>
            <a:spLocks noGrp="1"/>
          </p:cNvSpPr>
          <p:nvPr isPhoto="0" userDrawn="0">
            <p:ph type="body" idx="1" hasCustomPrompt="0"/>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6" name="Espace réservé de la date 3" hidden="0"/>
          <p:cNvSpPr>
            <a:spLocks noGrp="1"/>
          </p:cNvSpPr>
          <p:nvPr isPhoto="0" userDrawn="0">
            <p:ph type="dt" sz="half" idx="2" hasCustomPrompt="0"/>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C8124DC0-0521-4211-BEB8-05A6DAB65D73}" type="datetimeFigureOut">
              <a:rPr lang="en-US"/>
              <a:t/>
            </a:fld>
            <a:endParaRPr lang="en-US"/>
          </a:p>
        </p:txBody>
      </p:sp>
      <p:sp>
        <p:nvSpPr>
          <p:cNvPr id="7" name="Espace réservé du pied de page 4" hidden="0"/>
          <p:cNvSpPr>
            <a:spLocks noGrp="1"/>
          </p:cNvSpPr>
          <p:nvPr isPhoto="0" userDrawn="0">
            <p:ph type="ftr" sz="quarter" idx="3" hasCustomPrompt="0"/>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8" name="Espace réservé du numéro de diapositive 5" hidden="0"/>
          <p:cNvSpPr>
            <a:spLocks noGrp="1"/>
          </p:cNvSpPr>
          <p:nvPr isPhoto="0" userDrawn="0">
            <p:ph type="sldNum" sz="quarter" idx="4" hasCustomPrompt="0"/>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A189323-8714-416F-BA52-6FB4715ED065}" type="slidenum">
              <a:rPr lang="en-US"/>
              <a:t/>
            </a:fld>
            <a:endParaRPr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docs.nvidia.com/cuda/cuda-c-programming-guide/" TargetMode="Externa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hyperlink" Target="https://docs.nvidia.com/cuda/cuda-c-programming-guide/" TargetMode="Externa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blog.dask.org/2019/06/27/single-gpu-cupy-benchmarks" TargetMode="External"/><Relationship Id="rId6" Type="http://schemas.openxmlformats.org/officeDocument/2006/relationships/hyperlink" Target="http://www.eurorisksystems.com/documents/speed_up_of_numeric_calculations_using_GPU.pdf" TargetMode="Externa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comments" Target="../comments/comment2.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s://www.cvg.ethz.ch/teaching/2011spring/gpgpu/Lec1-intro.pdf" TargetMode="Externa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cvg.ethz.ch/teaching/2011spring/gpgpu/Lec1-intro.pdf" TargetMode="Externa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comments" Target="../comments/comment3.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hyperlink" Target="http://developer.download.nvidia.com/compute/cuda/3_1/toolkit/docs/NVIDIA_CUDA_C_ProgrammingGuide_3.1.pdf" TargetMode="External"/><Relationship Id="rId5" Type="http://schemas.openxmlformats.org/officeDocument/2006/relationships/image" Target="../media/image10.png"/><Relationship Id="rId6" Type="http://schemas.openxmlformats.org/officeDocument/2006/relationships/comments" Target="../comments/comment4.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comments" Target="../comments/comment5.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comments" Target="../comments/comment6.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comments" Target="../comments/comment7.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comments" Target="../comments/comment8.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s://cvw.cac.cornell.edu/GPU/structure" TargetMode="External"/><Relationship Id="rId5" Type="http://schemas.openxmlformats.org/officeDocument/2006/relationships/comments" Target="../comments/comment9.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jp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comments" Target="../comments/comment10.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3.jp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comments" Target="../comments/comment1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ctrTitle" hasCustomPrompt="0"/>
          </p:nvPr>
        </p:nvSpPr>
        <p:spPr bwMode="auto"/>
        <p:txBody>
          <a:bodyPr/>
          <a:lstStyle/>
          <a:p>
            <a:pPr>
              <a:defRPr/>
            </a:pPr>
            <a:r>
              <a:rPr lang="en-US"/>
              <a:t>Intro</a:t>
            </a:r>
            <a:endParaRPr/>
          </a:p>
        </p:txBody>
      </p:sp>
      <p:sp>
        <p:nvSpPr>
          <p:cNvPr id="5" name="Sous-titre 2" hidden="0"/>
          <p:cNvSpPr>
            <a:spLocks noGrp="1"/>
          </p:cNvSpPr>
          <p:nvPr isPhoto="0" userDrawn="0">
            <p:ph type="subTitle" idx="1" hasCustomPrompt="0"/>
          </p:nvPr>
        </p:nvSpPr>
        <p:spPr bwMode="auto"/>
        <p:txBody>
          <a:bodyPr/>
          <a:lstStyle/>
          <a:p>
            <a:pPr>
              <a:defRPr/>
            </a:pPr>
            <a:endParaRPr lang="en-US"/>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en-US"/>
              <a:t>GPU programming enables state of the art performance </a:t>
            </a:r>
            <a:endParaRPr/>
          </a:p>
        </p:txBody>
      </p:sp>
      <p:pic>
        <p:nvPicPr>
          <p:cNvPr id="5" name="Image 3" descr="Une image contenant carte, texte&#10;&#10;Description générée automatiquement" hidden="0"/>
          <p:cNvPicPr>
            <a:picLocks noChangeAspect="1"/>
          </p:cNvPicPr>
          <p:nvPr isPhoto="0" userDrawn="0"/>
        </p:nvPicPr>
        <p:blipFill>
          <a:blip r:embed="rId3"/>
          <a:stretch/>
        </p:blipFill>
        <p:spPr bwMode="auto">
          <a:xfrm>
            <a:off x="1047750" y="1623610"/>
            <a:ext cx="9696450" cy="4869265"/>
          </a:xfrm>
          <a:prstGeom prst="rect">
            <a:avLst/>
          </a:prstGeom>
        </p:spPr>
      </p:pic>
      <p:sp>
        <p:nvSpPr>
          <p:cNvPr id="6" name="Rectangle 4" hidden="0"/>
          <p:cNvSpPr/>
          <p:nvPr isPhoto="0" userDrawn="0"/>
        </p:nvSpPr>
        <p:spPr bwMode="auto">
          <a:xfrm>
            <a:off x="3256248" y="6492875"/>
            <a:ext cx="5679504" cy="369332"/>
          </a:xfrm>
          <a:prstGeom prst="rect">
            <a:avLst/>
          </a:prstGeom>
        </p:spPr>
        <p:txBody>
          <a:bodyPr wrap="none">
            <a:spAutoFit/>
          </a:bodyPr>
          <a:lstStyle/>
          <a:p>
            <a:pPr>
              <a:defRPr/>
            </a:pPr>
            <a:r>
              <a:rPr lang="en-US" u="sng">
                <a:hlinkClick r:id="rId4" tooltip=""/>
              </a:rPr>
              <a:t>https://docs.nvidia.com/cuda/cuda-c-programming-guide/</a:t>
            </a:r>
            <a:endParaRPr lang="en-US"/>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pic>
        <p:nvPicPr>
          <p:cNvPr id="4" name="Image 4" descr="Une image contenant texte, carte&#10;&#10;Description générée automatiquement" hidden="0"/>
          <p:cNvPicPr>
            <a:picLocks noChangeAspect="1"/>
          </p:cNvPicPr>
          <p:nvPr isPhoto="0" userDrawn="0"/>
        </p:nvPicPr>
        <p:blipFill>
          <a:blip r:embed="rId3"/>
          <a:stretch/>
        </p:blipFill>
        <p:spPr bwMode="auto">
          <a:xfrm>
            <a:off x="1058333" y="669010"/>
            <a:ext cx="9620250" cy="5182408"/>
          </a:xfrm>
          <a:prstGeom prst="rect">
            <a:avLst/>
          </a:prstGeom>
        </p:spPr>
      </p:pic>
      <p:sp>
        <p:nvSpPr>
          <p:cNvPr id="5" name="Rectangle 7" hidden="0"/>
          <p:cNvSpPr/>
          <p:nvPr isPhoto="0" userDrawn="0"/>
        </p:nvSpPr>
        <p:spPr bwMode="auto">
          <a:xfrm>
            <a:off x="3256248" y="6492875"/>
            <a:ext cx="5679504" cy="369332"/>
          </a:xfrm>
          <a:prstGeom prst="rect">
            <a:avLst/>
          </a:prstGeom>
        </p:spPr>
        <p:txBody>
          <a:bodyPr wrap="none">
            <a:spAutoFit/>
          </a:bodyPr>
          <a:lstStyle/>
          <a:p>
            <a:pPr>
              <a:defRPr/>
            </a:pPr>
            <a:r>
              <a:rPr lang="en-US" u="sng">
                <a:hlinkClick r:id="rId4" tooltip=""/>
              </a:rPr>
              <a:t>https://docs.nvidia.com/cuda/cuda-c-programming-guide/</a:t>
            </a:r>
            <a:endParaRPr lang="en-US"/>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pic>
        <p:nvPicPr>
          <p:cNvPr id="4" name="Image 3" hidden="0"/>
          <p:cNvPicPr>
            <a:picLocks noChangeAspect="1"/>
          </p:cNvPicPr>
          <p:nvPr isPhoto="0" userDrawn="0"/>
        </p:nvPicPr>
        <p:blipFill>
          <a:blip r:embed="rId3"/>
          <a:stretch/>
        </p:blipFill>
        <p:spPr bwMode="auto">
          <a:xfrm>
            <a:off x="93133" y="-51424"/>
            <a:ext cx="6129337" cy="3590286"/>
          </a:xfrm>
          <a:prstGeom prst="rect">
            <a:avLst/>
          </a:prstGeom>
        </p:spPr>
      </p:pic>
      <p:pic>
        <p:nvPicPr>
          <p:cNvPr id="5" name="Image 6" descr="Une image contenant capture d’écran&#10;&#10;Description générée automatiquement" hidden="0"/>
          <p:cNvPicPr>
            <a:picLocks noChangeAspect="1"/>
          </p:cNvPicPr>
          <p:nvPr isPhoto="0" userDrawn="0"/>
        </p:nvPicPr>
        <p:blipFill>
          <a:blip r:embed="rId4"/>
          <a:stretch/>
        </p:blipFill>
        <p:spPr bwMode="auto">
          <a:xfrm>
            <a:off x="6460067" y="407834"/>
            <a:ext cx="5638800" cy="3249562"/>
          </a:xfrm>
          <a:prstGeom prst="rect">
            <a:avLst/>
          </a:prstGeom>
        </p:spPr>
      </p:pic>
      <p:sp>
        <p:nvSpPr>
          <p:cNvPr id="6" name="ZoneTexte 9" hidden="0"/>
          <p:cNvSpPr>
            <a:spLocks noAdjustHandles="0" noChangeArrowheads="0"/>
          </p:cNvSpPr>
          <p:nvPr isPhoto="0" userDrawn="0"/>
        </p:nvSpPr>
        <p:spPr bwMode="auto">
          <a:xfrm>
            <a:off x="838199" y="3869061"/>
            <a:ext cx="3040396" cy="914435"/>
          </a:xfrm>
          <a:prstGeom prst="rect">
            <a:avLst/>
          </a:prstGeom>
          <a:noFill/>
        </p:spPr>
        <p:txBody>
          <a:bodyPr wrap="square" rtlCol="0">
            <a:spAutoFit/>
          </a:bodyPr>
          <a:lstStyle/>
          <a:p>
            <a:pPr>
              <a:defRPr/>
            </a:pPr>
            <a:r>
              <a:rPr lang="en-US"/>
              <a:t>Single GPU using </a:t>
            </a:r>
            <a:r>
              <a:rPr lang="en-US"/>
              <a:t>CuPy</a:t>
            </a:r>
            <a:r>
              <a:rPr lang="en-US"/>
              <a:t> library (GPU optimized library) compared to </a:t>
            </a:r>
            <a:r>
              <a:rPr lang="en-US"/>
              <a:t>numpy</a:t>
            </a:r>
            <a:endParaRPr lang="en-US"/>
          </a:p>
        </p:txBody>
      </p:sp>
      <p:sp>
        <p:nvSpPr>
          <p:cNvPr id="7" name="ZoneTexte 10" hidden="0"/>
          <p:cNvSpPr>
            <a:spLocks noAdjustHandles="0" noChangeArrowheads="0"/>
          </p:cNvSpPr>
          <p:nvPr isPhoto="0" userDrawn="0"/>
        </p:nvSpPr>
        <p:spPr bwMode="auto">
          <a:xfrm>
            <a:off x="152400" y="4707092"/>
            <a:ext cx="4158831" cy="276999"/>
          </a:xfrm>
          <a:prstGeom prst="rect">
            <a:avLst/>
          </a:prstGeom>
          <a:noFill/>
        </p:spPr>
        <p:txBody>
          <a:bodyPr wrap="none" rtlCol="0">
            <a:spAutoFit/>
          </a:bodyPr>
          <a:lstStyle/>
          <a:p>
            <a:pPr>
              <a:defRPr/>
            </a:pPr>
            <a:r>
              <a:rPr lang="en-US" sz="1200" u="sng">
                <a:hlinkClick r:id="rId5" tooltip=""/>
              </a:rPr>
              <a:t>https://blog.dask.org/2019/06/27/single-gpu-cupy-benchmarks</a:t>
            </a:r>
            <a:endParaRPr lang="en-US" sz="1200"/>
          </a:p>
        </p:txBody>
      </p:sp>
      <p:sp>
        <p:nvSpPr>
          <p:cNvPr id="8" name="ZoneTexte 11" hidden="0"/>
          <p:cNvSpPr>
            <a:spLocks noAdjustHandles="0" noChangeArrowheads="0"/>
          </p:cNvSpPr>
          <p:nvPr isPhoto="0" userDrawn="0"/>
        </p:nvSpPr>
        <p:spPr bwMode="auto">
          <a:xfrm>
            <a:off x="7996767" y="3730562"/>
            <a:ext cx="3039533" cy="923330"/>
          </a:xfrm>
          <a:prstGeom prst="rect">
            <a:avLst/>
          </a:prstGeom>
          <a:noFill/>
        </p:spPr>
        <p:txBody>
          <a:bodyPr wrap="square" rtlCol="0">
            <a:spAutoFit/>
          </a:bodyPr>
          <a:lstStyle/>
          <a:p>
            <a:pPr>
              <a:defRPr/>
            </a:pPr>
            <a:r>
              <a:rPr lang="en-US"/>
              <a:t>Comparison between </a:t>
            </a:r>
            <a:r>
              <a:rPr lang="en-US"/>
              <a:t>cuRAND</a:t>
            </a:r>
            <a:r>
              <a:rPr lang="en-US"/>
              <a:t> library (GPU optimize) and MKL library (CPU optimize)</a:t>
            </a:r>
            <a:endParaRPr/>
          </a:p>
        </p:txBody>
      </p:sp>
      <p:sp>
        <p:nvSpPr>
          <p:cNvPr id="9" name="ZoneTexte 12" hidden="0"/>
          <p:cNvSpPr>
            <a:spLocks noAdjustHandles="0" noChangeArrowheads="0"/>
          </p:cNvSpPr>
          <p:nvPr isPhoto="0" userDrawn="0"/>
        </p:nvSpPr>
        <p:spPr bwMode="auto">
          <a:xfrm>
            <a:off x="7083504" y="3049396"/>
            <a:ext cx="1826526" cy="276999"/>
          </a:xfrm>
          <a:prstGeom prst="rect">
            <a:avLst/>
          </a:prstGeom>
          <a:noFill/>
        </p:spPr>
        <p:txBody>
          <a:bodyPr wrap="none" rtlCol="0">
            <a:spAutoFit/>
          </a:bodyPr>
          <a:lstStyle/>
          <a:p>
            <a:pPr>
              <a:defRPr/>
            </a:pPr>
            <a:r>
              <a:rPr lang="en-US" sz="1200"/>
              <a:t>Different protocol for RNG</a:t>
            </a:r>
            <a:endParaRPr/>
          </a:p>
        </p:txBody>
      </p:sp>
      <p:sp>
        <p:nvSpPr>
          <p:cNvPr id="10" name="Rectangle 13" hidden="0"/>
          <p:cNvSpPr/>
          <p:nvPr isPhoto="0" userDrawn="0"/>
        </p:nvSpPr>
        <p:spPr bwMode="auto">
          <a:xfrm>
            <a:off x="6002867" y="4753259"/>
            <a:ext cx="6096000" cy="461665"/>
          </a:xfrm>
          <a:prstGeom prst="rect">
            <a:avLst/>
          </a:prstGeom>
        </p:spPr>
        <p:txBody>
          <a:bodyPr>
            <a:spAutoFit/>
          </a:bodyPr>
          <a:lstStyle/>
          <a:p>
            <a:pPr>
              <a:defRPr/>
            </a:pPr>
            <a:r>
              <a:rPr lang="en-US" sz="1200" u="sng">
                <a:hlinkClick r:id="rId6" tooltip=""/>
              </a:rPr>
              <a:t>http://www.eurorisksystems.com/documents/speed_up_of_numeric_calculations_using_GPU.pdf</a:t>
            </a:r>
            <a:endParaRPr lang="en-US" sz="1200"/>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838200" y="-295278"/>
            <a:ext cx="10515600" cy="1325563"/>
          </a:xfrm>
        </p:spPr>
        <p:txBody>
          <a:bodyPr/>
          <a:lstStyle/>
          <a:p>
            <a:pPr>
              <a:defRPr/>
            </a:pPr>
            <a:r>
              <a:rPr lang="en-US"/>
              <a:t>Why is it more powerful for some operations</a:t>
            </a:r>
            <a:endParaRPr/>
          </a:p>
        </p:txBody>
      </p:sp>
      <p:pic>
        <p:nvPicPr>
          <p:cNvPr id="5" name="Image 5" descr="Une image contenant en bois&#10;&#10;Description générée automatiquement" hidden="0"/>
          <p:cNvPicPr>
            <a:picLocks noChangeAspect="1"/>
          </p:cNvPicPr>
          <p:nvPr isPhoto="0" userDrawn="0"/>
        </p:nvPicPr>
        <p:blipFill>
          <a:blip r:embed="rId3"/>
          <a:stretch/>
        </p:blipFill>
        <p:spPr bwMode="auto">
          <a:xfrm>
            <a:off x="2517382" y="1519238"/>
            <a:ext cx="9570235" cy="4267199"/>
          </a:xfrm>
          <a:prstGeom prst="rect">
            <a:avLst/>
          </a:prstGeom>
        </p:spPr>
      </p:pic>
      <p:sp>
        <p:nvSpPr>
          <p:cNvPr id="6" name="Rectangle 6" hidden="0"/>
          <p:cNvSpPr/>
          <p:nvPr isPhoto="0" userDrawn="0"/>
        </p:nvSpPr>
        <p:spPr bwMode="auto">
          <a:xfrm>
            <a:off x="2743200" y="5353050"/>
            <a:ext cx="6238875"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ZoneTexte 7" hidden="0"/>
          <p:cNvSpPr>
            <a:spLocks noAdjustHandles="0" noChangeArrowheads="0"/>
          </p:cNvSpPr>
          <p:nvPr isPhoto="0" userDrawn="0"/>
        </p:nvSpPr>
        <p:spPr bwMode="auto">
          <a:xfrm>
            <a:off x="8693150" y="872907"/>
            <a:ext cx="3190875" cy="646331"/>
          </a:xfrm>
          <a:prstGeom prst="rect">
            <a:avLst/>
          </a:prstGeom>
          <a:noFill/>
        </p:spPr>
        <p:txBody>
          <a:bodyPr wrap="square" rtlCol="0">
            <a:spAutoFit/>
          </a:bodyPr>
          <a:lstStyle/>
          <a:p>
            <a:pPr>
              <a:defRPr/>
            </a:pPr>
            <a:r>
              <a:rPr lang="en-US"/>
              <a:t>Streaming Multiprocessor : GPU equivalent of a CPU core </a:t>
            </a:r>
            <a:endParaRPr/>
          </a:p>
        </p:txBody>
      </p:sp>
      <p:cxnSp>
        <p:nvCxnSpPr>
          <p:cNvPr id="8" name="Connecteur droit avec flèche 9" hidden="0"/>
          <p:cNvCxnSpPr>
            <a:cxnSpLocks/>
          </p:cNvCxnSpPr>
          <p:nvPr isPhoto="0" userDrawn="0"/>
        </p:nvCxnSpPr>
        <p:spPr bwMode="auto">
          <a:xfrm flipH="1">
            <a:off x="7999609" y="1124636"/>
            <a:ext cx="693541" cy="39460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11" hidden="0"/>
          <p:cNvCxnSpPr>
            <a:cxnSpLocks/>
          </p:cNvCxnSpPr>
          <p:nvPr isPhoto="0" userDrawn="0"/>
        </p:nvCxnSpPr>
        <p:spPr bwMode="auto">
          <a:xfrm flipV="1">
            <a:off x="8029968" y="4305301"/>
            <a:ext cx="495301" cy="13566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ZoneTexte 13" hidden="0"/>
          <p:cNvSpPr>
            <a:spLocks noAdjustHandles="0" noChangeArrowheads="0"/>
          </p:cNvSpPr>
          <p:nvPr isPhoto="0" userDrawn="0"/>
        </p:nvSpPr>
        <p:spPr bwMode="auto">
          <a:xfrm>
            <a:off x="7721600" y="5661927"/>
            <a:ext cx="4591835" cy="646331"/>
          </a:xfrm>
          <a:prstGeom prst="rect">
            <a:avLst/>
          </a:prstGeom>
          <a:noFill/>
        </p:spPr>
        <p:txBody>
          <a:bodyPr wrap="square" rtlCol="0">
            <a:spAutoFit/>
          </a:bodyPr>
          <a:lstStyle/>
          <a:p>
            <a:pPr>
              <a:defRPr/>
            </a:pPr>
            <a:r>
              <a:rPr lang="en-US"/>
              <a:t>Shared memory is L1 cache memory, each SM contains many of ALU</a:t>
            </a:r>
            <a:endParaRPr/>
          </a:p>
        </p:txBody>
      </p:sp>
      <p:sp>
        <p:nvSpPr>
          <p:cNvPr id="11" name="Rectangle 16" hidden="0"/>
          <p:cNvSpPr/>
          <p:nvPr isPhoto="0" userDrawn="0"/>
        </p:nvSpPr>
        <p:spPr bwMode="auto">
          <a:xfrm>
            <a:off x="2409431" y="5710078"/>
            <a:ext cx="5204218" cy="830997"/>
          </a:xfrm>
          <a:prstGeom prst="rect">
            <a:avLst/>
          </a:prstGeom>
        </p:spPr>
        <p:txBody>
          <a:bodyPr wrap="square">
            <a:spAutoFit/>
          </a:bodyPr>
          <a:lstStyle/>
          <a:p>
            <a:pPr>
              <a:defRPr/>
            </a:pPr>
            <a:r>
              <a:rPr lang="en-US" sz="1200" b="0" i="0">
                <a:solidFill>
                  <a:srgbClr val="000000"/>
                </a:solidFill>
                <a:latin typeface="ff1"/>
              </a:rPr>
              <a:t>Development of a convex polyhedral discrete element simulation framework for</a:t>
            </a:r>
            <a:endParaRPr/>
          </a:p>
          <a:p>
            <a:pPr>
              <a:defRPr/>
            </a:pPr>
            <a:r>
              <a:rPr lang="en-US" sz="1200" b="0" i="0">
                <a:solidFill>
                  <a:srgbClr val="000000"/>
                </a:solidFill>
                <a:latin typeface="ff1"/>
              </a:rPr>
              <a:t>NVIDIA Kepler based GPUs.</a:t>
            </a:r>
            <a:endParaRPr/>
          </a:p>
          <a:p>
            <a:pPr>
              <a:defRPr/>
            </a:pPr>
            <a:r>
              <a:rPr lang="pt-BR" sz="1200" b="0" i="0">
                <a:solidFill>
                  <a:srgbClr val="000000"/>
                </a:solidFill>
                <a:latin typeface="ff1"/>
              </a:rPr>
              <a:t>DOI: 10.1016/j.cam.2013.12.032.</a:t>
            </a:r>
            <a:endParaRPr/>
          </a:p>
          <a:p>
            <a:pPr>
              <a:defRPr/>
            </a:pPr>
            <a:endParaRPr lang="en-US" sz="1200" b="0" i="0">
              <a:solidFill>
                <a:srgbClr val="000000"/>
              </a:solidFill>
              <a:latin typeface="ff1"/>
            </a:endParaRPr>
          </a:p>
        </p:txBody>
      </p:sp>
      <p:cxnSp>
        <p:nvCxnSpPr>
          <p:cNvPr id="12" name="Connecteur droit avec flèche 9" hidden="0"/>
          <p:cNvCxnSpPr>
            <a:cxnSpLocks/>
          </p:cNvCxnSpPr>
          <p:nvPr isPhoto="0" userDrawn="0"/>
        </p:nvCxnSpPr>
        <p:spPr bwMode="auto">
          <a:xfrm flipH="1">
            <a:off x="7999608" y="1124635"/>
            <a:ext cx="693540" cy="39460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 hidden="0"/>
          <p:cNvCxnSpPr>
            <a:cxnSpLocks/>
          </p:cNvCxnSpPr>
          <p:nvPr isPhoto="0" userDrawn="0"/>
        </p:nvCxnSpPr>
        <p:spPr bwMode="auto">
          <a:xfrm rot="0" flipH="0" flipV="0">
            <a:off x="2029615" y="1440961"/>
            <a:ext cx="610576" cy="512884"/>
          </a:xfrm>
          <a:prstGeom prst="line">
            <a:avLst/>
          </a:prstGeom>
          <a:ln w="57150" cap="flat" cmpd="sng" algn="ctr">
            <a:solidFill>
              <a:schemeClr val="tx1"/>
            </a:solidFill>
            <a:prstDash val="solid"/>
            <a:miter/>
            <a:tailEnd type="triangle" len="med"/>
          </a:ln>
        </p:spPr>
        <p:style>
          <a:lnRef idx="1">
            <a:schemeClr val="accent1">
              <a:shade val="50000"/>
            </a:schemeClr>
          </a:lnRef>
          <a:fillRef idx="0">
            <a:schemeClr val="accent1"/>
          </a:fillRef>
          <a:effectRef idx="0">
            <a:schemeClr val="accent1"/>
          </a:effectRef>
          <a:fontRef idx="minor">
            <a:schemeClr val="tx1"/>
          </a:fontRef>
        </p:style>
      </p:cxnSp>
      <p:sp>
        <p:nvSpPr>
          <p:cNvPr id="14" name="" hidden="0"/>
          <p:cNvSpPr/>
          <p:nvPr isPhoto="0" userDrawn="0"/>
        </p:nvSpPr>
        <p:spPr bwMode="auto">
          <a:xfrm flipH="0" flipV="0">
            <a:off x="429903" y="760205"/>
            <a:ext cx="3199422" cy="561730"/>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a:t>Arithmetic  Logic Unit :  brick component of processing unit</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838198" y="-295277"/>
            <a:ext cx="10515600" cy="1325562"/>
          </a:xfrm>
        </p:spPr>
        <p:txBody>
          <a:bodyPr/>
          <a:lstStyle/>
          <a:p>
            <a:pPr>
              <a:defRPr/>
            </a:pPr>
            <a:r>
              <a:rPr lang="en-US"/>
              <a:t>Why is it more powerful for some operations</a:t>
            </a:r>
            <a:endParaRPr/>
          </a:p>
        </p:txBody>
      </p:sp>
      <p:pic>
        <p:nvPicPr>
          <p:cNvPr id="5" name="Image 5" descr="Une image contenant en bois&#10;&#10;Description générée automatiquement" hidden="0"/>
          <p:cNvPicPr>
            <a:picLocks noChangeAspect="1"/>
          </p:cNvPicPr>
          <p:nvPr isPhoto="0" userDrawn="0"/>
        </p:nvPicPr>
        <p:blipFill>
          <a:blip r:embed="rId3"/>
          <a:stretch/>
        </p:blipFill>
        <p:spPr bwMode="auto">
          <a:xfrm>
            <a:off x="2517381" y="1519236"/>
            <a:ext cx="9570234" cy="4267198"/>
          </a:xfrm>
          <a:prstGeom prst="rect">
            <a:avLst/>
          </a:prstGeom>
        </p:spPr>
      </p:pic>
      <p:sp>
        <p:nvSpPr>
          <p:cNvPr id="6" name="Rectangle 6" hidden="0"/>
          <p:cNvSpPr/>
          <p:nvPr isPhoto="0" userDrawn="0"/>
        </p:nvSpPr>
        <p:spPr bwMode="auto">
          <a:xfrm>
            <a:off x="2743200" y="5353049"/>
            <a:ext cx="6238874" cy="4333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ZoneTexte 7" hidden="0"/>
          <p:cNvSpPr>
            <a:spLocks noAdjustHandles="0" noChangeArrowheads="0"/>
          </p:cNvSpPr>
          <p:nvPr isPhoto="0" userDrawn="0"/>
        </p:nvSpPr>
        <p:spPr bwMode="auto">
          <a:xfrm>
            <a:off x="8693150" y="872906"/>
            <a:ext cx="3190874" cy="646330"/>
          </a:xfrm>
          <a:prstGeom prst="rect">
            <a:avLst/>
          </a:prstGeom>
          <a:noFill/>
        </p:spPr>
        <p:txBody>
          <a:bodyPr wrap="square" rtlCol="0">
            <a:spAutoFit/>
          </a:bodyPr>
          <a:lstStyle/>
          <a:p>
            <a:pPr>
              <a:defRPr/>
            </a:pPr>
            <a:r>
              <a:rPr lang="en-US"/>
              <a:t>Streaming Multiprocessor : GPU equivalent of a CPU core </a:t>
            </a:r>
            <a:endParaRPr/>
          </a:p>
        </p:txBody>
      </p:sp>
      <p:cxnSp>
        <p:nvCxnSpPr>
          <p:cNvPr id="8" name="Connecteur droit avec flèche 9" hidden="0"/>
          <p:cNvCxnSpPr>
            <a:cxnSpLocks/>
          </p:cNvCxnSpPr>
          <p:nvPr isPhoto="0" userDrawn="0"/>
        </p:nvCxnSpPr>
        <p:spPr bwMode="auto">
          <a:xfrm flipH="1">
            <a:off x="7999608" y="1124635"/>
            <a:ext cx="693540" cy="39460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11" hidden="0"/>
          <p:cNvCxnSpPr>
            <a:cxnSpLocks/>
          </p:cNvCxnSpPr>
          <p:nvPr isPhoto="0" userDrawn="0"/>
        </p:nvCxnSpPr>
        <p:spPr bwMode="auto">
          <a:xfrm flipV="1">
            <a:off x="8029968" y="4305300"/>
            <a:ext cx="495300" cy="135662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ZoneTexte 13" hidden="0"/>
          <p:cNvSpPr>
            <a:spLocks noAdjustHandles="0" noChangeArrowheads="0"/>
          </p:cNvSpPr>
          <p:nvPr isPhoto="0" userDrawn="0"/>
        </p:nvSpPr>
        <p:spPr bwMode="auto">
          <a:xfrm>
            <a:off x="7721600" y="5661926"/>
            <a:ext cx="4591834" cy="646330"/>
          </a:xfrm>
          <a:prstGeom prst="rect">
            <a:avLst/>
          </a:prstGeom>
          <a:noFill/>
        </p:spPr>
        <p:txBody>
          <a:bodyPr wrap="square" rtlCol="0">
            <a:spAutoFit/>
          </a:bodyPr>
          <a:lstStyle/>
          <a:p>
            <a:pPr>
              <a:defRPr/>
            </a:pPr>
            <a:r>
              <a:rPr lang="en-US"/>
              <a:t>Shared memory is L1 cache memory, each SM contains many of ALU</a:t>
            </a:r>
            <a:endParaRPr/>
          </a:p>
        </p:txBody>
      </p:sp>
      <p:sp>
        <p:nvSpPr>
          <p:cNvPr id="11" name="ZoneTexte 14" hidden="0"/>
          <p:cNvSpPr>
            <a:spLocks noAdjustHandles="0" noChangeArrowheads="0"/>
          </p:cNvSpPr>
          <p:nvPr isPhoto="0" userDrawn="0"/>
        </p:nvSpPr>
        <p:spPr bwMode="auto">
          <a:xfrm>
            <a:off x="104382" y="1951670"/>
            <a:ext cx="2197099" cy="1754325"/>
          </a:xfrm>
          <a:prstGeom prst="rect">
            <a:avLst/>
          </a:prstGeom>
          <a:noFill/>
        </p:spPr>
        <p:txBody>
          <a:bodyPr wrap="square" rtlCol="0">
            <a:spAutoFit/>
          </a:bodyPr>
          <a:lstStyle/>
          <a:p>
            <a:pPr>
              <a:defRPr/>
            </a:pPr>
            <a:r>
              <a:rPr lang="en-US"/>
              <a:t>At hierarchy equivalent (Core), CPU has more transistors allocated to memory and flow control</a:t>
            </a:r>
            <a:endParaRPr/>
          </a:p>
        </p:txBody>
      </p:sp>
      <p:sp>
        <p:nvSpPr>
          <p:cNvPr id="12" name="ZoneTexte 15" hidden="0"/>
          <p:cNvSpPr>
            <a:spLocks noAdjustHandles="0" noChangeArrowheads="0"/>
          </p:cNvSpPr>
          <p:nvPr isPhoto="0" userDrawn="0"/>
        </p:nvSpPr>
        <p:spPr bwMode="auto">
          <a:xfrm>
            <a:off x="104382" y="4305300"/>
            <a:ext cx="2197099" cy="2308322"/>
          </a:xfrm>
          <a:prstGeom prst="rect">
            <a:avLst/>
          </a:prstGeom>
          <a:noFill/>
        </p:spPr>
        <p:txBody>
          <a:bodyPr wrap="square" rtlCol="0">
            <a:spAutoFit/>
          </a:bodyPr>
          <a:lstStyle/>
          <a:p>
            <a:pPr>
              <a:defRPr/>
            </a:pPr>
            <a:r>
              <a:rPr lang="en-US"/>
              <a:t>GPU focus on more ALUs and so has a raw compute power which is higher than CPU. But to do so it has traded off  memory capacity and flow control.</a:t>
            </a:r>
            <a:endParaRPr/>
          </a:p>
        </p:txBody>
      </p:sp>
      <p:sp>
        <p:nvSpPr>
          <p:cNvPr id="13" name="Rectangle 16" hidden="0"/>
          <p:cNvSpPr/>
          <p:nvPr isPhoto="0" userDrawn="0"/>
        </p:nvSpPr>
        <p:spPr bwMode="auto">
          <a:xfrm>
            <a:off x="2409431" y="5710077"/>
            <a:ext cx="5204217" cy="830997"/>
          </a:xfrm>
          <a:prstGeom prst="rect">
            <a:avLst/>
          </a:prstGeom>
        </p:spPr>
        <p:txBody>
          <a:bodyPr wrap="square">
            <a:spAutoFit/>
          </a:bodyPr>
          <a:lstStyle/>
          <a:p>
            <a:pPr>
              <a:defRPr/>
            </a:pPr>
            <a:r>
              <a:rPr lang="en-US" sz="1200" b="0" i="0">
                <a:solidFill>
                  <a:srgbClr val="000000"/>
                </a:solidFill>
                <a:latin typeface="ff1"/>
              </a:rPr>
              <a:t>Development of a convex polyhedral discrete element simulation framework for</a:t>
            </a:r>
            <a:endParaRPr/>
          </a:p>
          <a:p>
            <a:pPr>
              <a:defRPr/>
            </a:pPr>
            <a:r>
              <a:rPr lang="en-US" sz="1200" b="0" i="0">
                <a:solidFill>
                  <a:srgbClr val="000000"/>
                </a:solidFill>
                <a:latin typeface="ff1"/>
              </a:rPr>
              <a:t>NVIDIA Kepler based GPUs.</a:t>
            </a:r>
            <a:endParaRPr/>
          </a:p>
          <a:p>
            <a:pPr>
              <a:defRPr/>
            </a:pPr>
            <a:r>
              <a:rPr lang="pt-BR" sz="1200" b="0" i="0">
                <a:solidFill>
                  <a:srgbClr val="000000"/>
                </a:solidFill>
                <a:latin typeface="ff1"/>
              </a:rPr>
              <a:t>DOI: 10.1016/j.cam.2013.12.032.</a:t>
            </a:r>
            <a:endParaRPr/>
          </a:p>
          <a:p>
            <a:pPr>
              <a:defRPr/>
            </a:pPr>
            <a:endParaRPr lang="en-US" sz="1200" b="0" i="0">
              <a:solidFill>
                <a:srgbClr val="000000"/>
              </a:solidFill>
              <a:latin typeface="ff1"/>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396318" y="77159"/>
            <a:ext cx="10515600" cy="1325562"/>
          </a:xfrm>
        </p:spPr>
        <p:txBody>
          <a:bodyPr/>
          <a:lstStyle/>
          <a:p>
            <a:pPr>
              <a:defRPr/>
            </a:pPr>
            <a:r>
              <a:rPr lang="en-US"/>
              <a:t>GPU : A </a:t>
            </a:r>
            <a:r>
              <a:rPr lang="en-US" sz="4400" b="0" i="0" u="none" strike="noStrike" cap="none" spc="0">
                <a:solidFill>
                  <a:schemeClr val="tx1"/>
                </a:solidFill>
                <a:latin typeface="+mj-lt"/>
                <a:ea typeface="+mj-ea"/>
                <a:cs typeface="+mj-cs"/>
              </a:rPr>
              <a:t>SIMD</a:t>
            </a:r>
            <a:r>
              <a:rPr lang="en-US"/>
              <a:t> oriented </a:t>
            </a:r>
            <a:r>
              <a:rPr lang="en-US" sz="4400" b="0" i="0" u="none" strike="noStrike" cap="none" spc="0">
                <a:solidFill>
                  <a:schemeClr val="tx1"/>
                </a:solidFill>
                <a:latin typeface="+mj-lt"/>
                <a:ea typeface="+mj-ea"/>
                <a:cs typeface="+mj-cs"/>
              </a:rPr>
              <a:t>architecture</a:t>
            </a:r>
            <a:endParaRPr/>
          </a:p>
        </p:txBody>
      </p:sp>
      <p:pic>
        <p:nvPicPr>
          <p:cNvPr id="5" name="Image 3" hidden="0"/>
          <p:cNvPicPr>
            <a:picLocks noChangeAspect="1"/>
          </p:cNvPicPr>
          <p:nvPr isPhoto="0" userDrawn="0"/>
        </p:nvPicPr>
        <p:blipFill>
          <a:blip r:embed="rId3"/>
          <a:stretch/>
        </p:blipFill>
        <p:spPr bwMode="auto">
          <a:xfrm>
            <a:off x="2571569" y="2749094"/>
            <a:ext cx="7048862" cy="4165814"/>
          </a:xfrm>
          <a:prstGeom prst="rect">
            <a:avLst/>
          </a:prstGeom>
        </p:spPr>
      </p:pic>
      <p:sp>
        <p:nvSpPr>
          <p:cNvPr id="6" name="ZoneTexte 4" hidden="0"/>
          <p:cNvSpPr>
            <a:spLocks noAdjustHandles="0" noChangeArrowheads="0"/>
          </p:cNvSpPr>
          <p:nvPr isPhoto="0" userDrawn="0"/>
        </p:nvSpPr>
        <p:spPr bwMode="auto">
          <a:xfrm flipH="0" flipV="0">
            <a:off x="2249690" y="1806804"/>
            <a:ext cx="8376108" cy="653055"/>
          </a:xfrm>
          <a:prstGeom prst="rect">
            <a:avLst/>
          </a:prstGeom>
          <a:noFill/>
        </p:spPr>
        <p:txBody>
          <a:bodyPr wrap="square" rtlCol="0">
            <a:noAutofit/>
          </a:bodyPr>
          <a:lstStyle/>
          <a:p>
            <a:pPr>
              <a:defRPr/>
            </a:pPr>
            <a:r>
              <a:rPr lang="en-US" sz="3600" b="1"/>
              <a:t>SIMD</a:t>
            </a:r>
            <a:r>
              <a:rPr lang="en-US" sz="3600"/>
              <a:t> : </a:t>
            </a:r>
            <a:r>
              <a:rPr lang="en-US" sz="3600" b="1"/>
              <a:t>S</a:t>
            </a:r>
            <a:r>
              <a:rPr lang="en-US" sz="3600"/>
              <a:t>ingle </a:t>
            </a:r>
            <a:r>
              <a:rPr lang="en-US" sz="3600" b="1"/>
              <a:t>I</a:t>
            </a:r>
            <a:r>
              <a:rPr lang="en-US" sz="3600"/>
              <a:t>nstruction </a:t>
            </a:r>
            <a:r>
              <a:rPr lang="en-US" sz="3600" b="1"/>
              <a:t>M</a:t>
            </a:r>
            <a:r>
              <a:rPr lang="en-US" sz="3600"/>
              <a:t>ultiple </a:t>
            </a:r>
            <a:r>
              <a:rPr lang="en-US" sz="3600" b="1"/>
              <a:t>D</a:t>
            </a:r>
            <a:r>
              <a:rPr lang="en-US" sz="3600"/>
              <a:t>ata </a:t>
            </a:r>
            <a:endParaRPr sz="3600"/>
          </a:p>
        </p:txBody>
      </p:sp>
      <p:sp>
        <p:nvSpPr>
          <p:cNvPr id="7" name="ZoneTexte 5" hidden="0"/>
          <p:cNvSpPr>
            <a:spLocks noAdjustHandles="0" noChangeArrowheads="0"/>
          </p:cNvSpPr>
          <p:nvPr isPhoto="0" userDrawn="0"/>
        </p:nvSpPr>
        <p:spPr bwMode="auto">
          <a:xfrm>
            <a:off x="290274" y="1402722"/>
            <a:ext cx="9126088" cy="369332"/>
          </a:xfrm>
          <a:prstGeom prst="rect">
            <a:avLst/>
          </a:prstGeom>
          <a:noFill/>
        </p:spPr>
        <p:txBody>
          <a:bodyPr wrap="none" rtlCol="0">
            <a:spAutoFit/>
          </a:bodyPr>
          <a:lstStyle/>
          <a:p>
            <a:pPr>
              <a:defRPr/>
            </a:pPr>
            <a:r>
              <a:rPr lang="en-US"/>
              <a:t>Those architecture differences make the GPU highly optimized for a certain kind of problem:</a:t>
            </a:r>
            <a:endParaRPr/>
          </a:p>
        </p:txBody>
      </p:sp>
      <p:sp>
        <p:nvSpPr>
          <p:cNvPr id="8" name="Rectangle 6" hidden="0"/>
          <p:cNvSpPr/>
          <p:nvPr isPhoto="0" userDrawn="0"/>
        </p:nvSpPr>
        <p:spPr bwMode="auto">
          <a:xfrm>
            <a:off x="2692400" y="3568700"/>
            <a:ext cx="2019300" cy="609600"/>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9" name="Rectangle 7" hidden="0"/>
          <p:cNvSpPr/>
          <p:nvPr isPhoto="0" userDrawn="0"/>
        </p:nvSpPr>
        <p:spPr bwMode="auto">
          <a:xfrm>
            <a:off x="4883331" y="3568700"/>
            <a:ext cx="2019300" cy="609600"/>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0" name="Rectangle 8" hidden="0"/>
          <p:cNvSpPr/>
          <p:nvPr isPhoto="0" userDrawn="0"/>
        </p:nvSpPr>
        <p:spPr bwMode="auto">
          <a:xfrm>
            <a:off x="7072391" y="3568700"/>
            <a:ext cx="2019300" cy="609600"/>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1" name="ZoneTexte 9" hidden="0"/>
          <p:cNvSpPr>
            <a:spLocks noAdjustHandles="0" noChangeArrowheads="0"/>
          </p:cNvSpPr>
          <p:nvPr isPhoto="0" userDrawn="0"/>
        </p:nvSpPr>
        <p:spPr bwMode="auto">
          <a:xfrm flipH="0" flipV="0">
            <a:off x="452706" y="3553440"/>
            <a:ext cx="2071932" cy="640115"/>
          </a:xfrm>
          <a:prstGeom prst="rect">
            <a:avLst/>
          </a:prstGeom>
          <a:noFill/>
        </p:spPr>
        <p:txBody>
          <a:bodyPr wrap="square" rtlCol="0">
            <a:noAutofit/>
          </a:bodyPr>
          <a:lstStyle/>
          <a:p>
            <a:pPr>
              <a:defRPr/>
            </a:pPr>
            <a:r>
              <a:rPr lang="en-US" b="1">
                <a:solidFill>
                  <a:srgbClr val="FF0000"/>
                </a:solidFill>
              </a:rPr>
              <a:t>One instruction at time t  (here load)</a:t>
            </a:r>
            <a:endParaRPr/>
          </a:p>
        </p:txBody>
      </p:sp>
      <p:sp>
        <p:nvSpPr>
          <p:cNvPr id="12" name="ZoneTexte 10" hidden="0"/>
          <p:cNvSpPr>
            <a:spLocks noAdjustHandles="0" noChangeArrowheads="0"/>
          </p:cNvSpPr>
          <p:nvPr isPhoto="0" userDrawn="0"/>
        </p:nvSpPr>
        <p:spPr bwMode="auto">
          <a:xfrm>
            <a:off x="3067050" y="2383656"/>
            <a:ext cx="1270000" cy="646331"/>
          </a:xfrm>
          <a:prstGeom prst="rect">
            <a:avLst/>
          </a:prstGeom>
          <a:noFill/>
        </p:spPr>
        <p:txBody>
          <a:bodyPr wrap="square" rtlCol="0">
            <a:spAutoFit/>
          </a:bodyPr>
          <a:lstStyle/>
          <a:p>
            <a:pPr>
              <a:defRPr/>
            </a:pPr>
            <a:r>
              <a:rPr lang="en-US">
                <a:solidFill>
                  <a:srgbClr val="6600CC"/>
                </a:solidFill>
              </a:rPr>
              <a:t>Element 1 of Array X</a:t>
            </a:r>
            <a:endParaRPr/>
          </a:p>
        </p:txBody>
      </p:sp>
      <p:sp>
        <p:nvSpPr>
          <p:cNvPr id="13" name="ZoneTexte 11" hidden="0"/>
          <p:cNvSpPr>
            <a:spLocks noAdjustHandles="0" noChangeArrowheads="0"/>
          </p:cNvSpPr>
          <p:nvPr isPhoto="0" userDrawn="0"/>
        </p:nvSpPr>
        <p:spPr bwMode="auto">
          <a:xfrm>
            <a:off x="5257980" y="2383656"/>
            <a:ext cx="1270000" cy="646331"/>
          </a:xfrm>
          <a:prstGeom prst="rect">
            <a:avLst/>
          </a:prstGeom>
          <a:noFill/>
        </p:spPr>
        <p:txBody>
          <a:bodyPr wrap="square" rtlCol="0">
            <a:spAutoFit/>
          </a:bodyPr>
          <a:lstStyle/>
          <a:p>
            <a:pPr>
              <a:defRPr/>
            </a:pPr>
            <a:r>
              <a:rPr lang="en-US">
                <a:solidFill>
                  <a:srgbClr val="00CC99"/>
                </a:solidFill>
              </a:rPr>
              <a:t>Element 2 of Array X</a:t>
            </a:r>
            <a:endParaRPr/>
          </a:p>
        </p:txBody>
      </p:sp>
      <p:sp>
        <p:nvSpPr>
          <p:cNvPr id="14" name="ZoneTexte 12" hidden="0"/>
          <p:cNvSpPr>
            <a:spLocks noAdjustHandles="0" noChangeArrowheads="0"/>
          </p:cNvSpPr>
          <p:nvPr isPhoto="0" userDrawn="0"/>
        </p:nvSpPr>
        <p:spPr bwMode="auto">
          <a:xfrm>
            <a:off x="7439205" y="2425928"/>
            <a:ext cx="1270000" cy="646331"/>
          </a:xfrm>
          <a:prstGeom prst="rect">
            <a:avLst/>
          </a:prstGeom>
          <a:noFill/>
        </p:spPr>
        <p:txBody>
          <a:bodyPr wrap="square" rtlCol="0">
            <a:spAutoFit/>
          </a:bodyPr>
          <a:lstStyle/>
          <a:p>
            <a:pPr>
              <a:defRPr/>
            </a:pPr>
            <a:r>
              <a:rPr lang="en-US">
                <a:solidFill>
                  <a:srgbClr val="FF7C80"/>
                </a:solidFill>
              </a:rPr>
              <a:t>Element n of Array X</a:t>
            </a:r>
            <a:endParaRPr/>
          </a:p>
        </p:txBody>
      </p:sp>
      <p:sp>
        <p:nvSpPr>
          <p:cNvPr id="15" name="ZoneTexte 13" hidden="0"/>
          <p:cNvSpPr>
            <a:spLocks noAdjustHandles="0" noChangeArrowheads="0"/>
          </p:cNvSpPr>
          <p:nvPr isPhoto="0" userDrawn="0"/>
        </p:nvSpPr>
        <p:spPr bwMode="auto">
          <a:xfrm rot="5400000">
            <a:off x="7585196" y="4495879"/>
            <a:ext cx="4409990" cy="369332"/>
          </a:xfrm>
          <a:prstGeom prst="rect">
            <a:avLst/>
          </a:prstGeom>
          <a:noFill/>
        </p:spPr>
        <p:txBody>
          <a:bodyPr wrap="none" rtlCol="0">
            <a:spAutoFit/>
          </a:bodyPr>
          <a:lstStyle/>
          <a:p>
            <a:pPr>
              <a:defRPr/>
            </a:pPr>
            <a:r>
              <a:rPr lang="en-US"/>
              <a:t>Different instructions sequentially happening</a:t>
            </a:r>
            <a:endParaRPr/>
          </a:p>
        </p:txBody>
      </p:sp>
      <p:sp>
        <p:nvSpPr>
          <p:cNvPr id="16" name="ZoneTexte 14" hidden="0"/>
          <p:cNvSpPr>
            <a:spLocks noAdjustHandles="0" noChangeArrowheads="0"/>
          </p:cNvSpPr>
          <p:nvPr isPhoto="0" userDrawn="0"/>
        </p:nvSpPr>
        <p:spPr bwMode="auto">
          <a:xfrm>
            <a:off x="2944191" y="6483217"/>
            <a:ext cx="589757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defRPr/>
            </a:pPr>
            <a:r>
              <a:rPr lang="en-US"/>
              <a:t>Same instruction happening in parallel for different elements</a:t>
            </a:r>
            <a:endParaRPr/>
          </a:p>
        </p:txBody>
      </p:sp>
      <p:sp>
        <p:nvSpPr>
          <p:cNvPr id="17" name="Rectangle 1" hidden="0"/>
          <p:cNvSpPr>
            <a:spLocks noChangeArrowheads="1"/>
          </p:cNvSpPr>
          <p:nvPr isPhoto="0" userDrawn="0"/>
        </p:nvSpPr>
        <p:spPr bwMode="auto">
          <a:xfrm>
            <a:off x="0" y="6160051"/>
            <a:ext cx="2240994" cy="646331"/>
          </a:xfrm>
          <a:prstGeom prst="rect">
            <a:avLst/>
          </a:prstGeom>
          <a:solidFill>
            <a:srgbClr val="FFFFFF"/>
          </a:solidFill>
          <a:ln>
            <a:noFill/>
          </a:ln>
        </p:spPr>
        <p:txBody>
          <a:bodyPr vert="horz" wrap="squar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r>
              <a:rPr lang="en-US" sz="1200" b="0" i="0" u="sng" strike="noStrike" cap="none">
                <a:ln>
                  <a:noFill/>
                </a:ln>
                <a:solidFill>
                  <a:srgbClr val="1155CC"/>
                </a:solidFill>
                <a:latin typeface="Arial"/>
                <a:cs typeface="Arial"/>
                <a:hlinkClick r:id="rId4" tooltip=""/>
              </a:rPr>
              <a:t>https://www.cvg.ethz.ch/teaching/2011spring/gpgpu/Lec1-intro.pdf</a:t>
            </a:r>
            <a:r>
              <a:rPr lang="en-US" sz="1200" b="0" i="0" u="none" strike="noStrike" cap="none">
                <a:ln>
                  <a:noFill/>
                </a:ln>
                <a:solidFill>
                  <a:schemeClr val="tx1"/>
                </a:solidFill>
              </a:rPr>
              <a:t> </a:t>
            </a:r>
            <a:endParaRPr lang="en-US" sz="12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396317" y="77158"/>
            <a:ext cx="10515600" cy="1325561"/>
          </a:xfrm>
        </p:spPr>
        <p:txBody>
          <a:bodyPr/>
          <a:lstStyle/>
          <a:p>
            <a:pPr>
              <a:defRPr/>
            </a:pPr>
            <a:r>
              <a:rPr lang="en-US"/>
              <a:t>GPU : Not MISD or </a:t>
            </a:r>
            <a:r>
              <a:rPr lang="en-US"/>
              <a:t>MIMD oriented </a:t>
            </a:r>
            <a:r>
              <a:rPr lang="en-US" sz="4400" b="0" i="0" u="none" strike="noStrike" cap="none" spc="0">
                <a:solidFill>
                  <a:schemeClr val="tx1"/>
                </a:solidFill>
                <a:latin typeface="+mj-lt"/>
                <a:ea typeface="+mj-ea"/>
                <a:cs typeface="+mj-cs"/>
              </a:rPr>
              <a:t>architecture</a:t>
            </a:r>
            <a:endParaRPr/>
          </a:p>
        </p:txBody>
      </p:sp>
      <p:sp>
        <p:nvSpPr>
          <p:cNvPr id="5" name="Rectangle 1" hidden="0"/>
          <p:cNvSpPr>
            <a:spLocks noChangeArrowheads="1"/>
          </p:cNvSpPr>
          <p:nvPr isPhoto="0" userDrawn="0"/>
        </p:nvSpPr>
        <p:spPr bwMode="auto">
          <a:xfrm>
            <a:off x="0" y="6160050"/>
            <a:ext cx="2240993" cy="646330"/>
          </a:xfrm>
          <a:prstGeom prst="rect">
            <a:avLst/>
          </a:prstGeom>
          <a:solidFill>
            <a:srgbClr val="FFFFFF"/>
          </a:solidFill>
          <a:ln>
            <a:noFill/>
          </a:ln>
        </p:spPr>
        <p:txBody>
          <a:bodyPr vert="horz" wrap="squar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r>
              <a:rPr lang="en-US" sz="1200" b="0" i="0" u="sng" strike="noStrike" cap="none">
                <a:ln>
                  <a:noFill/>
                </a:ln>
                <a:solidFill>
                  <a:srgbClr val="1155CC"/>
                </a:solidFill>
                <a:latin typeface="Arial"/>
                <a:cs typeface="Arial"/>
                <a:hlinkClick r:id="rId2" tooltip=""/>
              </a:rPr>
              <a:t>https://www.cvg.ethz.ch/teaching/2011spring/gpgpu/Lec1-intro.pdf</a:t>
            </a:r>
            <a:r>
              <a:rPr lang="en-US" sz="1200" b="0" i="0" u="none" strike="noStrike" cap="none">
                <a:ln>
                  <a:noFill/>
                </a:ln>
                <a:solidFill>
                  <a:schemeClr val="tx1"/>
                </a:solidFill>
              </a:rPr>
              <a:t> </a:t>
            </a:r>
            <a:endParaRPr lang="en-US" sz="1200" b="0" i="0" u="none" strike="noStrike" cap="none">
              <a:ln>
                <a:noFill/>
              </a:ln>
              <a:solidFill>
                <a:schemeClr val="tx1"/>
              </a:solidFill>
              <a:latin typeface="Arial"/>
            </a:endParaRPr>
          </a:p>
        </p:txBody>
      </p:sp>
      <p:pic>
        <p:nvPicPr>
          <p:cNvPr id="6" name="" hidden="0"/>
          <p:cNvPicPr>
            <a:picLocks noChangeAspect="1"/>
          </p:cNvPicPr>
          <p:nvPr isPhoto="0" userDrawn="0"/>
        </p:nvPicPr>
        <p:blipFill>
          <a:blip r:embed="rId3"/>
          <a:stretch/>
        </p:blipFill>
        <p:spPr bwMode="auto">
          <a:xfrm flipH="0" flipV="0">
            <a:off x="537307" y="2613269"/>
            <a:ext cx="5403467" cy="3101730"/>
          </a:xfrm>
          <a:prstGeom prst="rect">
            <a:avLst/>
          </a:prstGeom>
        </p:spPr>
      </p:pic>
      <p:pic>
        <p:nvPicPr>
          <p:cNvPr id="7" name="" hidden="0"/>
          <p:cNvPicPr>
            <a:picLocks noChangeAspect="1"/>
          </p:cNvPicPr>
          <p:nvPr isPhoto="0" userDrawn="0"/>
        </p:nvPicPr>
        <p:blipFill>
          <a:blip r:embed="rId4"/>
          <a:stretch/>
        </p:blipFill>
        <p:spPr bwMode="auto">
          <a:xfrm flipH="0" flipV="0">
            <a:off x="6185005" y="2787320"/>
            <a:ext cx="5277884" cy="3427904"/>
          </a:xfrm>
          <a:prstGeom prst="rect">
            <a:avLst/>
          </a:prstGeom>
        </p:spPr>
      </p:pic>
      <p:cxnSp>
        <p:nvCxnSpPr>
          <p:cNvPr id="8" name="" hidden="0"/>
          <p:cNvCxnSpPr>
            <a:cxnSpLocks/>
          </p:cNvCxnSpPr>
          <p:nvPr isPhoto="0" userDrawn="0"/>
        </p:nvCxnSpPr>
        <p:spPr bwMode="auto">
          <a:xfrm rot="10799989" flipH="0" flipV="1">
            <a:off x="11711899" y="3039207"/>
            <a:ext cx="0" cy="2724638"/>
          </a:xfrm>
          <a:prstGeom prst="line">
            <a:avLst/>
          </a:prstGeom>
          <a:ln w="57150" cap="flat" cmpd="sng" algn="ctr">
            <a:solidFill>
              <a:schemeClr val="tx1"/>
            </a:solidFill>
            <a:prstDash val="solid"/>
            <a:miter/>
            <a:tailEnd type="arrow" len="med"/>
          </a:ln>
        </p:spPr>
        <p:style>
          <a:lnRef idx="1">
            <a:schemeClr val="accent1">
              <a:shade val="50000"/>
            </a:schemeClr>
          </a:lnRef>
          <a:fillRef idx="0">
            <a:schemeClr val="accent1"/>
          </a:fillRef>
          <a:effectRef idx="0">
            <a:schemeClr val="accent1"/>
          </a:effectRef>
          <a:fontRef idx="minor">
            <a:schemeClr val="tx1"/>
          </a:fontRef>
        </p:style>
      </p:cxnSp>
      <p:sp>
        <p:nvSpPr>
          <p:cNvPr id="9" name="ZoneTexte 4" hidden="0"/>
          <p:cNvSpPr>
            <a:spLocks noAdjustHandles="0" noChangeArrowheads="0"/>
          </p:cNvSpPr>
          <p:nvPr isPhoto="0" userDrawn="0"/>
        </p:nvSpPr>
        <p:spPr bwMode="auto">
          <a:xfrm flipH="0" flipV="0">
            <a:off x="720923" y="1635842"/>
            <a:ext cx="4933194" cy="977426"/>
          </a:xfrm>
          <a:prstGeom prst="rect">
            <a:avLst/>
          </a:prstGeom>
          <a:noFill/>
        </p:spPr>
        <p:txBody>
          <a:bodyPr wrap="square" rtlCol="0">
            <a:noAutofit/>
          </a:bodyPr>
          <a:lstStyle/>
          <a:p>
            <a:pPr>
              <a:defRPr/>
            </a:pPr>
            <a:r>
              <a:rPr lang="en-US" sz="3600" b="1"/>
              <a:t>MISD</a:t>
            </a:r>
            <a:r>
              <a:rPr lang="en-US" sz="3600"/>
              <a:t> : </a:t>
            </a:r>
            <a:r>
              <a:rPr lang="en-US" sz="3600" b="1"/>
              <a:t>M</a:t>
            </a:r>
            <a:r>
              <a:rPr lang="en-US" sz="3600"/>
              <a:t>ultiple </a:t>
            </a:r>
            <a:r>
              <a:rPr lang="en-US" sz="3600" b="1"/>
              <a:t>I</a:t>
            </a:r>
            <a:r>
              <a:rPr lang="en-US" sz="3600"/>
              <a:t>nstructions </a:t>
            </a:r>
            <a:r>
              <a:rPr lang="en-US" sz="3600" b="1"/>
              <a:t>S</a:t>
            </a:r>
            <a:r>
              <a:rPr lang="en-US" sz="3600"/>
              <a:t>ingle </a:t>
            </a:r>
            <a:r>
              <a:rPr lang="en-US" sz="3600" b="1"/>
              <a:t>D</a:t>
            </a:r>
            <a:r>
              <a:rPr lang="en-US" sz="3600"/>
              <a:t>ata </a:t>
            </a:r>
            <a:endParaRPr sz="3600"/>
          </a:p>
        </p:txBody>
      </p:sp>
      <p:sp>
        <p:nvSpPr>
          <p:cNvPr id="10" name="Rectangle 6" hidden="0"/>
          <p:cNvSpPr/>
          <p:nvPr isPhoto="0" userDrawn="0"/>
        </p:nvSpPr>
        <p:spPr bwMode="auto">
          <a:xfrm flipH="0" flipV="0">
            <a:off x="2493653" y="3858846"/>
            <a:ext cx="1485353" cy="441569"/>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1" name="Rectangle 6" hidden="0"/>
          <p:cNvSpPr/>
          <p:nvPr isPhoto="0" userDrawn="0"/>
        </p:nvSpPr>
        <p:spPr bwMode="auto">
          <a:xfrm flipH="0" flipV="0">
            <a:off x="4447499" y="3858845"/>
            <a:ext cx="1485352" cy="441568"/>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2" name="Rectangle 6" hidden="0"/>
          <p:cNvSpPr/>
          <p:nvPr isPhoto="0" userDrawn="0"/>
        </p:nvSpPr>
        <p:spPr bwMode="auto">
          <a:xfrm flipH="0" flipV="0">
            <a:off x="661921" y="3858845"/>
            <a:ext cx="1485352" cy="441568"/>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3" name="ZoneTexte 4" hidden="0"/>
          <p:cNvSpPr>
            <a:spLocks noAdjustHandles="0" noChangeArrowheads="0"/>
          </p:cNvSpPr>
          <p:nvPr isPhoto="0" userDrawn="0"/>
        </p:nvSpPr>
        <p:spPr bwMode="auto">
          <a:xfrm flipH="0" flipV="0">
            <a:off x="6185005" y="1684688"/>
            <a:ext cx="5582730" cy="977425"/>
          </a:xfrm>
          <a:prstGeom prst="rect">
            <a:avLst/>
          </a:prstGeom>
          <a:noFill/>
        </p:spPr>
        <p:txBody>
          <a:bodyPr wrap="square" rtlCol="0">
            <a:noAutofit/>
          </a:bodyPr>
          <a:lstStyle/>
          <a:p>
            <a:pPr>
              <a:defRPr/>
            </a:pPr>
            <a:r>
              <a:rPr lang="en-US" sz="3600" b="1"/>
              <a:t>MISD</a:t>
            </a:r>
            <a:r>
              <a:rPr lang="en-US" sz="3600"/>
              <a:t> : </a:t>
            </a:r>
            <a:r>
              <a:rPr lang="en-US" sz="3600" b="1"/>
              <a:t>M</a:t>
            </a:r>
            <a:r>
              <a:rPr lang="en-US" sz="3600"/>
              <a:t>ultiple </a:t>
            </a:r>
            <a:r>
              <a:rPr lang="en-US" sz="3600" b="1"/>
              <a:t>I</a:t>
            </a:r>
            <a:r>
              <a:rPr lang="en-US" sz="3600"/>
              <a:t>nstructions </a:t>
            </a:r>
            <a:r>
              <a:rPr lang="en-US" sz="3600" b="1"/>
              <a:t>M</a:t>
            </a:r>
            <a:r>
              <a:rPr lang="en-US" sz="3600"/>
              <a:t>ultiple </a:t>
            </a:r>
            <a:r>
              <a:rPr lang="en-US" sz="3600" b="1"/>
              <a:t>D</a:t>
            </a:r>
            <a:r>
              <a:rPr lang="en-US" sz="3600"/>
              <a:t>ata </a:t>
            </a:r>
            <a:endParaRPr sz="3600"/>
          </a:p>
        </p:txBody>
      </p:sp>
      <p:sp>
        <p:nvSpPr>
          <p:cNvPr id="14" name="Rectangle 6" hidden="0"/>
          <p:cNvSpPr/>
          <p:nvPr isPhoto="0" userDrawn="0"/>
        </p:nvSpPr>
        <p:spPr bwMode="auto">
          <a:xfrm flipH="0" flipV="0">
            <a:off x="6401345" y="2955192"/>
            <a:ext cx="1392116" cy="2833076"/>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5" name="Rectangle 6" hidden="0"/>
          <p:cNvSpPr/>
          <p:nvPr isPhoto="0" userDrawn="0"/>
        </p:nvSpPr>
        <p:spPr bwMode="auto">
          <a:xfrm flipH="0" flipV="0">
            <a:off x="8110960" y="2955191"/>
            <a:ext cx="1392115" cy="2833075"/>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6" name="Rectangle 6" hidden="0"/>
          <p:cNvSpPr/>
          <p:nvPr isPhoto="0" userDrawn="0"/>
        </p:nvSpPr>
        <p:spPr bwMode="auto">
          <a:xfrm flipH="0" flipV="0">
            <a:off x="9942690" y="2955191"/>
            <a:ext cx="1392115" cy="2833075"/>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211665" y="156156"/>
            <a:ext cx="10515600" cy="1325562"/>
          </a:xfrm>
        </p:spPr>
        <p:txBody>
          <a:bodyPr/>
          <a:lstStyle/>
          <a:p>
            <a:pPr>
              <a:defRPr/>
            </a:pPr>
            <a:r>
              <a:rPr lang="en-US"/>
              <a:t>Mapping the hardware architecture to the programming architecture</a:t>
            </a:r>
            <a:endParaRPr/>
          </a:p>
        </p:txBody>
      </p:sp>
      <p:pic>
        <p:nvPicPr>
          <p:cNvPr id="5" name="Image 4" descr="Une image contenant capture d’écran&#10;&#10;Description générée automatiquement" hidden="0"/>
          <p:cNvPicPr>
            <a:picLocks noChangeAspect="1"/>
          </p:cNvPicPr>
          <p:nvPr isPhoto="0" userDrawn="0"/>
        </p:nvPicPr>
        <p:blipFill>
          <a:blip r:embed="rId3"/>
          <a:stretch/>
        </p:blipFill>
        <p:spPr bwMode="auto">
          <a:xfrm flipH="0" flipV="0">
            <a:off x="1866772" y="3641775"/>
            <a:ext cx="4070534" cy="3173315"/>
          </a:xfrm>
          <a:prstGeom prst="rect">
            <a:avLst/>
          </a:prstGeom>
        </p:spPr>
      </p:pic>
      <p:sp>
        <p:nvSpPr>
          <p:cNvPr id="6" name="ZoneTexte 7" hidden="0"/>
          <p:cNvSpPr>
            <a:spLocks noAdjustHandles="0" noChangeArrowheads="0"/>
          </p:cNvSpPr>
          <p:nvPr isPhoto="0" userDrawn="0"/>
        </p:nvSpPr>
        <p:spPr bwMode="auto">
          <a:xfrm>
            <a:off x="338949" y="1407566"/>
            <a:ext cx="11729432" cy="2255555"/>
          </a:xfrm>
          <a:prstGeom prst="rect">
            <a:avLst/>
          </a:prstGeom>
          <a:noFill/>
        </p:spPr>
        <p:txBody>
          <a:bodyPr wrap="square" rtlCol="0">
            <a:spAutoFit/>
          </a:bodyPr>
          <a:lstStyle/>
          <a:p>
            <a:pPr>
              <a:defRPr/>
            </a:pPr>
            <a:r>
              <a:rPr lang="en-US"/>
              <a:t>As a GPU programmer you will :</a:t>
            </a:r>
            <a:endParaRPr lang="en-US"/>
          </a:p>
          <a:p>
            <a:pPr>
              <a:defRPr/>
            </a:pPr>
            <a:r>
              <a:rPr lang="en-US"/>
              <a:t> * define an arithmetic instruction applied on an element of an array : </a:t>
            </a:r>
            <a:r>
              <a:rPr lang="en-US" b="1"/>
              <a:t>thread</a:t>
            </a:r>
            <a:r>
              <a:rPr lang="en-US"/>
              <a:t>.</a:t>
            </a:r>
            <a:endParaRPr/>
          </a:p>
          <a:p>
            <a:pPr>
              <a:defRPr/>
            </a:pPr>
            <a:r>
              <a:rPr lang="en-US"/>
              <a:t> * run many threads in parallel  within a shared memory environment  : </a:t>
            </a:r>
            <a:r>
              <a:rPr lang="en-US" b="1"/>
              <a:t>block</a:t>
            </a:r>
            <a:r>
              <a:rPr lang="en-US"/>
              <a:t>s.</a:t>
            </a:r>
            <a:endParaRPr lang="en-US"/>
          </a:p>
          <a:p>
            <a:pPr>
              <a:defRPr/>
            </a:pPr>
            <a:r>
              <a:rPr lang="en-US"/>
              <a:t>	</a:t>
            </a:r>
            <a:r>
              <a:rPr lang="en-US" sz="1600"/>
              <a:t>( block = doing the same operation in parallel on a subset of elements of your array ).</a:t>
            </a:r>
            <a:endParaRPr/>
          </a:p>
          <a:p>
            <a:pPr>
              <a:defRPr/>
            </a:pPr>
            <a:endParaRPr lang="en-US"/>
          </a:p>
          <a:p>
            <a:pPr>
              <a:defRPr/>
            </a:pPr>
            <a:endParaRPr lang="en-US"/>
          </a:p>
          <a:p>
            <a:pPr>
              <a:defRPr/>
            </a:pPr>
            <a:r>
              <a:rPr lang="en-US"/>
              <a:t> * manage many blocks in parallel (many blocks on the same SM, or many SM), </a:t>
            </a:r>
            <a:endParaRPr lang="en-US"/>
          </a:p>
          <a:p>
            <a:pPr>
              <a:defRPr/>
            </a:pPr>
            <a:r>
              <a:rPr lang="en-US"/>
              <a:t>	                         or sequentially if your array exceed your GPU capacity.</a:t>
            </a:r>
            <a:endParaRPr/>
          </a:p>
        </p:txBody>
      </p:sp>
      <p:sp>
        <p:nvSpPr>
          <p:cNvPr id="7" name="ZoneTexte 8" hidden="0"/>
          <p:cNvSpPr>
            <a:spLocks noAdjustHandles="0" noChangeArrowheads="0"/>
          </p:cNvSpPr>
          <p:nvPr isPhoto="0" userDrawn="0"/>
        </p:nvSpPr>
        <p:spPr bwMode="auto">
          <a:xfrm rot="16199998">
            <a:off x="2000282" y="5630333"/>
            <a:ext cx="649537" cy="369332"/>
          </a:xfrm>
          <a:prstGeom prst="rect">
            <a:avLst/>
          </a:prstGeom>
          <a:noFill/>
        </p:spPr>
        <p:txBody>
          <a:bodyPr wrap="none" rtlCol="0">
            <a:spAutoFit/>
          </a:bodyPr>
          <a:lstStyle/>
          <a:p>
            <a:pPr>
              <a:defRPr/>
            </a:pPr>
            <a:r>
              <a:rPr lang="en-US"/>
              <a:t>Time</a:t>
            </a:r>
            <a:endParaRPr/>
          </a:p>
        </p:txBody>
      </p:sp>
      <p:sp>
        <p:nvSpPr>
          <p:cNvPr id="8" name="Rectangle 9" hidden="0"/>
          <p:cNvSpPr/>
          <p:nvPr isPhoto="0" userDrawn="0"/>
        </p:nvSpPr>
        <p:spPr bwMode="auto">
          <a:xfrm>
            <a:off x="6203666" y="6492874"/>
            <a:ext cx="6096000" cy="461665"/>
          </a:xfrm>
          <a:prstGeom prst="rect">
            <a:avLst/>
          </a:prstGeom>
        </p:spPr>
        <p:txBody>
          <a:bodyPr>
            <a:spAutoFit/>
          </a:bodyPr>
          <a:lstStyle/>
          <a:p>
            <a:pPr>
              <a:defRPr/>
            </a:pPr>
            <a:r>
              <a:rPr lang="en-US" sz="1200" u="sng">
                <a:hlinkClick r:id="rId4" tooltip=""/>
              </a:rPr>
              <a:t>http://developer.download.nvidia.com/compute/cuda/3_1/toolkit/docs/NVIDIA_CUDA_C_ProgrammingGuide_3.1.pdf</a:t>
            </a:r>
            <a:endParaRPr lang="en-US" sz="1200"/>
          </a:p>
        </p:txBody>
      </p:sp>
      <p:sp>
        <p:nvSpPr>
          <p:cNvPr id="9" name="ZoneTexte 7" hidden="0"/>
          <p:cNvSpPr>
            <a:spLocks noAdjustHandles="0" noChangeArrowheads="0"/>
          </p:cNvSpPr>
          <p:nvPr isPhoto="0" userDrawn="0"/>
        </p:nvSpPr>
        <p:spPr bwMode="auto">
          <a:xfrm>
            <a:off x="12403949" y="156156"/>
            <a:ext cx="11726155" cy="1463076"/>
          </a:xfrm>
          <a:prstGeom prst="rect">
            <a:avLst/>
          </a:prstGeom>
          <a:noFill/>
        </p:spPr>
        <p:txBody>
          <a:bodyPr wrap="square" rtlCol="0">
            <a:spAutoFit/>
          </a:bodyPr>
          <a:lstStyle/>
          <a:p>
            <a:pPr>
              <a:defRPr/>
            </a:pPr>
            <a:r>
              <a:rPr lang="en-US"/>
              <a:t>As a GPU programmer you will define an arithmetic instruction applied on an element of an array: </a:t>
            </a:r>
            <a:r>
              <a:rPr lang="en-US" b="1"/>
              <a:t>thread</a:t>
            </a:r>
            <a:r>
              <a:rPr lang="en-US"/>
              <a:t>.</a:t>
            </a:r>
            <a:endParaRPr/>
          </a:p>
          <a:p>
            <a:pPr>
              <a:defRPr/>
            </a:pPr>
            <a:r>
              <a:rPr lang="en-US"/>
              <a:t>You will run many threads in parallel  within a shared memory environment called </a:t>
            </a:r>
            <a:r>
              <a:rPr lang="en-US" b="1"/>
              <a:t>block</a:t>
            </a:r>
            <a:r>
              <a:rPr lang="en-US"/>
              <a:t>s ( A block is then you doing the same operation parallelly on a subset of elements of your array ).</a:t>
            </a:r>
            <a:endParaRPr/>
          </a:p>
          <a:p>
            <a:pPr>
              <a:defRPr/>
            </a:pPr>
            <a:r>
              <a:rPr lang="en-US"/>
              <a:t>You will manage many blocks parallelly (if many blocks can sit on the same SM, or if you have many SM), or sequentially if your array exceed your GPU capacity.</a:t>
            </a:r>
            <a:endParaRPr/>
          </a:p>
        </p:txBody>
      </p:sp>
      <p:pic>
        <p:nvPicPr>
          <p:cNvPr id="10" name="" hidden="0"/>
          <p:cNvPicPr>
            <a:picLocks noChangeAspect="1"/>
          </p:cNvPicPr>
          <p:nvPr isPhoto="0" userDrawn="0"/>
        </p:nvPicPr>
        <p:blipFill>
          <a:blip r:embed="rId5"/>
          <a:stretch/>
        </p:blipFill>
        <p:spPr bwMode="auto">
          <a:xfrm>
            <a:off x="8024812" y="857250"/>
            <a:ext cx="3857625" cy="51435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en-US"/>
              <a:t>On a real Real architecture</a:t>
            </a:r>
            <a:endParaRPr/>
          </a:p>
        </p:txBody>
      </p:sp>
      <p:sp>
        <p:nvSpPr>
          <p:cNvPr id="5" name="ZoneTexte 9" hidden="0"/>
          <p:cNvSpPr>
            <a:spLocks noAdjustHandles="0" noChangeArrowheads="0"/>
          </p:cNvSpPr>
          <p:nvPr isPhoto="0" userDrawn="0"/>
        </p:nvSpPr>
        <p:spPr bwMode="auto">
          <a:xfrm>
            <a:off x="1384185" y="1762233"/>
            <a:ext cx="2491193" cy="369331"/>
          </a:xfrm>
          <a:prstGeom prst="rect">
            <a:avLst/>
          </a:prstGeom>
          <a:noFill/>
        </p:spPr>
        <p:txBody>
          <a:bodyPr wrap="none" rtlCol="0">
            <a:spAutoFit/>
          </a:bodyPr>
          <a:lstStyle/>
          <a:p>
            <a:pPr>
              <a:defRPr/>
            </a:pPr>
            <a:r>
              <a:rPr lang="en-US"/>
              <a:t>Nvidia Fermi GPU (2011)</a:t>
            </a:r>
            <a:endParaRPr/>
          </a:p>
        </p:txBody>
      </p:sp>
      <p:pic>
        <p:nvPicPr>
          <p:cNvPr id="6" name="Image 10" hidden="0"/>
          <p:cNvPicPr>
            <a:picLocks noChangeAspect="1"/>
          </p:cNvPicPr>
          <p:nvPr isPhoto="0" userDrawn="0"/>
        </p:nvPicPr>
        <p:blipFill>
          <a:blip r:embed="rId3"/>
          <a:stretch/>
        </p:blipFill>
        <p:spPr bwMode="auto">
          <a:xfrm>
            <a:off x="416920" y="2357870"/>
            <a:ext cx="6186102" cy="4206549"/>
          </a:xfrm>
          <a:prstGeom prst="rect">
            <a:avLst/>
          </a:prstGeom>
        </p:spPr>
      </p:pic>
      <p:sp>
        <p:nvSpPr>
          <p:cNvPr id="7" name="ZoneTexte 11" hidden="0"/>
          <p:cNvSpPr>
            <a:spLocks noAdjustHandles="0" noChangeArrowheads="0"/>
          </p:cNvSpPr>
          <p:nvPr isPhoto="0" userDrawn="0"/>
        </p:nvSpPr>
        <p:spPr bwMode="auto">
          <a:xfrm>
            <a:off x="4671185" y="1946898"/>
            <a:ext cx="3073470" cy="914434"/>
          </a:xfrm>
          <a:prstGeom prst="rect">
            <a:avLst/>
          </a:prstGeom>
          <a:noFill/>
        </p:spPr>
        <p:txBody>
          <a:bodyPr wrap="square" rtlCol="0">
            <a:spAutoFit/>
          </a:bodyPr>
          <a:lstStyle/>
          <a:p>
            <a:pPr>
              <a:defRPr/>
            </a:pPr>
            <a:r>
              <a:rPr lang="en-US"/>
              <a:t>Here it is not a core, it is a "CUDA core" so not directly comparable to the CPU core</a:t>
            </a:r>
            <a:endParaRPr/>
          </a:p>
        </p:txBody>
      </p:sp>
      <p:sp>
        <p:nvSpPr>
          <p:cNvPr id="8" name="Rectangle 12" hidden="0"/>
          <p:cNvSpPr/>
          <p:nvPr isPhoto="0" userDrawn="0"/>
        </p:nvSpPr>
        <p:spPr bwMode="auto">
          <a:xfrm>
            <a:off x="416920" y="6405134"/>
            <a:ext cx="6095999" cy="461664"/>
          </a:xfrm>
          <a:prstGeom prst="rect">
            <a:avLst/>
          </a:prstGeom>
        </p:spPr>
        <p:txBody>
          <a:bodyPr>
            <a:spAutoFit/>
          </a:bodyPr>
          <a:lstStyle/>
          <a:p>
            <a:pPr>
              <a:defRPr/>
            </a:pPr>
            <a:r>
              <a:rPr lang="en-US" sz="1200" b="0" i="0">
                <a:solidFill>
                  <a:srgbClr val="111111"/>
                </a:solidFill>
                <a:latin typeface="Roboto"/>
              </a:rPr>
              <a:t>3D Data Denoising via Nonlocal Means Filter by Using Parallel GPU Strategies</a:t>
            </a:r>
            <a:endParaRPr/>
          </a:p>
          <a:p>
            <a:pPr>
              <a:defRPr/>
            </a:pPr>
            <a:r>
              <a:rPr lang="en-US" sz="1200"/>
              <a:t>DOI: 10.1155/2014/523862</a:t>
            </a:r>
            <a:endParaRPr lang="en-US" sz="1200" b="0" i="0">
              <a:solidFill>
                <a:srgbClr val="111111"/>
              </a:solidFill>
              <a:latin typeface="Roboto"/>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en-US"/>
              <a:t>On a real Real architecture</a:t>
            </a:r>
            <a:r>
              <a:rPr/>
              <a:t> : one possible topology</a:t>
            </a:r>
            <a:endParaRPr/>
          </a:p>
        </p:txBody>
      </p:sp>
      <p:sp>
        <p:nvSpPr>
          <p:cNvPr id="5" name="ZoneTexte 9" hidden="0"/>
          <p:cNvSpPr>
            <a:spLocks noAdjustHandles="0" noChangeArrowheads="0"/>
          </p:cNvSpPr>
          <p:nvPr isPhoto="0" userDrawn="0"/>
        </p:nvSpPr>
        <p:spPr bwMode="auto">
          <a:xfrm>
            <a:off x="1384185" y="1762233"/>
            <a:ext cx="2491193" cy="369331"/>
          </a:xfrm>
          <a:prstGeom prst="rect">
            <a:avLst/>
          </a:prstGeom>
          <a:noFill/>
        </p:spPr>
        <p:txBody>
          <a:bodyPr wrap="none" rtlCol="0">
            <a:spAutoFit/>
          </a:bodyPr>
          <a:lstStyle/>
          <a:p>
            <a:pPr>
              <a:defRPr/>
            </a:pPr>
            <a:r>
              <a:rPr lang="en-US"/>
              <a:t>Nvidia Fermi GPU (2011)</a:t>
            </a:r>
            <a:endParaRPr/>
          </a:p>
        </p:txBody>
      </p:sp>
      <p:pic>
        <p:nvPicPr>
          <p:cNvPr id="6" name="Image 10" hidden="0"/>
          <p:cNvPicPr>
            <a:picLocks noChangeAspect="1"/>
          </p:cNvPicPr>
          <p:nvPr isPhoto="0" userDrawn="0"/>
        </p:nvPicPr>
        <p:blipFill>
          <a:blip r:embed="rId2"/>
          <a:stretch/>
        </p:blipFill>
        <p:spPr bwMode="auto">
          <a:xfrm>
            <a:off x="416920" y="2357870"/>
            <a:ext cx="6186102" cy="4206549"/>
          </a:xfrm>
          <a:prstGeom prst="rect">
            <a:avLst/>
          </a:prstGeom>
        </p:spPr>
      </p:pic>
      <p:sp>
        <p:nvSpPr>
          <p:cNvPr id="7" name="ZoneTexte 11" hidden="0"/>
          <p:cNvSpPr>
            <a:spLocks noAdjustHandles="0" noChangeArrowheads="0"/>
          </p:cNvSpPr>
          <p:nvPr isPhoto="0" userDrawn="0"/>
        </p:nvSpPr>
        <p:spPr bwMode="auto">
          <a:xfrm>
            <a:off x="4671185" y="1946898"/>
            <a:ext cx="3073470" cy="914434"/>
          </a:xfrm>
          <a:prstGeom prst="rect">
            <a:avLst/>
          </a:prstGeom>
          <a:noFill/>
        </p:spPr>
        <p:txBody>
          <a:bodyPr wrap="square" rtlCol="0">
            <a:spAutoFit/>
          </a:bodyPr>
          <a:lstStyle/>
          <a:p>
            <a:pPr>
              <a:defRPr/>
            </a:pPr>
            <a:r>
              <a:rPr lang="en-US"/>
              <a:t>Here it is not a core, it is a "CUDA core" so not directly comparable to the CPU core</a:t>
            </a:r>
            <a:endParaRPr/>
          </a:p>
        </p:txBody>
      </p:sp>
      <p:sp>
        <p:nvSpPr>
          <p:cNvPr id="8" name="Rectangle 12" hidden="0"/>
          <p:cNvSpPr/>
          <p:nvPr isPhoto="0" userDrawn="0"/>
        </p:nvSpPr>
        <p:spPr bwMode="auto">
          <a:xfrm>
            <a:off x="416920" y="6405134"/>
            <a:ext cx="6095999" cy="461664"/>
          </a:xfrm>
          <a:prstGeom prst="rect">
            <a:avLst/>
          </a:prstGeom>
        </p:spPr>
        <p:txBody>
          <a:bodyPr>
            <a:spAutoFit/>
          </a:bodyPr>
          <a:lstStyle/>
          <a:p>
            <a:pPr>
              <a:defRPr/>
            </a:pPr>
            <a:r>
              <a:rPr lang="en-US" sz="1200" b="0" i="0">
                <a:solidFill>
                  <a:srgbClr val="111111"/>
                </a:solidFill>
                <a:latin typeface="Roboto"/>
              </a:rPr>
              <a:t>3D Data Denoising via Nonlocal Means Filter by Using Parallel GPU Strategies</a:t>
            </a:r>
            <a:endParaRPr/>
          </a:p>
          <a:p>
            <a:pPr>
              <a:defRPr/>
            </a:pPr>
            <a:r>
              <a:rPr lang="en-US" sz="1200"/>
              <a:t>DOI: 10.1155/2014/523862</a:t>
            </a:r>
            <a:endParaRPr lang="en-US" sz="1200" b="0" i="0">
              <a:solidFill>
                <a:srgbClr val="111111"/>
              </a:solidFill>
              <a:latin typeface="Roboto"/>
            </a:endParaRPr>
          </a:p>
        </p:txBody>
      </p:sp>
      <p:sp>
        <p:nvSpPr>
          <p:cNvPr id="9" name="Rectangle 6" hidden="0"/>
          <p:cNvSpPr/>
          <p:nvPr isPhoto="0" userDrawn="0"/>
        </p:nvSpPr>
        <p:spPr bwMode="auto">
          <a:xfrm flipH="0" flipV="0">
            <a:off x="5090464" y="3850821"/>
            <a:ext cx="585106" cy="503463"/>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0" name="Rectangle 6" hidden="0"/>
          <p:cNvSpPr/>
          <p:nvPr isPhoto="0" userDrawn="0"/>
        </p:nvSpPr>
        <p:spPr bwMode="auto">
          <a:xfrm flipH="0" flipV="0">
            <a:off x="5090464" y="4354285"/>
            <a:ext cx="585106" cy="503463"/>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1" name="Rectangle 6" hidden="0"/>
          <p:cNvSpPr/>
          <p:nvPr isPhoto="0" userDrawn="0"/>
        </p:nvSpPr>
        <p:spPr bwMode="auto">
          <a:xfrm flipH="0" flipV="0">
            <a:off x="5090463" y="4857749"/>
            <a:ext cx="585106" cy="503463"/>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2" name="Rectangle 6" hidden="0"/>
          <p:cNvSpPr/>
          <p:nvPr isPhoto="0" userDrawn="0"/>
        </p:nvSpPr>
        <p:spPr bwMode="auto">
          <a:xfrm flipH="0" flipV="0">
            <a:off x="5090464" y="5361213"/>
            <a:ext cx="585106" cy="503463"/>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3" name="Rectangle 6" hidden="0"/>
          <p:cNvSpPr/>
          <p:nvPr isPhoto="0" userDrawn="0"/>
        </p:nvSpPr>
        <p:spPr bwMode="auto">
          <a:xfrm flipH="0" flipV="0">
            <a:off x="5042838" y="3850821"/>
            <a:ext cx="680357" cy="2095500"/>
          </a:xfrm>
          <a:prstGeom prst="rect">
            <a:avLst/>
          </a:prstGeom>
          <a:noFill/>
          <a:ln w="76200"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4" name="Rectangle 6" hidden="0"/>
          <p:cNvSpPr/>
          <p:nvPr isPhoto="0" userDrawn="0"/>
        </p:nvSpPr>
        <p:spPr bwMode="auto">
          <a:xfrm flipH="0" flipV="0">
            <a:off x="7002266" y="3769178"/>
            <a:ext cx="680356" cy="333374"/>
          </a:xfrm>
          <a:prstGeom prst="rect">
            <a:avLst/>
          </a:prstGeom>
          <a:noFill/>
          <a:ln w="76200"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5" name="Rectangle 6" hidden="0"/>
          <p:cNvSpPr/>
          <p:nvPr isPhoto="0" userDrawn="0"/>
        </p:nvSpPr>
        <p:spPr bwMode="auto">
          <a:xfrm flipH="0" flipV="0">
            <a:off x="7009071" y="4381499"/>
            <a:ext cx="674640" cy="326013"/>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6" name="" hidden="0"/>
          <p:cNvSpPr/>
          <p:nvPr isPhoto="0" userDrawn="0"/>
        </p:nvSpPr>
        <p:spPr bwMode="auto">
          <a:xfrm flipH="0" flipV="0">
            <a:off x="7961571" y="3752967"/>
            <a:ext cx="914687" cy="36579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t>Grid</a:t>
            </a:r>
            <a:endParaRPr/>
          </a:p>
        </p:txBody>
      </p:sp>
      <p:sp>
        <p:nvSpPr>
          <p:cNvPr id="17" name="" hidden="0"/>
          <p:cNvSpPr/>
          <p:nvPr isPhoto="0" userDrawn="0"/>
        </p:nvSpPr>
        <p:spPr bwMode="auto">
          <a:xfrm flipH="0" flipV="0">
            <a:off x="7961571" y="4381499"/>
            <a:ext cx="914974" cy="36579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solidFill>
                  <a:srgbClr val="FF0000"/>
                </a:solidFill>
              </a:rPr>
              <a:t>Block</a:t>
            </a:r>
            <a:endParaRPr>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en-US"/>
              <a:t>On a real Real architecture</a:t>
            </a:r>
            <a:r>
              <a:rPr/>
              <a:t> : one possible topology</a:t>
            </a:r>
            <a:endParaRPr/>
          </a:p>
        </p:txBody>
      </p:sp>
      <p:sp>
        <p:nvSpPr>
          <p:cNvPr id="5" name="ZoneTexte 9" hidden="0"/>
          <p:cNvSpPr>
            <a:spLocks noAdjustHandles="0" noChangeArrowheads="0"/>
          </p:cNvSpPr>
          <p:nvPr isPhoto="0" userDrawn="0"/>
        </p:nvSpPr>
        <p:spPr bwMode="auto">
          <a:xfrm>
            <a:off x="1384185" y="1762233"/>
            <a:ext cx="2491193" cy="369331"/>
          </a:xfrm>
          <a:prstGeom prst="rect">
            <a:avLst/>
          </a:prstGeom>
          <a:noFill/>
        </p:spPr>
        <p:txBody>
          <a:bodyPr wrap="none" rtlCol="0">
            <a:spAutoFit/>
          </a:bodyPr>
          <a:lstStyle/>
          <a:p>
            <a:pPr>
              <a:defRPr/>
            </a:pPr>
            <a:r>
              <a:rPr lang="en-US"/>
              <a:t>Nvidia Fermi GPU (2011)</a:t>
            </a:r>
            <a:endParaRPr/>
          </a:p>
        </p:txBody>
      </p:sp>
      <p:pic>
        <p:nvPicPr>
          <p:cNvPr id="6" name="Image 10" hidden="0"/>
          <p:cNvPicPr>
            <a:picLocks noChangeAspect="1"/>
          </p:cNvPicPr>
          <p:nvPr isPhoto="0" userDrawn="0"/>
        </p:nvPicPr>
        <p:blipFill>
          <a:blip r:embed="rId2"/>
          <a:stretch/>
        </p:blipFill>
        <p:spPr bwMode="auto">
          <a:xfrm>
            <a:off x="416920" y="2357870"/>
            <a:ext cx="6186102" cy="4206549"/>
          </a:xfrm>
          <a:prstGeom prst="rect">
            <a:avLst/>
          </a:prstGeom>
        </p:spPr>
      </p:pic>
      <p:sp>
        <p:nvSpPr>
          <p:cNvPr id="7" name="ZoneTexte 11" hidden="0"/>
          <p:cNvSpPr>
            <a:spLocks noAdjustHandles="0" noChangeArrowheads="0"/>
          </p:cNvSpPr>
          <p:nvPr isPhoto="0" userDrawn="0"/>
        </p:nvSpPr>
        <p:spPr bwMode="auto">
          <a:xfrm>
            <a:off x="4671185" y="1946898"/>
            <a:ext cx="3073470" cy="914434"/>
          </a:xfrm>
          <a:prstGeom prst="rect">
            <a:avLst/>
          </a:prstGeom>
          <a:noFill/>
        </p:spPr>
        <p:txBody>
          <a:bodyPr wrap="square" rtlCol="0">
            <a:spAutoFit/>
          </a:bodyPr>
          <a:lstStyle/>
          <a:p>
            <a:pPr>
              <a:defRPr/>
            </a:pPr>
            <a:r>
              <a:rPr lang="en-US"/>
              <a:t>Here it is not a core, it is a "CUDA core" so not directly comparable to the CPU core</a:t>
            </a:r>
            <a:endParaRPr/>
          </a:p>
        </p:txBody>
      </p:sp>
      <p:sp>
        <p:nvSpPr>
          <p:cNvPr id="8" name="Rectangle 12" hidden="0"/>
          <p:cNvSpPr/>
          <p:nvPr isPhoto="0" userDrawn="0"/>
        </p:nvSpPr>
        <p:spPr bwMode="auto">
          <a:xfrm>
            <a:off x="416920" y="6405134"/>
            <a:ext cx="6095999" cy="461664"/>
          </a:xfrm>
          <a:prstGeom prst="rect">
            <a:avLst/>
          </a:prstGeom>
        </p:spPr>
        <p:txBody>
          <a:bodyPr>
            <a:spAutoFit/>
          </a:bodyPr>
          <a:lstStyle/>
          <a:p>
            <a:pPr>
              <a:defRPr/>
            </a:pPr>
            <a:r>
              <a:rPr lang="en-US" sz="1200" b="0" i="0">
                <a:solidFill>
                  <a:srgbClr val="111111"/>
                </a:solidFill>
                <a:latin typeface="Roboto"/>
              </a:rPr>
              <a:t>3D Data Denoising via Nonlocal Means Filter by Using Parallel GPU Strategies</a:t>
            </a:r>
            <a:endParaRPr/>
          </a:p>
          <a:p>
            <a:pPr>
              <a:defRPr/>
            </a:pPr>
            <a:r>
              <a:rPr lang="en-US" sz="1200"/>
              <a:t>DOI: 10.1155/2014/523862</a:t>
            </a:r>
            <a:endParaRPr lang="en-US" sz="1200" b="0" i="0">
              <a:solidFill>
                <a:srgbClr val="111111"/>
              </a:solidFill>
              <a:latin typeface="Roboto"/>
            </a:endParaRPr>
          </a:p>
        </p:txBody>
      </p:sp>
      <p:sp>
        <p:nvSpPr>
          <p:cNvPr id="9" name="Rectangle 6" hidden="0"/>
          <p:cNvSpPr/>
          <p:nvPr isPhoto="0" userDrawn="0"/>
        </p:nvSpPr>
        <p:spPr bwMode="auto">
          <a:xfrm flipH="0" flipV="0">
            <a:off x="4450928" y="3850821"/>
            <a:ext cx="1197428" cy="1986643"/>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0" name="Rectangle 6" hidden="0"/>
          <p:cNvSpPr/>
          <p:nvPr isPhoto="0" userDrawn="0"/>
        </p:nvSpPr>
        <p:spPr bwMode="auto">
          <a:xfrm flipH="0" flipV="0">
            <a:off x="7002266" y="3769177"/>
            <a:ext cx="680356" cy="333374"/>
          </a:xfrm>
          <a:prstGeom prst="rect">
            <a:avLst/>
          </a:prstGeom>
          <a:noFill/>
          <a:ln w="76200"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1" name="Rectangle 6" hidden="0"/>
          <p:cNvSpPr/>
          <p:nvPr isPhoto="0" userDrawn="0"/>
        </p:nvSpPr>
        <p:spPr bwMode="auto">
          <a:xfrm flipH="0" flipV="0">
            <a:off x="7009071" y="4381498"/>
            <a:ext cx="674640" cy="326012"/>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2" name="" hidden="0"/>
          <p:cNvSpPr/>
          <p:nvPr isPhoto="0" userDrawn="0"/>
        </p:nvSpPr>
        <p:spPr bwMode="auto">
          <a:xfrm flipH="0" flipV="0">
            <a:off x="7961571" y="3752967"/>
            <a:ext cx="914686" cy="365794"/>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t>Grid</a:t>
            </a:r>
            <a:endParaRPr/>
          </a:p>
        </p:txBody>
      </p:sp>
      <p:sp>
        <p:nvSpPr>
          <p:cNvPr id="13" name="" hidden="0"/>
          <p:cNvSpPr/>
          <p:nvPr isPhoto="0" userDrawn="0"/>
        </p:nvSpPr>
        <p:spPr bwMode="auto">
          <a:xfrm flipH="0" flipV="0">
            <a:off x="7961571" y="4381498"/>
            <a:ext cx="914974" cy="365794"/>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solidFill>
                  <a:srgbClr val="FF0000"/>
                </a:solidFill>
              </a:rPr>
              <a:t>Block</a:t>
            </a:r>
            <a:endParaRPr>
              <a:solidFill>
                <a:srgbClr val="FF0000"/>
              </a:solidFill>
            </a:endParaRPr>
          </a:p>
        </p:txBody>
      </p:sp>
      <p:sp>
        <p:nvSpPr>
          <p:cNvPr id="14" name="Rectangle 6" hidden="0"/>
          <p:cNvSpPr/>
          <p:nvPr isPhoto="0" userDrawn="0"/>
        </p:nvSpPr>
        <p:spPr bwMode="auto">
          <a:xfrm flipH="0" flipV="0">
            <a:off x="2879301" y="4127770"/>
            <a:ext cx="1108983" cy="1110978"/>
          </a:xfrm>
          <a:prstGeom prst="rect">
            <a:avLst/>
          </a:prstGeom>
          <a:noFill/>
          <a:ln w="76200"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lang="en-US"/>
              <a:t>On a real Real architecture</a:t>
            </a:r>
            <a:r>
              <a:rPr/>
              <a:t> : one possible topology</a:t>
            </a:r>
            <a:endParaRPr/>
          </a:p>
        </p:txBody>
      </p:sp>
      <p:sp>
        <p:nvSpPr>
          <p:cNvPr id="5" name="ZoneTexte 9" hidden="0"/>
          <p:cNvSpPr>
            <a:spLocks noAdjustHandles="0" noChangeArrowheads="0"/>
          </p:cNvSpPr>
          <p:nvPr isPhoto="0" userDrawn="0"/>
        </p:nvSpPr>
        <p:spPr bwMode="auto">
          <a:xfrm>
            <a:off x="1384185" y="1762233"/>
            <a:ext cx="2491193" cy="369331"/>
          </a:xfrm>
          <a:prstGeom prst="rect">
            <a:avLst/>
          </a:prstGeom>
          <a:noFill/>
        </p:spPr>
        <p:txBody>
          <a:bodyPr wrap="none" rtlCol="0">
            <a:spAutoFit/>
          </a:bodyPr>
          <a:lstStyle/>
          <a:p>
            <a:pPr>
              <a:defRPr/>
            </a:pPr>
            <a:r>
              <a:rPr lang="en-US"/>
              <a:t>Nvidia Fermi GPU (2011)</a:t>
            </a:r>
            <a:endParaRPr/>
          </a:p>
        </p:txBody>
      </p:sp>
      <p:pic>
        <p:nvPicPr>
          <p:cNvPr id="6" name="Image 10" hidden="0"/>
          <p:cNvPicPr>
            <a:picLocks noChangeAspect="1"/>
          </p:cNvPicPr>
          <p:nvPr isPhoto="0" userDrawn="0"/>
        </p:nvPicPr>
        <p:blipFill>
          <a:blip r:embed="rId2"/>
          <a:stretch/>
        </p:blipFill>
        <p:spPr bwMode="auto">
          <a:xfrm>
            <a:off x="416920" y="2357870"/>
            <a:ext cx="6186102" cy="4206549"/>
          </a:xfrm>
          <a:prstGeom prst="rect">
            <a:avLst/>
          </a:prstGeom>
        </p:spPr>
      </p:pic>
      <p:sp>
        <p:nvSpPr>
          <p:cNvPr id="7" name="ZoneTexte 11" hidden="0"/>
          <p:cNvSpPr>
            <a:spLocks noAdjustHandles="0" noChangeArrowheads="0"/>
          </p:cNvSpPr>
          <p:nvPr isPhoto="0" userDrawn="0"/>
        </p:nvSpPr>
        <p:spPr bwMode="auto">
          <a:xfrm>
            <a:off x="4671185" y="1946898"/>
            <a:ext cx="3073470" cy="914434"/>
          </a:xfrm>
          <a:prstGeom prst="rect">
            <a:avLst/>
          </a:prstGeom>
          <a:noFill/>
        </p:spPr>
        <p:txBody>
          <a:bodyPr wrap="square" rtlCol="0">
            <a:spAutoFit/>
          </a:bodyPr>
          <a:lstStyle/>
          <a:p>
            <a:pPr>
              <a:defRPr/>
            </a:pPr>
            <a:r>
              <a:rPr lang="en-US"/>
              <a:t>Here it is not a core, it is a "CUDA core" so not directly comparable to the CPU core</a:t>
            </a:r>
            <a:endParaRPr/>
          </a:p>
        </p:txBody>
      </p:sp>
      <p:sp>
        <p:nvSpPr>
          <p:cNvPr id="8" name="Rectangle 12" hidden="0"/>
          <p:cNvSpPr/>
          <p:nvPr isPhoto="0" userDrawn="0"/>
        </p:nvSpPr>
        <p:spPr bwMode="auto">
          <a:xfrm>
            <a:off x="416920" y="6405134"/>
            <a:ext cx="6095999" cy="461664"/>
          </a:xfrm>
          <a:prstGeom prst="rect">
            <a:avLst/>
          </a:prstGeom>
        </p:spPr>
        <p:txBody>
          <a:bodyPr>
            <a:spAutoFit/>
          </a:bodyPr>
          <a:lstStyle/>
          <a:p>
            <a:pPr>
              <a:defRPr/>
            </a:pPr>
            <a:r>
              <a:rPr lang="en-US" sz="1200" b="0" i="0">
                <a:solidFill>
                  <a:srgbClr val="111111"/>
                </a:solidFill>
                <a:latin typeface="Roboto"/>
              </a:rPr>
              <a:t>3D Data Denoising via Nonlocal Means Filter by Using Parallel GPU Strategies</a:t>
            </a:r>
            <a:endParaRPr/>
          </a:p>
          <a:p>
            <a:pPr>
              <a:defRPr/>
            </a:pPr>
            <a:r>
              <a:rPr lang="en-US" sz="1200"/>
              <a:t>DOI: 10.1155/2014/523862</a:t>
            </a:r>
            <a:endParaRPr lang="en-US" sz="1200" b="0" i="0">
              <a:solidFill>
                <a:srgbClr val="111111"/>
              </a:solidFill>
              <a:latin typeface="Roboto"/>
            </a:endParaRPr>
          </a:p>
        </p:txBody>
      </p:sp>
      <p:sp>
        <p:nvSpPr>
          <p:cNvPr id="9" name="Rectangle 6" hidden="0"/>
          <p:cNvSpPr/>
          <p:nvPr isPhoto="0" userDrawn="0"/>
        </p:nvSpPr>
        <p:spPr bwMode="auto">
          <a:xfrm flipH="0" flipV="0">
            <a:off x="4450928" y="3850819"/>
            <a:ext cx="1197427" cy="1986642"/>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0" name="Rectangle 6" hidden="0"/>
          <p:cNvSpPr/>
          <p:nvPr isPhoto="0" userDrawn="0"/>
        </p:nvSpPr>
        <p:spPr bwMode="auto">
          <a:xfrm flipH="0" flipV="0">
            <a:off x="7002266" y="3769177"/>
            <a:ext cx="680356" cy="333374"/>
          </a:xfrm>
          <a:prstGeom prst="rect">
            <a:avLst/>
          </a:prstGeom>
          <a:noFill/>
          <a:ln w="76200"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1" name="Rectangle 6" hidden="0"/>
          <p:cNvSpPr/>
          <p:nvPr isPhoto="0" userDrawn="0"/>
        </p:nvSpPr>
        <p:spPr bwMode="auto">
          <a:xfrm flipH="0" flipV="0">
            <a:off x="7009071" y="4381498"/>
            <a:ext cx="674640" cy="326012"/>
          </a:xfrm>
          <a:prstGeom prst="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2" name="" hidden="0"/>
          <p:cNvSpPr/>
          <p:nvPr isPhoto="0" userDrawn="0"/>
        </p:nvSpPr>
        <p:spPr bwMode="auto">
          <a:xfrm flipH="0" flipV="0">
            <a:off x="7961571" y="3752967"/>
            <a:ext cx="914686" cy="365794"/>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t>Grid</a:t>
            </a:r>
            <a:endParaRPr/>
          </a:p>
        </p:txBody>
      </p:sp>
      <p:sp>
        <p:nvSpPr>
          <p:cNvPr id="13" name="" hidden="0"/>
          <p:cNvSpPr/>
          <p:nvPr isPhoto="0" userDrawn="0"/>
        </p:nvSpPr>
        <p:spPr bwMode="auto">
          <a:xfrm flipH="0" flipV="0">
            <a:off x="7961571" y="4381498"/>
            <a:ext cx="914974" cy="365794"/>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solidFill>
                  <a:srgbClr val="FF0000"/>
                </a:solidFill>
              </a:rPr>
              <a:t>Block</a:t>
            </a:r>
            <a:endParaRPr>
              <a:solidFill>
                <a:srgbClr val="FF0000"/>
              </a:solidFill>
            </a:endParaRPr>
          </a:p>
        </p:txBody>
      </p:sp>
      <p:sp>
        <p:nvSpPr>
          <p:cNvPr id="14" name="Rectangle 6" hidden="0"/>
          <p:cNvSpPr/>
          <p:nvPr isPhoto="0" userDrawn="0"/>
        </p:nvSpPr>
        <p:spPr bwMode="auto">
          <a:xfrm flipH="0" flipV="0">
            <a:off x="2879300" y="4127770"/>
            <a:ext cx="1108982" cy="1110978"/>
          </a:xfrm>
          <a:prstGeom prst="rect">
            <a:avLst/>
          </a:prstGeom>
          <a:noFill/>
          <a:ln w="76200" cap="flat" cmpd="sng" algn="ctr">
            <a:solidFill>
              <a:schemeClr val="tx1"/>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5" name="" hidden="0"/>
          <p:cNvSpPr/>
          <p:nvPr isPhoto="0" userDrawn="0"/>
        </p:nvSpPr>
        <p:spPr bwMode="auto">
          <a:xfrm flipH="0" flipV="0">
            <a:off x="6369535" y="4844141"/>
            <a:ext cx="5831170" cy="2269035"/>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a:t>A grid can encompass many SM but a block can not be larger than a SM since a block is a shared memory space.</a:t>
            </a:r>
            <a:endParaRPr/>
          </a:p>
          <a:p>
            <a:pPr>
              <a:defRPr/>
            </a:pPr>
            <a:endParaRPr/>
          </a:p>
          <a:p>
            <a:pPr>
              <a:defRPr/>
            </a:pPr>
            <a:r>
              <a:rPr/>
              <a:t>You can also set the number of threads per block:</a:t>
            </a:r>
            <a:endParaRPr/>
          </a:p>
          <a:p>
            <a:pPr>
              <a:defRPr/>
            </a:pPr>
            <a:r>
              <a:rPr/>
              <a:t>but this number is not easily linkable to the number of CUDA core. Yet a block size (number of threads per block) should be a multiple of 32 (warping : not the focus of this course)</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a:off x="838200" y="365125"/>
            <a:ext cx="10756900" cy="1325563"/>
          </a:xfrm>
        </p:spPr>
        <p:txBody>
          <a:bodyPr/>
          <a:lstStyle/>
          <a:p>
            <a:pPr>
              <a:defRPr/>
            </a:pPr>
            <a:r>
              <a:rPr lang="en-US"/>
              <a:t>A mapping at the core of CPU/GPU communication: the kernel</a:t>
            </a:r>
            <a:endParaRPr/>
          </a:p>
        </p:txBody>
      </p:sp>
      <p:pic>
        <p:nvPicPr>
          <p:cNvPr id="5" name="Image 3" hidden="0"/>
          <p:cNvPicPr>
            <a:picLocks noChangeAspect="1"/>
          </p:cNvPicPr>
          <p:nvPr isPhoto="0" userDrawn="0"/>
        </p:nvPicPr>
        <p:blipFill>
          <a:blip r:embed="rId3"/>
          <a:stretch/>
        </p:blipFill>
        <p:spPr bwMode="auto">
          <a:xfrm>
            <a:off x="2688710" y="1841368"/>
            <a:ext cx="6300229" cy="4870714"/>
          </a:xfrm>
          <a:prstGeom prst="rect">
            <a:avLst/>
          </a:prstGeom>
        </p:spPr>
      </p:pic>
      <p:sp>
        <p:nvSpPr>
          <p:cNvPr id="6" name="Rectangle 4" hidden="0"/>
          <p:cNvSpPr/>
          <p:nvPr isPhoto="0" userDrawn="0"/>
        </p:nvSpPr>
        <p:spPr bwMode="auto">
          <a:xfrm>
            <a:off x="9163872" y="3760802"/>
            <a:ext cx="2842701" cy="276999"/>
          </a:xfrm>
          <a:prstGeom prst="rect">
            <a:avLst/>
          </a:prstGeom>
        </p:spPr>
        <p:txBody>
          <a:bodyPr wrap="none">
            <a:spAutoFit/>
          </a:bodyPr>
          <a:lstStyle/>
          <a:p>
            <a:pPr>
              <a:defRPr/>
            </a:pPr>
            <a:r>
              <a:rPr lang="en-US" sz="1200" u="sng">
                <a:hlinkClick r:id="rId4" tooltip=""/>
              </a:rPr>
              <a:t>https://cvw.cac.cornell.edu/GPU/structure</a:t>
            </a:r>
            <a:endParaRPr lang="en-US" sz="1200"/>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a:xfrm flipH="0" flipV="0">
            <a:off x="171450" y="198437"/>
            <a:ext cx="11783643" cy="1325562"/>
          </a:xfrm>
        </p:spPr>
        <p:txBody>
          <a:bodyPr/>
          <a:lstStyle/>
          <a:p>
            <a:pPr>
              <a:defRPr/>
            </a:pPr>
            <a:r>
              <a:rPr/>
              <a:t>Writing your kernel : GPU technologies programming</a:t>
            </a:r>
            <a:endParaRPr/>
          </a:p>
        </p:txBody>
      </p:sp>
      <p:pic>
        <p:nvPicPr>
          <p:cNvPr id="5" name="" hidden="0"/>
          <p:cNvPicPr>
            <a:picLocks noChangeAspect="1"/>
          </p:cNvPicPr>
          <p:nvPr isPhoto="0" userDrawn="0"/>
        </p:nvPicPr>
        <p:blipFill>
          <a:blip r:embed="rId2"/>
          <a:stretch/>
        </p:blipFill>
        <p:spPr bwMode="auto">
          <a:xfrm flipH="0" flipV="0">
            <a:off x="2030795" y="1478716"/>
            <a:ext cx="2016896" cy="1221304"/>
          </a:xfrm>
          <a:prstGeom prst="rect">
            <a:avLst/>
          </a:prstGeom>
        </p:spPr>
      </p:pic>
      <p:pic>
        <p:nvPicPr>
          <p:cNvPr id="6" name="" hidden="0"/>
          <p:cNvPicPr>
            <a:picLocks noChangeAspect="1"/>
          </p:cNvPicPr>
          <p:nvPr isPhoto="0" userDrawn="0"/>
        </p:nvPicPr>
        <p:blipFill>
          <a:blip r:embed="rId3"/>
          <a:stretch/>
        </p:blipFill>
        <p:spPr bwMode="auto">
          <a:xfrm flipH="0" flipV="0">
            <a:off x="7315656" y="4333498"/>
            <a:ext cx="1781226" cy="1334200"/>
          </a:xfrm>
          <a:prstGeom prst="rect">
            <a:avLst/>
          </a:prstGeom>
        </p:spPr>
      </p:pic>
      <p:sp>
        <p:nvSpPr>
          <p:cNvPr id="7" name="" hidden="0"/>
          <p:cNvSpPr/>
          <p:nvPr isPhoto="0" userDrawn="0"/>
        </p:nvSpPr>
        <p:spPr bwMode="auto">
          <a:xfrm flipH="0" flipV="0">
            <a:off x="6915787" y="4110928"/>
            <a:ext cx="1502756" cy="36579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t>numba.cuda</a:t>
            </a:r>
            <a:endParaRPr/>
          </a:p>
        </p:txBody>
      </p:sp>
      <p:sp>
        <p:nvSpPr>
          <p:cNvPr id="8" name="" hidden="0"/>
          <p:cNvSpPr/>
          <p:nvPr isPhoto="0" userDrawn="0"/>
        </p:nvSpPr>
        <p:spPr bwMode="auto">
          <a:xfrm flipH="0" flipV="0">
            <a:off x="2126741" y="4232867"/>
            <a:ext cx="1188529" cy="48771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sz="2600"/>
              <a:t>pycuda</a:t>
            </a:r>
            <a:endParaRPr/>
          </a:p>
        </p:txBody>
      </p:sp>
      <p:sp>
        <p:nvSpPr>
          <p:cNvPr id="9" name="" hidden="0"/>
          <p:cNvSpPr/>
          <p:nvPr isPhoto="0" userDrawn="0"/>
        </p:nvSpPr>
        <p:spPr bwMode="auto">
          <a:xfrm flipH="0" flipV="0">
            <a:off x="469925" y="4118809"/>
            <a:ext cx="1602979" cy="429377"/>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sz="2600"/>
              <a:t>CUDA C++</a:t>
            </a:r>
            <a:endParaRPr sz="2600"/>
          </a:p>
        </p:txBody>
      </p:sp>
      <p:sp>
        <p:nvSpPr>
          <p:cNvPr id="10" name="" hidden="0"/>
          <p:cNvSpPr/>
          <p:nvPr isPhoto="0" userDrawn="0"/>
        </p:nvSpPr>
        <p:spPr bwMode="auto">
          <a:xfrm rot="7623512" flipH="0" flipV="0">
            <a:off x="1199620" y="3266787"/>
            <a:ext cx="1387711" cy="229290"/>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11" name="" hidden="0"/>
          <p:cNvSpPr/>
          <p:nvPr isPhoto="0" userDrawn="0"/>
        </p:nvSpPr>
        <p:spPr bwMode="auto">
          <a:xfrm rot="5399977" flipH="0" flipV="0">
            <a:off x="1999024" y="3440385"/>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12" name="" hidden="0"/>
          <p:cNvSpPr/>
          <p:nvPr isPhoto="0" userDrawn="0"/>
        </p:nvSpPr>
        <p:spPr bwMode="auto">
          <a:xfrm rot="3784236" flipH="0" flipV="0">
            <a:off x="4618313" y="3417069"/>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pic>
        <p:nvPicPr>
          <p:cNvPr id="13" name="" hidden="0"/>
          <p:cNvPicPr>
            <a:picLocks noChangeAspect="1"/>
          </p:cNvPicPr>
          <p:nvPr isPhoto="0" userDrawn="0"/>
        </p:nvPicPr>
        <p:blipFill>
          <a:blip r:embed="rId4"/>
          <a:stretch/>
        </p:blipFill>
        <p:spPr bwMode="auto">
          <a:xfrm flipH="0" flipV="0">
            <a:off x="9210472" y="1315757"/>
            <a:ext cx="1284721" cy="1284721"/>
          </a:xfrm>
          <a:prstGeom prst="rect">
            <a:avLst/>
          </a:prstGeom>
        </p:spPr>
      </p:pic>
      <p:sp>
        <p:nvSpPr>
          <p:cNvPr id="14" name="" hidden="0"/>
          <p:cNvSpPr/>
          <p:nvPr isPhoto="0" userDrawn="0"/>
        </p:nvSpPr>
        <p:spPr bwMode="auto">
          <a:xfrm flipH="0" flipV="0">
            <a:off x="9118502" y="2412018"/>
            <a:ext cx="2120499" cy="704829"/>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sz="2600"/>
              <a:t>AMD </a:t>
            </a:r>
            <a:r>
              <a:rPr sz="2600"/>
              <a:t>GPU</a:t>
            </a:r>
            <a:endParaRPr sz="3600"/>
          </a:p>
        </p:txBody>
      </p:sp>
      <p:sp>
        <p:nvSpPr>
          <p:cNvPr id="15" name="" hidden="0"/>
          <p:cNvSpPr/>
          <p:nvPr isPhoto="0" userDrawn="0"/>
        </p:nvSpPr>
        <p:spPr bwMode="auto">
          <a:xfrm rot="3530909" flipH="0" flipV="0">
            <a:off x="9801338" y="3281028"/>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16" name="" hidden="0"/>
          <p:cNvSpPr/>
          <p:nvPr isPhoto="0" userDrawn="0"/>
        </p:nvSpPr>
        <p:spPr bwMode="auto">
          <a:xfrm rot="7623512" flipH="0" flipV="0">
            <a:off x="8581495" y="3266786"/>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17" name="" hidden="0"/>
          <p:cNvSpPr/>
          <p:nvPr isPhoto="0" userDrawn="0"/>
        </p:nvSpPr>
        <p:spPr bwMode="auto">
          <a:xfrm flipH="0" flipV="0">
            <a:off x="8099031" y="3925231"/>
            <a:ext cx="1502971" cy="36579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t>numba.roc</a:t>
            </a:r>
            <a:endParaRPr/>
          </a:p>
        </p:txBody>
      </p:sp>
      <p:sp>
        <p:nvSpPr>
          <p:cNvPr id="18" name="" hidden="0"/>
          <p:cNvSpPr/>
          <p:nvPr isPhoto="0" userDrawn="0"/>
        </p:nvSpPr>
        <p:spPr bwMode="auto">
          <a:xfrm flipH="0" flipV="0">
            <a:off x="10038150" y="4118809"/>
            <a:ext cx="1682749" cy="793749"/>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sz="2600"/>
              <a:t>HIP C++</a:t>
            </a:r>
            <a:endParaRPr sz="1400"/>
          </a:p>
        </p:txBody>
      </p:sp>
      <p:cxnSp>
        <p:nvCxnSpPr>
          <p:cNvPr id="19" name="" hidden="0"/>
          <p:cNvCxnSpPr>
            <a:cxnSpLocks/>
          </p:cNvCxnSpPr>
          <p:nvPr isPhoto="0" userDrawn="0"/>
        </p:nvCxnSpPr>
        <p:spPr bwMode="auto">
          <a:xfrm flipH="0" flipV="0">
            <a:off x="4157249" y="2182090"/>
            <a:ext cx="5880899" cy="2250360"/>
          </a:xfrm>
          <a:prstGeom prst="bentConnector5">
            <a:avLst>
              <a:gd name="adj1" fmla="val 50000"/>
              <a:gd name="adj2" fmla="val 43346"/>
              <a:gd name="adj3" fmla="val 90111"/>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
        <p:nvSpPr>
          <p:cNvPr id="20" name="" hidden="0"/>
          <p:cNvSpPr/>
          <p:nvPr isPhoto="0" userDrawn="0"/>
        </p:nvSpPr>
        <p:spPr bwMode="auto">
          <a:xfrm rot="2131299" flipH="0" flipV="0">
            <a:off x="5598351" y="3351338"/>
            <a:ext cx="1949932" cy="176170"/>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21" name="" hidden="0"/>
          <p:cNvSpPr/>
          <p:nvPr isPhoto="0" userDrawn="0"/>
        </p:nvSpPr>
        <p:spPr bwMode="auto">
          <a:xfrm rot="4403375" flipH="0" flipV="0">
            <a:off x="3203109" y="3401975"/>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pic>
        <p:nvPicPr>
          <p:cNvPr id="22" name="" hidden="0"/>
          <p:cNvPicPr>
            <a:picLocks noChangeAspect="1"/>
          </p:cNvPicPr>
          <p:nvPr isPhoto="0" userDrawn="0"/>
        </p:nvPicPr>
        <p:blipFill>
          <a:blip r:embed="rId5"/>
          <a:stretch/>
        </p:blipFill>
        <p:spPr bwMode="auto">
          <a:xfrm flipH="0" flipV="0">
            <a:off x="3375312" y="4415302"/>
            <a:ext cx="1659710" cy="541209"/>
          </a:xfrm>
          <a:prstGeom prst="rect">
            <a:avLst/>
          </a:prstGeom>
        </p:spPr>
      </p:pic>
      <p:sp>
        <p:nvSpPr>
          <p:cNvPr id="23" name="" hidden="0"/>
          <p:cNvSpPr/>
          <p:nvPr isPhoto="0" userDrawn="0"/>
        </p:nvSpPr>
        <p:spPr bwMode="auto">
          <a:xfrm flipH="0" flipV="0">
            <a:off x="5404159" y="4286249"/>
            <a:ext cx="1575954" cy="640115"/>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sz="2600"/>
              <a:t>openACC</a:t>
            </a:r>
            <a:endParaRPr sz="2600"/>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pic>
        <p:nvPicPr>
          <p:cNvPr id="4" name="" hidden="0"/>
          <p:cNvPicPr>
            <a:picLocks noChangeAspect="1"/>
          </p:cNvPicPr>
          <p:nvPr isPhoto="0" userDrawn="0"/>
        </p:nvPicPr>
        <p:blipFill>
          <a:blip r:embed="rId2"/>
          <a:stretch/>
        </p:blipFill>
        <p:spPr bwMode="auto">
          <a:xfrm flipH="0" flipV="0">
            <a:off x="7315656" y="4333498"/>
            <a:ext cx="1781226" cy="1334200"/>
          </a:xfrm>
          <a:prstGeom prst="rect">
            <a:avLst/>
          </a:prstGeom>
        </p:spPr>
      </p:pic>
      <p:sp>
        <p:nvSpPr>
          <p:cNvPr id="5" name="" hidden="0"/>
          <p:cNvSpPr/>
          <p:nvPr isPhoto="0" userDrawn="0"/>
        </p:nvSpPr>
        <p:spPr bwMode="auto">
          <a:xfrm flipH="0" flipV="0">
            <a:off x="3176083" y="4159249"/>
            <a:ext cx="5810249" cy="1904999"/>
          </a:xfrm>
          <a:prstGeom prst="rect">
            <a:avLst/>
          </a:prstGeom>
          <a:noFill/>
          <a:ln w="76199" cap="flat" cmpd="sng" algn="ctr">
            <a:solidFill>
              <a:schemeClr val="accent1">
                <a:shade val="50000"/>
              </a:schemeClr>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6" name="Titre 1" hidden="0"/>
          <p:cNvSpPr>
            <a:spLocks noGrp="1"/>
          </p:cNvSpPr>
          <p:nvPr isPhoto="0" userDrawn="0">
            <p:ph type="title" hasCustomPrompt="0"/>
          </p:nvPr>
        </p:nvSpPr>
        <p:spPr bwMode="auto">
          <a:xfrm flipH="0" flipV="0">
            <a:off x="171450" y="198437"/>
            <a:ext cx="11783643" cy="1325562"/>
          </a:xfrm>
        </p:spPr>
        <p:txBody>
          <a:bodyPr/>
          <a:lstStyle/>
          <a:p>
            <a:pPr>
              <a:defRPr/>
            </a:pPr>
            <a:r>
              <a:rPr/>
              <a:t>Writing your kernel : GPU technologies programming</a:t>
            </a:r>
            <a:endParaRPr/>
          </a:p>
        </p:txBody>
      </p:sp>
      <p:pic>
        <p:nvPicPr>
          <p:cNvPr id="7" name="" hidden="0"/>
          <p:cNvPicPr>
            <a:picLocks noChangeAspect="1"/>
          </p:cNvPicPr>
          <p:nvPr isPhoto="0" userDrawn="0"/>
        </p:nvPicPr>
        <p:blipFill>
          <a:blip r:embed="rId3"/>
          <a:stretch/>
        </p:blipFill>
        <p:spPr bwMode="auto">
          <a:xfrm flipH="0" flipV="0">
            <a:off x="2030795" y="1478716"/>
            <a:ext cx="2016896" cy="1221304"/>
          </a:xfrm>
          <a:prstGeom prst="rect">
            <a:avLst/>
          </a:prstGeom>
        </p:spPr>
      </p:pic>
      <p:sp>
        <p:nvSpPr>
          <p:cNvPr id="8" name="" hidden="0"/>
          <p:cNvSpPr/>
          <p:nvPr isPhoto="0" userDrawn="0"/>
        </p:nvSpPr>
        <p:spPr bwMode="auto">
          <a:xfrm flipH="0" flipV="0">
            <a:off x="6915787" y="4110928"/>
            <a:ext cx="1502756" cy="36579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t>numba.cuda</a:t>
            </a:r>
            <a:endParaRPr/>
          </a:p>
        </p:txBody>
      </p:sp>
      <p:sp>
        <p:nvSpPr>
          <p:cNvPr id="9" name="" hidden="0"/>
          <p:cNvSpPr/>
          <p:nvPr isPhoto="0" userDrawn="0"/>
        </p:nvSpPr>
        <p:spPr bwMode="auto">
          <a:xfrm flipH="0" flipV="0">
            <a:off x="2126741" y="4232867"/>
            <a:ext cx="1188529" cy="48771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sz="2600"/>
              <a:t>pycuda</a:t>
            </a:r>
            <a:endParaRPr/>
          </a:p>
        </p:txBody>
      </p:sp>
      <p:sp>
        <p:nvSpPr>
          <p:cNvPr id="10" name="" hidden="0"/>
          <p:cNvSpPr/>
          <p:nvPr isPhoto="0" userDrawn="0"/>
        </p:nvSpPr>
        <p:spPr bwMode="auto">
          <a:xfrm flipH="0" flipV="0">
            <a:off x="469925" y="4118809"/>
            <a:ext cx="1602979" cy="429377"/>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sz="2600"/>
              <a:t>CUDA C++</a:t>
            </a:r>
            <a:endParaRPr sz="2600"/>
          </a:p>
        </p:txBody>
      </p:sp>
      <p:sp>
        <p:nvSpPr>
          <p:cNvPr id="11" name="" hidden="0"/>
          <p:cNvSpPr/>
          <p:nvPr isPhoto="0" userDrawn="0"/>
        </p:nvSpPr>
        <p:spPr bwMode="auto">
          <a:xfrm rot="7623512" flipH="0" flipV="0">
            <a:off x="1199620" y="3266787"/>
            <a:ext cx="1387711" cy="229290"/>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12" name="" hidden="0"/>
          <p:cNvSpPr/>
          <p:nvPr isPhoto="0" userDrawn="0"/>
        </p:nvSpPr>
        <p:spPr bwMode="auto">
          <a:xfrm rot="5399977" flipH="0" flipV="0">
            <a:off x="1999024" y="3440385"/>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13" name="" hidden="0"/>
          <p:cNvSpPr/>
          <p:nvPr isPhoto="0" userDrawn="0"/>
        </p:nvSpPr>
        <p:spPr bwMode="auto">
          <a:xfrm rot="3784236" flipH="0" flipV="0">
            <a:off x="4618313" y="3417069"/>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pic>
        <p:nvPicPr>
          <p:cNvPr id="14" name="" hidden="0"/>
          <p:cNvPicPr>
            <a:picLocks noChangeAspect="1"/>
          </p:cNvPicPr>
          <p:nvPr isPhoto="0" userDrawn="0"/>
        </p:nvPicPr>
        <p:blipFill>
          <a:blip r:embed="rId4"/>
          <a:stretch/>
        </p:blipFill>
        <p:spPr bwMode="auto">
          <a:xfrm flipH="0" flipV="0">
            <a:off x="9210472" y="1315757"/>
            <a:ext cx="1284721" cy="1284721"/>
          </a:xfrm>
          <a:prstGeom prst="rect">
            <a:avLst/>
          </a:prstGeom>
        </p:spPr>
      </p:pic>
      <p:sp>
        <p:nvSpPr>
          <p:cNvPr id="15" name="" hidden="0"/>
          <p:cNvSpPr/>
          <p:nvPr isPhoto="0" userDrawn="0"/>
        </p:nvSpPr>
        <p:spPr bwMode="auto">
          <a:xfrm flipH="0" flipV="0">
            <a:off x="9118502" y="2412018"/>
            <a:ext cx="2120499" cy="704829"/>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sz="2600"/>
              <a:t>AMD </a:t>
            </a:r>
            <a:r>
              <a:rPr sz="2600"/>
              <a:t>GPU</a:t>
            </a:r>
            <a:endParaRPr sz="3600"/>
          </a:p>
        </p:txBody>
      </p:sp>
      <p:sp>
        <p:nvSpPr>
          <p:cNvPr id="16" name="" hidden="0"/>
          <p:cNvSpPr/>
          <p:nvPr isPhoto="0" userDrawn="0"/>
        </p:nvSpPr>
        <p:spPr bwMode="auto">
          <a:xfrm rot="3530909" flipH="0" flipV="0">
            <a:off x="9801338" y="3281028"/>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17" name="" hidden="0"/>
          <p:cNvSpPr/>
          <p:nvPr isPhoto="0" userDrawn="0"/>
        </p:nvSpPr>
        <p:spPr bwMode="auto">
          <a:xfrm rot="7623512" flipH="0" flipV="0">
            <a:off x="8581495" y="3266786"/>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18" name="" hidden="0"/>
          <p:cNvSpPr/>
          <p:nvPr isPhoto="0" userDrawn="0"/>
        </p:nvSpPr>
        <p:spPr bwMode="auto">
          <a:xfrm flipH="0" flipV="0">
            <a:off x="8204864" y="3819398"/>
            <a:ext cx="1502971" cy="36579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a:t>numba.roc</a:t>
            </a:r>
            <a:endParaRPr/>
          </a:p>
        </p:txBody>
      </p:sp>
      <p:sp>
        <p:nvSpPr>
          <p:cNvPr id="19" name="" hidden="0"/>
          <p:cNvSpPr/>
          <p:nvPr isPhoto="0" userDrawn="0"/>
        </p:nvSpPr>
        <p:spPr bwMode="auto">
          <a:xfrm flipH="0" flipV="0">
            <a:off x="10038150" y="4118809"/>
            <a:ext cx="1682749" cy="793749"/>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sz="2600"/>
              <a:t>HIP C++</a:t>
            </a:r>
            <a:endParaRPr sz="1400"/>
          </a:p>
        </p:txBody>
      </p:sp>
      <p:cxnSp>
        <p:nvCxnSpPr>
          <p:cNvPr id="20" name="" hidden="0"/>
          <p:cNvCxnSpPr>
            <a:cxnSpLocks/>
          </p:cNvCxnSpPr>
          <p:nvPr isPhoto="0" userDrawn="0"/>
        </p:nvCxnSpPr>
        <p:spPr bwMode="auto">
          <a:xfrm flipH="0" flipV="0">
            <a:off x="4157249" y="2182090"/>
            <a:ext cx="5880899" cy="2250360"/>
          </a:xfrm>
          <a:prstGeom prst="bentConnector5">
            <a:avLst>
              <a:gd name="adj1" fmla="val 50000"/>
              <a:gd name="adj2" fmla="val 43346"/>
              <a:gd name="adj3" fmla="val 90111"/>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
        <p:nvSpPr>
          <p:cNvPr id="21" name="" hidden="0"/>
          <p:cNvSpPr/>
          <p:nvPr isPhoto="0" userDrawn="0"/>
        </p:nvSpPr>
        <p:spPr bwMode="auto">
          <a:xfrm rot="2131299" flipH="0" flipV="0">
            <a:off x="5598351" y="3351338"/>
            <a:ext cx="1949932" cy="176170"/>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sp>
        <p:nvSpPr>
          <p:cNvPr id="22" name="" hidden="0"/>
          <p:cNvSpPr/>
          <p:nvPr isPhoto="0" userDrawn="0"/>
        </p:nvSpPr>
        <p:spPr bwMode="auto">
          <a:xfrm rot="4403375" flipH="0" flipV="0">
            <a:off x="3203109" y="3401975"/>
            <a:ext cx="1387710" cy="229289"/>
          </a:xfrm>
          <a:prstGeom prst="rightArrow">
            <a:avLst>
              <a:gd name="adj1" fmla="val 16123"/>
              <a:gd name="adj2" fmla="val 117433"/>
            </a:avLst>
          </a:prstGeom>
          <a:solidFill>
            <a:schemeClr val="tx1"/>
          </a:solidFill>
          <a:ln w="12700" cap="flat" cmpd="sng" algn="ctr">
            <a:solidFill>
              <a:schemeClr val="tx1"/>
            </a:solidFill>
            <a:prstDash val="solid"/>
            <a:miter/>
          </a:ln>
        </p:spPr>
        <p:style>
          <a:lnRef idx="2">
            <a:schemeClr val="accent1">
              <a:shade val="50000"/>
            </a:schemeClr>
          </a:lnRef>
          <a:fillRef idx="1">
            <a:schemeClr val="accent1"/>
          </a:fillRef>
          <a:effectRef idx="0">
            <a:schemeClr val="accent1"/>
          </a:effectRef>
          <a:fontRef idx="minor">
            <a:schemeClr val="lt1"/>
          </a:fontRef>
        </p:style>
      </p:sp>
      <p:pic>
        <p:nvPicPr>
          <p:cNvPr id="23" name="" hidden="0"/>
          <p:cNvPicPr>
            <a:picLocks noChangeAspect="1"/>
          </p:cNvPicPr>
          <p:nvPr isPhoto="0" userDrawn="0"/>
        </p:nvPicPr>
        <p:blipFill>
          <a:blip r:embed="rId5"/>
          <a:stretch/>
        </p:blipFill>
        <p:spPr bwMode="auto">
          <a:xfrm flipH="0" flipV="0">
            <a:off x="3375312" y="4415302"/>
            <a:ext cx="1659710" cy="541209"/>
          </a:xfrm>
          <a:prstGeom prst="rect">
            <a:avLst/>
          </a:prstGeom>
        </p:spPr>
      </p:pic>
      <p:sp>
        <p:nvSpPr>
          <p:cNvPr id="24" name="" hidden="0"/>
          <p:cNvSpPr/>
          <p:nvPr isPhoto="0" userDrawn="0"/>
        </p:nvSpPr>
        <p:spPr bwMode="auto">
          <a:xfrm flipH="0" flipV="0">
            <a:off x="5404159" y="4286249"/>
            <a:ext cx="1575954" cy="640115"/>
          </a:xfrm>
          <a:prstGeom prst="rect">
            <a:avLst/>
          </a:prstGeom>
          <a:noFill/>
        </p:spPr>
        <p:txBody>
          <a:bodyPr vertOverflow="overflow" horzOverflow="clip" vert="horz" wrap="square" lIns="91440" tIns="45720" rIns="91440" bIns="45720" numCol="1" spcCol="0" rtlCol="0" fromWordArt="0" anchor="t" anchorCtr="0" forceAA="0" upright="0" compatLnSpc="0">
            <a:noAutofit/>
          </a:bodyPr>
          <a:p>
            <a:pPr>
              <a:defRPr/>
            </a:pPr>
            <a:r>
              <a:rPr sz="2600"/>
              <a:t>openACC</a:t>
            </a:r>
            <a:endParaRPr sz="2600"/>
          </a:p>
        </p:txBody>
      </p:sp>
      <p:sp>
        <p:nvSpPr>
          <p:cNvPr id="25" name="" hidden="0"/>
          <p:cNvSpPr/>
          <p:nvPr isPhoto="0" userDrawn="0"/>
        </p:nvSpPr>
        <p:spPr bwMode="auto">
          <a:xfrm flipH="0" flipV="0">
            <a:off x="4128583" y="5545666"/>
            <a:ext cx="4181496" cy="457235"/>
          </a:xfrm>
          <a:prstGeom prst="rect">
            <a:avLst/>
          </a:prstGeom>
          <a:noFill/>
        </p:spPr>
        <p:txBody>
          <a:bodyPr vertOverflow="overflow" horzOverflow="clip" vert="horz" wrap="square" lIns="91440" tIns="45720" rIns="91440" bIns="45720" numCol="1" spcCol="0" rtlCol="0" fromWordArt="0" anchor="t" anchorCtr="0" forceAA="0" upright="0" compatLnSpc="0">
            <a:spAutoFit/>
          </a:bodyPr>
          <a:p>
            <a:pPr>
              <a:defRPr/>
            </a:pPr>
            <a:r>
              <a:rPr sz="2400" b="1"/>
              <a:t>covered in this course</a:t>
            </a:r>
            <a:endParaRPr b="1"/>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Titre 1" hidden="0"/>
          <p:cNvSpPr>
            <a:spLocks noGrp="1"/>
          </p:cNvSpPr>
          <p:nvPr isPhoto="0" userDrawn="0">
            <p:ph type="title" hasCustomPrompt="0"/>
          </p:nvPr>
        </p:nvSpPr>
        <p:spPr bwMode="auto"/>
        <p:txBody>
          <a:bodyPr/>
          <a:lstStyle/>
          <a:p>
            <a:pPr>
              <a:defRPr/>
            </a:pPr>
            <a:r>
              <a:rPr/>
              <a:t>GPU computing at SCICORE</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ONLYOFFICE/5.4.2.46</Application>
  <DocSecurity>0</DocSecurity>
  <PresentationFormat>Grand écran</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Seb Boyer</dc:creator>
  <cp:keywords/>
  <dc:description/>
  <dc:identifier/>
  <dc:language/>
  <cp:lastModifiedBy>Sébastien Boyer (unibas.ch)</cp:lastModifiedBy>
  <cp:revision>38</cp:revision>
  <dcterms:created xsi:type="dcterms:W3CDTF">2020-06-05T09:34:45Z</dcterms:created>
  <dcterms:modified xsi:type="dcterms:W3CDTF">2020-06-19T11:41:48Z</dcterms:modified>
  <cp:category/>
  <cp:contentStatus/>
  <cp:version/>
</cp:coreProperties>
</file>